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  <a:latin typeface="Segoe UI"/>
              </a:defRPr>
            </a:pPr>
            <a:r>
              <a:t>Viral Mutation &amp; Immune Escape Prediction</a:t>
            </a:r>
          </a:p>
          <a:p>
            <a:pPr algn="ctr">
              <a:defRPr sz="2000">
                <a:solidFill>
                  <a:srgbClr val="F8FAFC"/>
                </a:solidFill>
                <a:latin typeface="Segoe UI"/>
              </a:defRPr>
            </a:pPr>
            <a:r>
              <a:t>Multimodal Deep Learning (ESM-2 + GVP-GNN + Cross-Attention)</a:t>
            </a:r>
          </a:p>
          <a:p>
            <a:br/>
            <a:pPr algn="ctr">
              <a:defRPr sz="1400">
                <a:solidFill>
                  <a:srgbClr val="94A3B8"/>
                </a:solidFill>
                <a:latin typeface="Segoe UI"/>
              </a:defRPr>
            </a:pPr>
            <a:r>
              <a:t>Team: Aditya (Data) · Vineela (Architecture) · Jimit (Evaluation)</a:t>
            </a:r>
            <a:br/>
            <a:r>
              <a:t>SARS-CoV-2 Spike Protein Surveillance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Segoe UI"/>
              </a:defRPr>
            </a:pPr>
            <a:r>
              <a:t>🦠 The Big Problem: Why Do Viruses Escape Vaccines?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Understanding viral mutation &amp; immune evasion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  <a:latin typeface="Segoe UI"/>
              </a:defRPr>
            </a:pPr>
            <a:r>
              <a:t>👶 ELI5 Explanation (Simple Analogy)</a:t>
            </a:r>
          </a:p>
          <a:p>
            <a:br/>
            <a:pPr>
              <a:defRPr sz="1400">
                <a:solidFill>
                  <a:srgbClr val="F8FAFC"/>
                </a:solidFill>
                <a:latin typeface="Segoe UI"/>
              </a:defRPr>
            </a:pPr>
            <a:r>
              <a:t>Imagine a sneaky burglar (the Virus) wearing a yellow jacket.</a:t>
            </a:r>
            <a:br/>
            <a:br/>
            <a:r>
              <a:t>Security guards (Antibodies) learn to spot the yellow jacket and grab him.</a:t>
            </a:r>
            <a:br/>
            <a:br/>
            <a:r>
              <a:t>Next month, the burglar switches to a blue hoodie! Now guards walk right past him!</a:t>
            </a:r>
            <a:br/>
            <a:br/>
            <a:r>
              <a:t>👉 Our Goal: Predict what new coat the burglar will wear BEFORE he changes it!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🧬 Biological Reality</a:t>
            </a:r>
          </a:p>
          <a:p>
            <a:br/>
            <a:pPr>
              <a:defRPr sz="1400">
                <a:solidFill>
                  <a:srgbClr val="F8FAFC"/>
                </a:solidFill>
                <a:latin typeface="Segoe UI"/>
              </a:defRPr>
            </a:pPr>
            <a:r>
              <a:t>• SARS-CoV-2 Spike Protein has 1,273 amino acid positions.</a:t>
            </a:r>
            <a:br/>
            <a:br/>
            <a:r>
              <a:t>• Mutation Hotspots: Specific positions where mutations frequently occur.</a:t>
            </a:r>
            <a:br/>
            <a:br/>
            <a:r>
              <a:t>• Immune Escape: Mutations that prevent existing human antibodies from binding.</a:t>
            </a:r>
            <a:br/>
            <a:br/>
            <a:r>
              <a:t>• Challenge: Standard surveillance only detects mutations AFTER thousands of people are infected.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Segoe UI"/>
              </a:defRPr>
            </a:pPr>
            <a:r>
              <a:t>💡 The Core Solution: Joint Mutation + Escape Prediction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Coupling structural geometry with language intelligence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Hotspot AI (P)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Will the virus change this spot without breaking its body structure?</a:t>
            </a:r>
            <a:br/>
            <a:br/>
            <a:r>
              <a:t>Output: Probability P(mutate) ∈ [0, 1]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2. Escape AI (S)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Will changing this spot hide the virus from neutralizing antibodies?</a:t>
            </a:r>
            <a:br/>
            <a:br/>
            <a:r>
              <a:t>Output: Escape Score S(escape) ∈ 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3. Risk Score (R)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Joint Risk Score Formula:</a:t>
            </a:r>
            <a:br/>
            <a:br/>
            <a:r>
              <a:t>R_i = P(mutate_i) × S(escape_i)</a:t>
            </a:r>
            <a:br/>
            <a:br/>
            <a:r>
              <a:t>Ranks high-vulnerability sites for global health priority.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🔑 Why Multimodal Fusion Matters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Sequence alone misses 3D surface contact. Structure alone misses evolutionary language context. Cross-attention fuses both to capture true biological vulnerability!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Segoe UI"/>
              </a:defRPr>
            </a:pPr>
            <a:r>
              <a:t>🌐 Public Data Sources &amp; Databases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100% open-access data — zero registration needed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3474720"/>
                <a:gridCol w="2286000"/>
              </a:tblGrid>
              <a:tr h="762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URL / Source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What it Provides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Data Type / Shape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🧬 Nextstrain Open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data.nextstrain.org/files/ncov/open/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Open SARS-CoV-2 viral sequences + date metadata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FASTA + TSV (.zst)</a:t>
                      </a:r>
                      <a:br/>
                      <a:r>
                        <a:t>1,500 subsampled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🧬 NCBI Virus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ncbi.nlm.nih.gov/labs/virus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GenBank SARS-CoV-2 Spike protein sequences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Protein FASTA (.fasta)</a:t>
                      </a:r>
                      <a:br/>
                      <a:r>
                        <a:t>1273 aa ± 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🧪 Bloom Lab DMS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github.com/jbloomlab/SARS2_RBD_Ab_escape_maps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Deep Mutational Scanning experimental escape scores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CSV (43,499 rows)</a:t>
                      </a:r>
                      <a:br/>
                      <a:r>
                        <a:t>Tensor (1273, 5)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🏛️ RCSB PDB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rcsb.org (PDB: 6VXX)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3D atomic coordinates of Spike protein trimer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PDB file (.pdb)</a:t>
                      </a:r>
                      <a:br/>
                      <a:r>
                        <a:t>Contact Graph (10 Å)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🛡️ CoV-AbDab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opig.stats.ox.ac.uk/webapps/covabdab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Coronavirus Antibody Database (Class 1-4 lookup)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CSV / Epitope Dictionary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Segoe UI"/>
              </a:defRPr>
            </a:pPr>
            <a:r>
              <a:t>🔤 Module 1: ESM-2 (Protein Language Model)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Reading the 1D amino acid sentence of the virus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👶 ELI5: How ESM-2 Works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• Protein sequence is a 1,273-letter sentence: 'MFVFLVLLPL...'</a:t>
            </a:r>
            <a:br/>
            <a:br/>
            <a:r>
              <a:t>• ChatGPT reads English words; ESM-2 reads protein letters!</a:t>
            </a:r>
            <a:br/>
            <a:br/>
            <a:r>
              <a:t>• ESM-2 understands 'protein grammar' — if you change a letter, it knows if the protein sentence still makes sense.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📥 Technical Input / Output &amp; Strategy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Model: esm2_t33_650M_UR50D (650 Million parameters)</a:t>
            </a:r>
            <a:br/>
            <a:br/>
            <a:r>
              <a:t>• Input: Spike Sequence string (Length L = 1273)</a:t>
            </a:r>
            <a:br/>
            <a:br/>
            <a:r>
              <a:t>• Output: Feature Tensor H_seq ∈ ℝ^{L × 1280}</a:t>
            </a:r>
            <a:br/>
            <a:br/>
            <a:r>
              <a:t>• Strategy: Fully FROZEN. Embeddings extracted ONCE on Kaggle free GPU and saved as .pt tensor cache. Never recomputed during training!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Segoe UI"/>
              </a:defRPr>
            </a:pPr>
            <a:r>
              <a:t>🧩 Module 2: GVP-GNN (3D Graph Neural Network)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Understanding the 3D origami shape of the virus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👶 ELI5: The 3D Spiderweb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• Proteins fold into 3D origami shapes in space.</a:t>
            </a:r>
            <a:br/>
            <a:br/>
            <a:r>
              <a:t>• Nodes (Dots): Each amino acid residue in 3D space.</a:t>
            </a:r>
            <a:br/>
            <a:br/>
            <a:r>
              <a:t>• Edges (Lines): Connected if 2 residues touch in 3D space (distance &lt; 10 Å).</a:t>
            </a:r>
            <a:br/>
            <a:br/>
            <a:r>
              <a:t>• GVP (Geometric Vector Perceptron) tracks 3D angles and directions so rotational geometry is preserved.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📥 Graph Feature Specification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Node Scalars (L × 10): SASA (surface area), dihedrals (sin/cos φ, ψ), secondary structure.</a:t>
            </a:r>
            <a:br/>
            <a:br/>
            <a:r>
              <a:t>• Node Vectors (L × 3 × 3): Backbone orientation vectors (N→CA, CA→C, CA→CB).</a:t>
            </a:r>
            <a:br/>
            <a:br/>
            <a:r>
              <a:t>• Edge Features (E × 2): Euclidean distance &amp; sequence separation.</a:t>
            </a:r>
            <a:br/>
            <a:br/>
            <a:r>
              <a:t>• Output: Structural Tensor H_struct ∈ ℝ^{L × 512}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Segoe UI"/>
              </a:defRPr>
            </a:pPr>
            <a:r>
              <a:t>🔀 Module 3: Cross-Attention Fusion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Connecting 1D sequence text with 3D structural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👶 ELI5: The Expert Conversation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Imagine two experts discussing residue #484:</a:t>
            </a:r>
            <a:br/>
            <a:r>
              <a:t>• Expert 1 (ESM-2): 'Residue #484 has a high evolutionary mutation rate in text!'</a:t>
            </a:r>
            <a:br/>
            <a:r>
              <a:t>• Expert 2 (GVP-GNN): 'Let me check my 3D map... Yes! It sits right on the outer surface where Class 1 antibodies grab the virus!'</a:t>
            </a:r>
            <a:br/>
            <a:br/>
            <a:r>
              <a:t>👉 Cross-Attention allows sequence queries to attend directly to 3D structural keys &amp; values.</a:t>
            </a:r>
          </a:p>
          <a:p>
            <a:br/>
            <a:pPr>
              <a:defRPr sz="1300">
                <a:solidFill>
                  <a:srgbClr val="FBBF24"/>
                </a:solidFill>
              </a:defRPr>
            </a:pPr>
            <a:r>
              <a:t>Mathematical Formulation:</a:t>
            </a:r>
            <a:br/>
            <a:r>
              <a:t>  Q = Proj(H_seq) ∈ ℝ^{L × 512},   K = Proj(H_struct) ∈ ℝ^{L × 512},   V = Proj(H_struct) ∈ ℝ^{L × 512}</a:t>
            </a:r>
            <a:br/>
            <a:r>
              <a:t>  H_fused = LayerNorm(Q + MultiHeadAttention(Q, K, V))   → Output Shape: ℝ^{L × 512}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Segoe UI"/>
              </a:defRPr>
            </a:pPr>
            <a:r>
              <a:t>🎯 Module 4: Dual Prediction Heads &amp; Joint Loss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Simultaneous mutation hotspot classification &amp; escape regression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Hotspot Head (Sigmoid)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Predicts mutation probability P(mutate_i) ∈ [0, 1]</a:t>
            </a:r>
            <a:br/>
            <a:br/>
            <a:r>
              <a:t>• Loss: Binary Cross-Entropy (BCE)</a:t>
            </a:r>
            <a:br/>
            <a:br/>
            <a:r>
              <a:t>• Metric: AUROC &amp; AUPRC</a:t>
            </a:r>
          </a:p>
          <a:p>
            <a:br/>
            <a:pPr>
              <a:defRPr sz="1600" b="1">
                <a:solidFill>
                  <a:srgbClr val="34D399"/>
                </a:solidFill>
              </a:defRPr>
            </a:pPr>
            <a:r>
              <a:t>2. Escape Head (Linear)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Predicts quantitative DMS escape score S(escape_i) ∈ ℝ</a:t>
            </a:r>
            <a:br/>
            <a:br/>
            <a:r>
              <a:t>• Loss: Mean Squared Error (MSE) vs Bloom Lab DMS</a:t>
            </a:r>
            <a:br/>
            <a:br/>
            <a:r>
              <a:t>• Metric: Spearman Rank Correlation (ρ)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</a:defRPr>
            </a:pPr>
            <a:r>
              <a:t>🧮 Joint Loss &amp; Risk Formula</a:t>
            </a:r>
          </a:p>
          <a:p>
            <a:br/>
            <a:pPr>
              <a:defRPr sz="1400">
                <a:solidFill>
                  <a:srgbClr val="F8FAFC"/>
                </a:solidFill>
              </a:defRPr>
            </a:pPr>
            <a:r>
              <a:t>Joint Loss Function:</a:t>
            </a:r>
            <a:br/>
            <a:r>
              <a:t>  L = λ_1 · BCE(P_mutate, y_mutate) + λ_2 · MSE(S_escape, y_dms)</a:t>
            </a:r>
            <a:br/>
            <a:br/>
            <a:r>
              <a:t>Joint Risk Score Formula:</a:t>
            </a:r>
            <a:br/>
            <a:r>
              <a:t>  R_i = P(mutate_i) × S(escape_i)</a:t>
            </a:r>
            <a:br/>
            <a:br/>
            <a:r>
              <a:t>👉 Early Stopping Rule: Monitor Validation Spearman ρ (not loss!) to prevent rank degradation.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Segoe UI"/>
              </a:defRPr>
            </a:pPr>
            <a:r>
              <a:t>⏳ The Time-Machine Test: Strict Temporal Split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Zero temporal leakage guarantee for true prospective 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📅 Training &amp; Validation Set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Cutoff Date: December 31, 2023</a:t>
            </a:r>
            <a:br/>
            <a:br/>
            <a:r>
              <a:t>• Includes: Wuhan-Hu-1, Alpha, Delta, Omicron BA.1, BA.5 sequences + Bloom Lab DMS.</a:t>
            </a:r>
            <a:br/>
            <a:br/>
            <a:r>
              <a:t>• Automated Assertion in CI:</a:t>
            </a:r>
            <a:br/>
            <a:r>
              <a:t>  assert max(train.date) &lt;= Cutoff &lt;= min(test.date)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🔮 Prospective Test Set (2024–2026)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Emerged Variants: JN.1, KP.2, KP.3, XEC</a:t>
            </a:r>
            <a:br/>
            <a:br/>
            <a:r>
              <a:t>• Evaluation Metrics:</a:t>
            </a:r>
            <a:br/>
            <a:r>
              <a:t>  - Precision@5, Precision@10, Precision@20 on actual emerged mutations</a:t>
            </a:r>
            <a:br/>
            <a:r>
              <a:t>  - Spearman ρ rank correlation vs actual escape</a:t>
            </a:r>
            <a:br/>
            <a:r>
              <a:t>  - AUROC &amp; AUPRC for hotspot classification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Segoe UI"/>
              </a:defRPr>
            </a:pPr>
            <a:r>
              <a:t>⚡ 100% Free Cloud Compute Strategy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Zero AWS/GCP cost — zero laptop hardware strain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💻 Local Laptop Role (0% Strain)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Code editing in VS Code</a:t>
            </a:r>
            <a:br/>
            <a:r>
              <a:t>• Downloading raw files &amp; dataset setup</a:t>
            </a:r>
            <a:br/>
            <a:r>
              <a:t>• Pure Pandas CSV filtering &amp; temporal splits</a:t>
            </a:r>
            <a:br/>
            <a:r>
              <a:t>• Building 3D contact graphs locally (~5-15 mins)</a:t>
            </a:r>
            <a:br/>
            <a:r>
              <a:t>• Plotting result charts (matplotlib/seaborn)</a:t>
            </a:r>
            <a:br/>
            <a:br/>
            <a:r>
              <a:t>👉 Laptop NEVER runs heavy ESM-2 or model training!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☁️ Kaggle Free Cloud (NVIDIA T4 16GB)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• MAFFT MSA alignment on Kaggle free CPU (~30 mins)</a:t>
            </a:r>
            <a:br/>
            <a:r>
              <a:t>• ESM-2 650M embedding extraction pass on Kaggle T4 (~1-2 hrs)</a:t>
            </a:r>
            <a:br/>
            <a:r>
              <a:t>• GVP-GNN + Cross-Attention model training (~1-2 hrs)</a:t>
            </a:r>
            <a:br/>
            <a:r>
              <a:t>• Full 4-condition ablation suite (~4-8 hrs total)</a:t>
            </a:r>
            <a:br/>
            <a:br/>
            <a:r>
              <a:t>👉 Total Project Usage: ~12-20 GPU-hrs out of 30 free GPU-hrs/week!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