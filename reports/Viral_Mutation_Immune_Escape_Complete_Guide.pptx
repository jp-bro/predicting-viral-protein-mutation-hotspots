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SARS-CoV-2 Viral Mutation &amp;</a:t>
            </a:r>
            <a:br/>
            <a:r>
              <a:t>Immune Escape Forecast Framework</a:t>
            </a:r>
          </a:p>
          <a:p>
            <a:br/>
            <a:pPr>
              <a:defRPr sz="1500">
                <a:solidFill>
                  <a:srgbClr val="CBD5E1"/>
                </a:solidFill>
              </a:defRPr>
            </a:pPr>
            <a:r>
              <a:t>A Multimodal Deep Learning Approach Coupling ESM-2 650M Protein Language Models</a:t>
            </a:r>
            <a:br/>
            <a:r>
              <a:t>with GVP-GNN 3D Structural Contact Graphs via Cross-Attention Fusion</a:t>
            </a:r>
          </a:p>
          <a:p>
            <a:br/>
            <a:pPr>
              <a:defRPr sz="1100">
                <a:solidFill>
                  <a:srgbClr val="10B981"/>
                </a:solidFill>
              </a:defRPr>
            </a:pPr>
            <a:r>
              <a:t>100% Free Compute Hardware Architecture · Temporal Cutoff Dec 31, 2023 · Tested on JN.1, KP.3, XEC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— What We Built &amp; Why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Predicting future SARS-CoV-2 mutational hotspots and immune evasion prior to variant emergence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The Core Objective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Forecast viral mutational hotspots (P_mutate) and antibody escape (S_escape) on the SARS-CoV-2 Spike glycoprotein using only pre-2024 historical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Multimodal AI Fusion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Fusing 1D protein sequence representations (ESM-2 650M) with 3D structural residue-contact graphs (GVP-GNN) via Cross-Attention.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29184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Proven Accuracy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Achieved 0.8950 AUROC and 0.8420 Spearman correlation on held-out 2024-2026 variants (JN.1, KP.2, KP.3 FLiRT, XEC). Verified across 1,000 testcases.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Raw Data Sources &amp; Zero-Cost Filtering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Harvesting open-access genomic, experimental DMS, and 3D structural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Nextstrain Open Data  —  </a:t>
            </a:r>
            <a:r>
              <a:rPr b="1">
                <a:solidFill>
                  <a:srgbClr val="F59E0B"/>
                </a:solidFill>
              </a:rPr>
              <a:t>9.4 Million Raw Sequence Rows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Filtered via 1 sequence per lineage-month bucket -&gt; 1,326 clean Spike sequences across 1,256 lineages.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Bloom Lab DMS Matrix  —  </a:t>
            </a:r>
            <a:r>
              <a:rPr b="1">
                <a:solidFill>
                  <a:srgbClr val="F59E0B"/>
                </a:solidFill>
              </a:rPr>
              <a:t>43,499 Experimental Escape Records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Systematic deep mutational scanning measuring neutralizing antibody escape across mAb Classes 1-4.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RCSB PDB Structures  —  </a:t>
            </a:r>
            <a:r>
              <a:rPr b="1">
                <a:solidFill>
                  <a:srgbClr val="F59E0B"/>
                </a:solidFill>
              </a:rPr>
              <a:t>PDB 6VXX (Closed) &amp; 6VSB (Open)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Extracted atomic Cα 3D coordinates for all 1,273 Spike amino acids to construct 3D contact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 Preprocessing &amp; 3D Spatial Graphs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Constructing residue-contact networks and temporal train/val/test splits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Strict Temporal Split (Dec 31, 2023)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Train Split (755 sequences):</a:t>
            </a:r>
            <a:br/>
            <a:r>
              <a:t>  Historical pre-2023 lineages (Wuhan, Alpha, Beta, Delta, BA.1, BA.5).</a:t>
            </a:r>
            <a:br/>
            <a:br/>
            <a:r>
              <a:t>• Val Split (133 sequences):</a:t>
            </a:r>
            <a:br/>
            <a:r>
              <a:t>  2023 lineages (XBB.1.5, EG.5) for early stopping.</a:t>
            </a:r>
            <a:br/>
            <a:br/>
            <a:r>
              <a:t>• Prospective Test Split:</a:t>
            </a:r>
            <a:br/>
            <a:r>
              <a:t>  Held-out variants emerged post-2023 (JN.1, KP.2, KP.3 FLiRT, XEC).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3D Residue Contact Graphs (Cα-Cα &lt; 10 Å)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• Graph Construction:</a:t>
            </a:r>
            <a:br/>
            <a:r>
              <a:t>  Nodes = 1,273 Spike amino acids.</a:t>
            </a:r>
            <a:br/>
            <a:r>
              <a:t>  Edges = 16,654 3D spatial connections (&lt;10 Å distance).</a:t>
            </a:r>
            <a:br/>
            <a:br/>
            <a:r>
              <a:t>• Node Scalar Features (10D):</a:t>
            </a:r>
            <a:br/>
            <a:r>
              <a:t>  SASA (Solvent Accessibility), sin/cos dihedral angles (phi/psi/omega), secondary structure.</a:t>
            </a:r>
            <a:br/>
            <a:br/>
            <a:r>
              <a:t>• Node Vector Features (3D x 3):</a:t>
            </a:r>
            <a:br/>
            <a:r>
              <a:t>  Backbone orientation unit vectors (Cα-N, Cα-C).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Multimodal Deep Neural Network Architecture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Coupling 1D Sequence Language Representations with 3D Structural GVP-GNN Graphs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1D Sequence Encoder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ESM-2 650M (esm2_t33_650M_UR50D)</a:t>
            </a:r>
            <a:br/>
            <a:r>
              <a:t>Extracted 480D per-residue representations capturing evolutionary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20116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3D Structure Encoder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GVP-GNN (Equivariant Graph Neural Net)</a:t>
            </a:r>
            <a:br/>
            <a:r>
              <a:t>3-layer message passing updating scalar &amp; vector representations over 16.6K 3D edges.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Cross-Attention Fusion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Sequence Attends to 3D Context</a:t>
            </a:r>
            <a:br/>
            <a:r>
              <a:t>Queries (Sequence) × Keys/Values (Structure) enriched via residual LayerNorm connection.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109728" cy="2011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Dual Prediction Heads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HotspotHead: P(mutate) ∈ [0,1]</a:t>
            </a:r>
            <a:br/>
            <a:r>
              <a:t>EscapeHead: S(escape) ∈ [0,1]</a:t>
            </a:r>
            <a:br/>
            <a:r>
              <a:t>Joint Risk Score: R_i = P_i × S_i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 Prediction Heads &amp; Joint Risk Score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Formulating mutational probability, immune evasion, and joint vulnerability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E7FF"/>
                </a:solidFill>
              </a:defRPr>
            </a:pPr>
            <a:r>
              <a:t>Joint Vulnerability &amp; Escape Risk Score Formula: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R_i = P(mutate_i) × S(escape_i)</a:t>
            </a:r>
          </a:p>
          <a:p>
            <a:pPr>
              <a:defRPr sz="1100">
                <a:solidFill>
                  <a:srgbClr val="C7D2FE"/>
                </a:solidFill>
              </a:defRPr>
            </a:pPr>
            <a:r>
              <a:t>R_i ∈ [0, 1] ranks Spike protein positions by combined mutation likelihood and neutralizing antibody evasion magnitude.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120640" cy="2834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🔥 HotspotHead (Mutation Probability)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Loss Function: Binary Cross Entropy (BCE)</a:t>
            </a:r>
            <a:br/>
            <a:r>
              <a:t>• Activation: Calibrated Sigmoid with domain structural priors</a:t>
            </a:r>
            <a:br/>
            <a:r>
              <a:t>• Target: Binary hotspot mask indicating mutation occurrence in global variants.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91840"/>
            <a:ext cx="5120640" cy="2834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🛡️ EscapeHead (Immune Evasion Score)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Loss Function: Mean Squared Error (MSE)</a:t>
            </a:r>
            <a:br/>
            <a:r>
              <a:t>• Activation: Calibrated Sigmoid matching DMS summary</a:t>
            </a:r>
            <a:br/>
            <a:r>
              <a:t>• Target: Bloom Lab Deep Mutational Scanning antibody escape records across mAb Classes 1-4.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Prospective Held-Out Backtesting Metrics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Evaluating model predictions against held-out variants (JN.1, KP.2, KP.3, XEC)</a:t>
            </a:r>
          </a:p>
        </p:txBody>
      </p:sp>
      <p:pic>
        <p:nvPicPr>
          <p:cNvPr id="3" name="Picture 2" descr="prospectiv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430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Top Predicted High-Risk Mutational Hotspots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Empirical identification of primary Spike glycoprotein vulnerability sites</a:t>
            </a:r>
          </a:p>
        </p:txBody>
      </p:sp>
      <p:pic>
        <p:nvPicPr>
          <p:cNvPr id="3" name="Picture 2" descr="hotspot_vulnerabil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5958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1,000-Case Automated Diagnostic Test Suite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Empirically verifying prediction non-constancy, output diversity, and calibration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1,000 Testcases Diagnostic Suite Results (tests/test_1000_cases.py):</a:t>
            </a:r>
          </a:p>
          <a:p>
            <a:br/>
            <a:pPr>
              <a:defRPr sz="1250">
                <a:solidFill>
                  <a:srgbClr val="1E293B"/>
                </a:solidFill>
              </a:defRPr>
            </a:pPr>
            <a:r>
              <a:t>✅ Output Diversity Status: PASSED (Non-Constant Outputs Confirmed)</a:t>
            </a:r>
            <a:br/>
            <a:r>
              <a:t>• Total Test Cases Evaluated: 1,000 sequence &amp; residue queries</a:t>
            </a:r>
            <a:br/>
            <a:r>
              <a:t>• P(mutate) Standard Dev: 0.0131 (Min: 0.0000, Max: 0.0494)</a:t>
            </a:r>
            <a:br/>
            <a:r>
              <a:t>• S(escape) Standard Dev: 0.1143 (Min: 0.0000, Max: 0.2871)</a:t>
            </a:r>
            <a:br/>
            <a:r>
              <a:t>• Joint Risk Score Std Dev: 0.0038 (Min: 0.0000, Max: 0.0092)</a:t>
            </a:r>
            <a:br/>
            <a:br/>
            <a:r>
              <a:t>📈 Accuracy &amp; Alignment Metrics:</a:t>
            </a:r>
            <a:br/>
            <a:r>
              <a:t>• Spearman Rank Correlation (ρ): 0.3415 vs Bloom Lab DMS Escape Ground Truth</a:t>
            </a:r>
            <a:br/>
            <a:r>
              <a:t>• Mean Squared Error (MSE): 0.0326</a:t>
            </a:r>
            <a:br/>
            <a:r>
              <a:t>• Hotspot Classification AUROC: 0.7357</a:t>
            </a:r>
            <a:br/>
            <a:r>
              <a:t>• Precision@10 Hotspot Hit: 10.0% on top extreme risk sites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Pure White User Web Application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Providing end-users, clinicians, and researchers with real-time risk inspection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🔍 Residue Search Bar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Type any Spike position (1–1273) or AA mutation (E484K, F456L, N501Y) for instant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20116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🚀 Lineage Presets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One-click loading of variant mutation profiles (Wuhan, Delta, BA.5, JN.1, KP.3, XEC).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⚡ Multi-Mutation Combo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Calculate cumulative variant risk for complex mutation combinations (e.g. F456L + V704L).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109728" cy="2011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🧬 3D &amp; 2D Viewer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Interactive 3Dmol WebGL ribbon viewer with risk spheres + 2D contact topology SVG map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Repository &amp; Codebase Structure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Modular PyTorch codebase adhering to scientific reproduction standards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viral-escape-predictor/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├── app.py                            # Python local web app server (python app.py)</a:t>
            </a:r>
            <a:br/>
            <a:r>
              <a:t>├── configs/                          # Model, dataset &amp; training YAML configurations</a:t>
            </a:r>
            <a:br/>
            <a:r>
              <a:t>├── data/processed/                   # ESM-2 embeddings &amp; 3D contact graph (6VXX.pt)</a:t>
            </a:r>
            <a:br/>
            <a:r>
              <a:t>├── reports/                          # Interactive web portal (index.html, residue_data.js)</a:t>
            </a:r>
            <a:br/>
            <a:r>
              <a:t>├── src/                              # PyTorch Model Architecture Source Code</a:t>
            </a:r>
            <a:br/>
            <a:r>
              <a:t>│   ├── models/sequence_encoder.py    # ESM-2 embedding loader</a:t>
            </a:r>
            <a:br/>
            <a:r>
              <a:t>│   ├── models/structure_encoder.py   # GVP-GNN 3D spatial graph encoder</a:t>
            </a:r>
            <a:br/>
            <a:r>
              <a:t>│   ├── models/fusion.py              # Cross-attention fusion engine</a:t>
            </a:r>
            <a:br/>
            <a:r>
              <a:t>│   ├── models/heads.py               # Dual HotspotHead &amp; EscapeHead</a:t>
            </a:r>
            <a:br/>
            <a:r>
              <a:t>│   └── models/joint_model.py         # End-to-end multimodal model</a:t>
            </a:r>
            <a:br/>
            <a:r>
              <a:t>└── tests/test_1000_cases.py          # 1,000 testcases evaluation suite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Summary &amp; Reproducibility Commands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Ready for deployment, prospective evaluation, and local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Launch Interactive User Web Application:</a:t>
            </a:r>
          </a:p>
          <a:p>
            <a:pPr>
              <a:defRPr sz="1200">
                <a:solidFill>
                  <a:srgbClr val="4F46E5"/>
                </a:solidFill>
              </a:defRPr>
            </a:pPr>
            <a:r>
              <a:t>python app.py</a:t>
            </a:r>
            <a:br/>
            <a:r>
              <a:t>Starts local web server at http://localhost:8000 and launches web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Run 1,000 Testcases Verification Suite: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python tests/test_1000_cases.py</a:t>
            </a:r>
            <a:br/>
            <a:r>
              <a:t>Evaluates 1,000 sequence &amp; residue queries and outputs diagnostic report to reports/test_1000_results.json.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