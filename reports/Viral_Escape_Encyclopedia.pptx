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F46E5"/>
        </a:solidFill>
        <a:effectLst/>
      </p:bgPr>
    </p:bg>
    <p:spTree>
      <p:nvGrpSpPr>
        <p:cNvPr id="1" name=""/>
        <p:cNvGrpSpPr/>
        <p:nvPr/>
      </p:nvGrpSpPr>
      <p:grpSpPr/>
      <p:sp>
        <p:nvSpPr>
          <p:cNvPr id="2" name="Oval 1"/>
          <p:cNvSpPr/>
          <p:nvPr/>
        </p:nvSpPr>
        <p:spPr>
          <a:xfrm>
            <a:off x="9601200" y="5029200"/>
            <a:ext cx="3200400" cy="32004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789920" y="914400"/>
            <a:ext cx="1828800" cy="1828800"/>
          </a:xfrm>
          <a:prstGeom prst="ellipse">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5943600"/>
            <a:ext cx="2286000" cy="2286000"/>
          </a:xfrm>
          <a:prstGeom prst="ellipse">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1371600" cy="1371600"/>
          </a:xfrm>
          <a:prstGeom prst="rect">
            <a:avLst/>
          </a:prstGeom>
          <a:noFill/>
        </p:spPr>
        <p:txBody>
          <a:bodyPr wrap="square" lIns="0" tIns="0" rIns="0" bIns="0">
            <a:spAutoFit/>
          </a:bodyPr>
          <a:lstStyle/>
          <a:p>
            <a:pPr algn="ctr"/>
            <a:r>
              <a:rPr sz="5200" b="0" i="0">
                <a:solidFill>
                  <a:srgbClr val="FFFFFF"/>
                </a:solidFill>
                <a:latin typeface="Segoe UI"/>
              </a:rPr>
              <a:t>🧬</a:t>
            </a:r>
          </a:p>
        </p:txBody>
      </p:sp>
      <p:sp>
        <p:nvSpPr>
          <p:cNvPr id="6" name="TextBox 5"/>
          <p:cNvSpPr txBox="1"/>
          <p:nvPr/>
        </p:nvSpPr>
        <p:spPr>
          <a:xfrm>
            <a:off x="1645920" y="320040"/>
            <a:ext cx="9144000" cy="1097280"/>
          </a:xfrm>
          <a:prstGeom prst="rect">
            <a:avLst/>
          </a:prstGeom>
          <a:noFill/>
        </p:spPr>
        <p:txBody>
          <a:bodyPr wrap="square" lIns="0" tIns="0" rIns="0" bIns="0">
            <a:spAutoFit/>
          </a:bodyPr>
          <a:lstStyle/>
          <a:p>
            <a:pPr algn="l"/>
            <a:r>
              <a:rPr sz="3400" b="1" i="0">
                <a:solidFill>
                  <a:srgbClr val="FFFFFF"/>
                </a:solidFill>
                <a:latin typeface="Segoe UI"/>
              </a:rPr>
              <a:t>SARS-CoV-2 Viral Escape Predictor</a:t>
            </a:r>
          </a:p>
        </p:txBody>
      </p:sp>
      <p:sp>
        <p:nvSpPr>
          <p:cNvPr id="7" name="TextBox 6"/>
          <p:cNvSpPr txBox="1"/>
          <p:nvPr/>
        </p:nvSpPr>
        <p:spPr>
          <a:xfrm>
            <a:off x="1645920" y="1325880"/>
            <a:ext cx="9144000" cy="548640"/>
          </a:xfrm>
          <a:prstGeom prst="rect">
            <a:avLst/>
          </a:prstGeom>
          <a:noFill/>
        </p:spPr>
        <p:txBody>
          <a:bodyPr wrap="square" lIns="0" tIns="0" rIns="0" bIns="0">
            <a:spAutoFit/>
          </a:bodyPr>
          <a:lstStyle/>
          <a:p>
            <a:pPr algn="l"/>
            <a:r>
              <a:rPr sz="1800" b="0" i="1">
                <a:solidFill>
                  <a:srgbClr val="C7D2FE"/>
                </a:solidFill>
                <a:latin typeface="Segoe UI"/>
              </a:rPr>
              <a:t>A Computational Biology Encyclopedia</a:t>
            </a:r>
          </a:p>
        </p:txBody>
      </p:sp>
      <p:sp>
        <p:nvSpPr>
          <p:cNvPr id="8" name="Rectangle 7"/>
          <p:cNvSpPr/>
          <p:nvPr/>
        </p:nvSpPr>
        <p:spPr>
          <a:xfrm>
            <a:off x="457200" y="2011680"/>
            <a:ext cx="11274552"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48840"/>
            <a:ext cx="10058400" cy="914400"/>
          </a:xfrm>
          <a:prstGeom prst="rect">
            <a:avLst/>
          </a:prstGeom>
          <a:noFill/>
        </p:spPr>
        <p:txBody>
          <a:bodyPr wrap="square" lIns="0" tIns="0" rIns="0" bIns="0">
            <a:spAutoFit/>
          </a:bodyPr>
          <a:lstStyle/>
          <a:p>
            <a:pPr algn="l"/>
            <a:r>
              <a:rPr sz="1500" b="0" i="0">
                <a:solidFill>
                  <a:srgbClr val="E0E7FF"/>
                </a:solidFill>
                <a:latin typeface="Segoe UI"/>
              </a:rPr>
              <a:t>How we built an AI that predicts which parts of the COVID-19 virus will mutate next — and which mutations will help it escape our immune system.</a:t>
            </a:r>
          </a:p>
        </p:txBody>
      </p:sp>
      <p:sp>
        <p:nvSpPr>
          <p:cNvPr id="10" name="Rounded Rectangle 9"/>
          <p:cNvSpPr/>
          <p:nvPr/>
        </p:nvSpPr>
        <p:spPr>
          <a:xfrm>
            <a:off x="457200" y="3291840"/>
            <a:ext cx="2743200" cy="777240"/>
          </a:xfrm>
          <a:prstGeom prst="roundRect">
            <a:avLst/>
          </a:prstGeom>
          <a:solidFill>
            <a:srgbClr val="1E1B4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337560"/>
            <a:ext cx="2743200" cy="365760"/>
          </a:xfrm>
          <a:prstGeom prst="rect">
            <a:avLst/>
          </a:prstGeom>
          <a:noFill/>
        </p:spPr>
        <p:txBody>
          <a:bodyPr wrap="square" lIns="0" tIns="0" rIns="0" bIns="0">
            <a:spAutoFit/>
          </a:bodyPr>
          <a:lstStyle/>
          <a:p>
            <a:pPr algn="ctr"/>
            <a:r>
              <a:rPr sz="1800" b="1" i="0">
                <a:solidFill>
                  <a:srgbClr val="14B8A6"/>
                </a:solidFill>
                <a:latin typeface="Segoe UI"/>
              </a:rPr>
              <a:t>1,273</a:t>
            </a:r>
          </a:p>
        </p:txBody>
      </p:sp>
      <p:sp>
        <p:nvSpPr>
          <p:cNvPr id="12" name="TextBox 11"/>
          <p:cNvSpPr txBox="1"/>
          <p:nvPr/>
        </p:nvSpPr>
        <p:spPr>
          <a:xfrm>
            <a:off x="457200" y="3639312"/>
            <a:ext cx="2743200" cy="320040"/>
          </a:xfrm>
          <a:prstGeom prst="rect">
            <a:avLst/>
          </a:prstGeom>
          <a:noFill/>
        </p:spPr>
        <p:txBody>
          <a:bodyPr wrap="square" lIns="0" tIns="0" rIns="0" bIns="0">
            <a:spAutoFit/>
          </a:bodyPr>
          <a:lstStyle/>
          <a:p>
            <a:pPr algn="ctr"/>
            <a:r>
              <a:rPr sz="1000" b="0" i="0">
                <a:solidFill>
                  <a:srgbClr val="C7D2FE"/>
                </a:solidFill>
                <a:latin typeface="Segoe UI"/>
              </a:rPr>
              <a:t>Spike residues scored</a:t>
            </a:r>
          </a:p>
        </p:txBody>
      </p:sp>
      <p:sp>
        <p:nvSpPr>
          <p:cNvPr id="13" name="Rounded Rectangle 12"/>
          <p:cNvSpPr/>
          <p:nvPr/>
        </p:nvSpPr>
        <p:spPr>
          <a:xfrm>
            <a:off x="3383280" y="3291840"/>
            <a:ext cx="2743200" cy="777240"/>
          </a:xfrm>
          <a:prstGeom prst="roundRect">
            <a:avLst/>
          </a:prstGeom>
          <a:solidFill>
            <a:srgbClr val="1E1B4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3337560"/>
            <a:ext cx="2743200" cy="365760"/>
          </a:xfrm>
          <a:prstGeom prst="rect">
            <a:avLst/>
          </a:prstGeom>
          <a:noFill/>
        </p:spPr>
        <p:txBody>
          <a:bodyPr wrap="square" lIns="0" tIns="0" rIns="0" bIns="0">
            <a:spAutoFit/>
          </a:bodyPr>
          <a:lstStyle/>
          <a:p>
            <a:pPr algn="ctr"/>
            <a:r>
              <a:rPr sz="1800" b="1" i="0">
                <a:solidFill>
                  <a:srgbClr val="F59E0B"/>
                </a:solidFill>
                <a:latin typeface="Segoe UI"/>
              </a:rPr>
              <a:t>0.7357</a:t>
            </a:r>
          </a:p>
        </p:txBody>
      </p:sp>
      <p:sp>
        <p:nvSpPr>
          <p:cNvPr id="15" name="TextBox 14"/>
          <p:cNvSpPr txBox="1"/>
          <p:nvPr/>
        </p:nvSpPr>
        <p:spPr>
          <a:xfrm>
            <a:off x="3383280" y="3639312"/>
            <a:ext cx="2743200" cy="320040"/>
          </a:xfrm>
          <a:prstGeom prst="rect">
            <a:avLst/>
          </a:prstGeom>
          <a:noFill/>
        </p:spPr>
        <p:txBody>
          <a:bodyPr wrap="square" lIns="0" tIns="0" rIns="0" bIns="0">
            <a:spAutoFit/>
          </a:bodyPr>
          <a:lstStyle/>
          <a:p>
            <a:pPr algn="ctr"/>
            <a:r>
              <a:rPr sz="1000" b="0" i="0">
                <a:solidFill>
                  <a:srgbClr val="C7D2FE"/>
                </a:solidFill>
                <a:latin typeface="Segoe UI"/>
              </a:rPr>
              <a:t>AUROC on test variants</a:t>
            </a:r>
          </a:p>
        </p:txBody>
      </p:sp>
      <p:sp>
        <p:nvSpPr>
          <p:cNvPr id="16" name="Rounded Rectangle 15"/>
          <p:cNvSpPr/>
          <p:nvPr/>
        </p:nvSpPr>
        <p:spPr>
          <a:xfrm>
            <a:off x="6309360" y="3291840"/>
            <a:ext cx="2743200" cy="777240"/>
          </a:xfrm>
          <a:prstGeom prst="roundRect">
            <a:avLst/>
          </a:prstGeom>
          <a:solidFill>
            <a:srgbClr val="1E1B4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3337560"/>
            <a:ext cx="2743200" cy="365760"/>
          </a:xfrm>
          <a:prstGeom prst="rect">
            <a:avLst/>
          </a:prstGeom>
          <a:noFill/>
        </p:spPr>
        <p:txBody>
          <a:bodyPr wrap="square" lIns="0" tIns="0" rIns="0" bIns="0">
            <a:spAutoFit/>
          </a:bodyPr>
          <a:lstStyle/>
          <a:p>
            <a:pPr algn="ctr"/>
            <a:r>
              <a:rPr sz="1800" b="1" i="0">
                <a:solidFill>
                  <a:srgbClr val="10B981"/>
                </a:solidFill>
                <a:latin typeface="Segoe UI"/>
              </a:rPr>
              <a:t>5 databases</a:t>
            </a:r>
          </a:p>
        </p:txBody>
      </p:sp>
      <p:sp>
        <p:nvSpPr>
          <p:cNvPr id="18" name="TextBox 17"/>
          <p:cNvSpPr txBox="1"/>
          <p:nvPr/>
        </p:nvSpPr>
        <p:spPr>
          <a:xfrm>
            <a:off x="6309360" y="3639312"/>
            <a:ext cx="2743200" cy="320040"/>
          </a:xfrm>
          <a:prstGeom prst="rect">
            <a:avLst/>
          </a:prstGeom>
          <a:noFill/>
        </p:spPr>
        <p:txBody>
          <a:bodyPr wrap="square" lIns="0" tIns="0" rIns="0" bIns="0">
            <a:spAutoFit/>
          </a:bodyPr>
          <a:lstStyle/>
          <a:p>
            <a:pPr algn="ctr"/>
            <a:r>
              <a:rPr sz="1000" b="0" i="0">
                <a:solidFill>
                  <a:srgbClr val="C7D2FE"/>
                </a:solidFill>
                <a:latin typeface="Segoe UI"/>
              </a:rPr>
              <a:t>integrated</a:t>
            </a:r>
          </a:p>
        </p:txBody>
      </p:sp>
      <p:sp>
        <p:nvSpPr>
          <p:cNvPr id="19" name="Rounded Rectangle 18"/>
          <p:cNvSpPr/>
          <p:nvPr/>
        </p:nvSpPr>
        <p:spPr>
          <a:xfrm>
            <a:off x="9235440" y="3291840"/>
            <a:ext cx="2743200" cy="777240"/>
          </a:xfrm>
          <a:prstGeom prst="roundRect">
            <a:avLst/>
          </a:prstGeom>
          <a:solidFill>
            <a:srgbClr val="1E1B4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3337560"/>
            <a:ext cx="2743200" cy="365760"/>
          </a:xfrm>
          <a:prstGeom prst="rect">
            <a:avLst/>
          </a:prstGeom>
          <a:noFill/>
        </p:spPr>
        <p:txBody>
          <a:bodyPr wrap="square" lIns="0" tIns="0" rIns="0" bIns="0">
            <a:spAutoFit/>
          </a:bodyPr>
          <a:lstStyle/>
          <a:p>
            <a:pPr algn="ctr"/>
            <a:r>
              <a:rPr sz="1800" b="1" i="0">
                <a:solidFill>
                  <a:srgbClr val="F43F5E"/>
                </a:solidFill>
                <a:latin typeface="Segoe UI"/>
              </a:rPr>
              <a:t>8 novel additions</a:t>
            </a:r>
          </a:p>
        </p:txBody>
      </p:sp>
      <p:sp>
        <p:nvSpPr>
          <p:cNvPr id="21" name="TextBox 20"/>
          <p:cNvSpPr txBox="1"/>
          <p:nvPr/>
        </p:nvSpPr>
        <p:spPr>
          <a:xfrm>
            <a:off x="9235440" y="3639312"/>
            <a:ext cx="2743200" cy="320040"/>
          </a:xfrm>
          <a:prstGeom prst="rect">
            <a:avLst/>
          </a:prstGeom>
          <a:noFill/>
        </p:spPr>
        <p:txBody>
          <a:bodyPr wrap="square" lIns="0" tIns="0" rIns="0" bIns="0">
            <a:spAutoFit/>
          </a:bodyPr>
          <a:lstStyle/>
          <a:p>
            <a:pPr algn="ctr"/>
            <a:r>
              <a:rPr sz="1000" b="0" i="0">
                <a:solidFill>
                  <a:srgbClr val="C7D2FE"/>
                </a:solidFill>
                <a:latin typeface="Segoe UI"/>
              </a:rPr>
              <a:t>proposed</a:t>
            </a:r>
          </a:p>
        </p:txBody>
      </p:sp>
      <p:sp>
        <p:nvSpPr>
          <p:cNvPr id="22" name="TextBox 21"/>
          <p:cNvSpPr txBox="1"/>
          <p:nvPr/>
        </p:nvSpPr>
        <p:spPr>
          <a:xfrm>
            <a:off x="457200" y="4297680"/>
            <a:ext cx="10972800" cy="365760"/>
          </a:xfrm>
          <a:prstGeom prst="rect">
            <a:avLst/>
          </a:prstGeom>
          <a:noFill/>
        </p:spPr>
        <p:txBody>
          <a:bodyPr wrap="square" lIns="0" tIns="0" rIns="0" bIns="0">
            <a:spAutoFit/>
          </a:bodyPr>
          <a:lstStyle/>
          <a:p>
            <a:pPr algn="ctr"/>
            <a:r>
              <a:rPr sz="1100" b="0" i="0">
                <a:solidFill>
                  <a:srgbClr val="94A3B8"/>
                </a:solidFill>
                <a:latin typeface="Segoe UI"/>
              </a:rPr>
              <a:t>Spike Glycoprotein · Deep Learning · Structural Biology · Immune Escape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The Problem: COVID Keeps Changing</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Why do new variants keep appearing — and why can't we stop them?</a:t>
            </a:r>
          </a:p>
        </p:txBody>
      </p:sp>
      <p:sp>
        <p:nvSpPr>
          <p:cNvPr id="5" name="TextBox 4"/>
          <p:cNvSpPr txBox="1"/>
          <p:nvPr/>
        </p:nvSpPr>
        <p:spPr>
          <a:xfrm>
            <a:off x="457200" y="1280160"/>
            <a:ext cx="11247120" cy="822960"/>
          </a:xfrm>
          <a:prstGeom prst="rect">
            <a:avLst/>
          </a:prstGeom>
          <a:noFill/>
        </p:spPr>
        <p:txBody>
          <a:bodyPr wrap="square" lIns="0" tIns="0" rIns="0" bIns="0">
            <a:spAutoFit/>
          </a:bodyPr>
          <a:lstStyle/>
          <a:p>
            <a:pPr algn="l"/>
            <a:r>
              <a:rPr sz="1300" b="0" i="0">
                <a:solidFill>
                  <a:srgbClr val="0F172A"/>
                </a:solidFill>
                <a:latin typeface="Segoe UI"/>
              </a:rPr>
              <a:t>The COVID-19 virus (SARS-CoV-2) is a moving target. Every time it replicates inside a human body, it makes tiny random mistakes — mutations. Most are harmless. But some mutations help the virus survive and spread more effectively.</a:t>
            </a:r>
          </a:p>
        </p:txBody>
      </p:sp>
      <p:sp>
        <p:nvSpPr>
          <p:cNvPr id="6" name="TextBox 5"/>
          <p:cNvSpPr txBox="1"/>
          <p:nvPr/>
        </p:nvSpPr>
        <p:spPr>
          <a:xfrm>
            <a:off x="457200" y="2148840"/>
            <a:ext cx="3657600" cy="320040"/>
          </a:xfrm>
          <a:prstGeom prst="rect">
            <a:avLst/>
          </a:prstGeom>
          <a:noFill/>
        </p:spPr>
        <p:txBody>
          <a:bodyPr wrap="square" lIns="0" tIns="0" rIns="0" bIns="0">
            <a:spAutoFit/>
          </a:bodyPr>
          <a:lstStyle/>
          <a:p>
            <a:pPr algn="l"/>
            <a:r>
              <a:rPr sz="1200" b="1" i="0">
                <a:solidFill>
                  <a:srgbClr val="4F46E5"/>
                </a:solidFill>
                <a:latin typeface="Segoe UI"/>
              </a:rPr>
              <a:t>Variant Timeline</a:t>
            </a:r>
          </a:p>
        </p:txBody>
      </p:sp>
      <p:sp>
        <p:nvSpPr>
          <p:cNvPr id="7" name="Oval 6"/>
          <p:cNvSpPr/>
          <p:nvPr/>
        </p:nvSpPr>
        <p:spPr>
          <a:xfrm>
            <a:off x="457200" y="2514600"/>
            <a:ext cx="640080" cy="640080"/>
          </a:xfrm>
          <a:prstGeom prst="ellipse">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514600"/>
            <a:ext cx="548640" cy="640080"/>
          </a:xfrm>
          <a:prstGeom prst="rect">
            <a:avLst/>
          </a:prstGeom>
          <a:noFill/>
        </p:spPr>
        <p:txBody>
          <a:bodyPr wrap="square" lIns="0" tIns="0" rIns="0" bIns="0">
            <a:spAutoFit/>
          </a:bodyPr>
          <a:lstStyle/>
          <a:p>
            <a:pPr algn="ctr"/>
            <a:r>
              <a:rPr sz="2000" b="0" i="0">
                <a:solidFill>
                  <a:srgbClr val="FFFFFF"/>
                </a:solidFill>
                <a:latin typeface="Segoe UI"/>
              </a:rPr>
              <a:t>●</a:t>
            </a:r>
          </a:p>
        </p:txBody>
      </p:sp>
      <p:sp>
        <p:nvSpPr>
          <p:cNvPr id="9" name="TextBox 8"/>
          <p:cNvSpPr txBox="1"/>
          <p:nvPr/>
        </p:nvSpPr>
        <p:spPr>
          <a:xfrm>
            <a:off x="274320" y="3200400"/>
            <a:ext cx="1005840" cy="548640"/>
          </a:xfrm>
          <a:prstGeom prst="rect">
            <a:avLst/>
          </a:prstGeom>
          <a:noFill/>
        </p:spPr>
        <p:txBody>
          <a:bodyPr wrap="square" lIns="0" tIns="0" rIns="0" bIns="0">
            <a:spAutoFit/>
          </a:bodyPr>
          <a:lstStyle/>
          <a:p>
            <a:pPr algn="ctr"/>
            <a:r>
              <a:rPr sz="900" b="0" i="0">
                <a:solidFill>
                  <a:srgbClr val="0F172A"/>
                </a:solidFill>
                <a:latin typeface="Segoe UI"/>
              </a:rPr>
              <a:t>Original
Wuhan</a:t>
            </a:r>
          </a:p>
        </p:txBody>
      </p:sp>
      <p:sp>
        <p:nvSpPr>
          <p:cNvPr id="10" name="TextBox 9"/>
          <p:cNvSpPr txBox="1"/>
          <p:nvPr/>
        </p:nvSpPr>
        <p:spPr>
          <a:xfrm>
            <a:off x="274320" y="3703320"/>
            <a:ext cx="1005840" cy="274320"/>
          </a:xfrm>
          <a:prstGeom prst="rect">
            <a:avLst/>
          </a:prstGeom>
          <a:noFill/>
        </p:spPr>
        <p:txBody>
          <a:bodyPr wrap="square" lIns="0" tIns="0" rIns="0" bIns="0">
            <a:spAutoFit/>
          </a:bodyPr>
          <a:lstStyle/>
          <a:p>
            <a:pPr algn="ctr"/>
            <a:r>
              <a:rPr sz="800" b="0" i="0">
                <a:solidFill>
                  <a:srgbClr val="64748B"/>
                </a:solidFill>
                <a:latin typeface="Segoe UI"/>
              </a:rPr>
              <a:t>Dec 2019</a:t>
            </a:r>
          </a:p>
        </p:txBody>
      </p:sp>
      <p:sp>
        <p:nvSpPr>
          <p:cNvPr id="11" name="Oval 10"/>
          <p:cNvSpPr/>
          <p:nvPr/>
        </p:nvSpPr>
        <p:spPr>
          <a:xfrm>
            <a:off x="2331720" y="2514600"/>
            <a:ext cx="640080" cy="6400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39" y="2514600"/>
            <a:ext cx="548640" cy="640080"/>
          </a:xfrm>
          <a:prstGeom prst="rect">
            <a:avLst/>
          </a:prstGeom>
          <a:noFill/>
        </p:spPr>
        <p:txBody>
          <a:bodyPr wrap="square" lIns="0" tIns="0" rIns="0" bIns="0">
            <a:spAutoFit/>
          </a:bodyPr>
          <a:lstStyle/>
          <a:p>
            <a:pPr algn="ctr"/>
            <a:r>
              <a:rPr sz="2000" b="0" i="0">
                <a:solidFill>
                  <a:srgbClr val="FFFFFF"/>
                </a:solidFill>
                <a:latin typeface="Segoe UI"/>
              </a:rPr>
              <a:t>●</a:t>
            </a:r>
          </a:p>
        </p:txBody>
      </p:sp>
      <p:sp>
        <p:nvSpPr>
          <p:cNvPr id="13" name="TextBox 12"/>
          <p:cNvSpPr txBox="1"/>
          <p:nvPr/>
        </p:nvSpPr>
        <p:spPr>
          <a:xfrm>
            <a:off x="2148839" y="3200400"/>
            <a:ext cx="1005840" cy="548640"/>
          </a:xfrm>
          <a:prstGeom prst="rect">
            <a:avLst/>
          </a:prstGeom>
          <a:noFill/>
        </p:spPr>
        <p:txBody>
          <a:bodyPr wrap="square" lIns="0" tIns="0" rIns="0" bIns="0">
            <a:spAutoFit/>
          </a:bodyPr>
          <a:lstStyle/>
          <a:p>
            <a:pPr algn="ctr"/>
            <a:r>
              <a:rPr sz="900" b="0" i="0">
                <a:solidFill>
                  <a:srgbClr val="0F172A"/>
                </a:solidFill>
                <a:latin typeface="Segoe UI"/>
              </a:rPr>
              <a:t>Alpha
(B.1.1.7)</a:t>
            </a:r>
          </a:p>
        </p:txBody>
      </p:sp>
      <p:sp>
        <p:nvSpPr>
          <p:cNvPr id="14" name="TextBox 13"/>
          <p:cNvSpPr txBox="1"/>
          <p:nvPr/>
        </p:nvSpPr>
        <p:spPr>
          <a:xfrm>
            <a:off x="2148839" y="3703320"/>
            <a:ext cx="1005840" cy="274320"/>
          </a:xfrm>
          <a:prstGeom prst="rect">
            <a:avLst/>
          </a:prstGeom>
          <a:noFill/>
        </p:spPr>
        <p:txBody>
          <a:bodyPr wrap="square" lIns="0" tIns="0" rIns="0" bIns="0">
            <a:spAutoFit/>
          </a:bodyPr>
          <a:lstStyle/>
          <a:p>
            <a:pPr algn="ctr"/>
            <a:r>
              <a:rPr sz="800" b="0" i="0">
                <a:solidFill>
                  <a:srgbClr val="64748B"/>
                </a:solidFill>
                <a:latin typeface="Segoe UI"/>
              </a:rPr>
              <a:t>Oct 2020</a:t>
            </a:r>
          </a:p>
        </p:txBody>
      </p:sp>
      <p:sp>
        <p:nvSpPr>
          <p:cNvPr id="15" name="Oval 14"/>
          <p:cNvSpPr/>
          <p:nvPr/>
        </p:nvSpPr>
        <p:spPr>
          <a:xfrm>
            <a:off x="4206240" y="2514600"/>
            <a:ext cx="640080" cy="6400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59" y="2514600"/>
            <a:ext cx="548640" cy="640080"/>
          </a:xfrm>
          <a:prstGeom prst="rect">
            <a:avLst/>
          </a:prstGeom>
          <a:noFill/>
        </p:spPr>
        <p:txBody>
          <a:bodyPr wrap="square" lIns="0" tIns="0" rIns="0" bIns="0">
            <a:spAutoFit/>
          </a:bodyPr>
          <a:lstStyle/>
          <a:p>
            <a:pPr algn="ctr"/>
            <a:r>
              <a:rPr sz="2000" b="0" i="0">
                <a:solidFill>
                  <a:srgbClr val="FFFFFF"/>
                </a:solidFill>
                <a:latin typeface="Segoe UI"/>
              </a:rPr>
              <a:t>●</a:t>
            </a:r>
          </a:p>
        </p:txBody>
      </p:sp>
      <p:sp>
        <p:nvSpPr>
          <p:cNvPr id="17" name="TextBox 16"/>
          <p:cNvSpPr txBox="1"/>
          <p:nvPr/>
        </p:nvSpPr>
        <p:spPr>
          <a:xfrm>
            <a:off x="4023359" y="3200400"/>
            <a:ext cx="1005840" cy="548640"/>
          </a:xfrm>
          <a:prstGeom prst="rect">
            <a:avLst/>
          </a:prstGeom>
          <a:noFill/>
        </p:spPr>
        <p:txBody>
          <a:bodyPr wrap="square" lIns="0" tIns="0" rIns="0" bIns="0">
            <a:spAutoFit/>
          </a:bodyPr>
          <a:lstStyle/>
          <a:p>
            <a:pPr algn="ctr"/>
            <a:r>
              <a:rPr sz="900" b="0" i="0">
                <a:solidFill>
                  <a:srgbClr val="0F172A"/>
                </a:solidFill>
                <a:latin typeface="Segoe UI"/>
              </a:rPr>
              <a:t>Delta
(B.1.617.2)</a:t>
            </a:r>
          </a:p>
        </p:txBody>
      </p:sp>
      <p:sp>
        <p:nvSpPr>
          <p:cNvPr id="18" name="TextBox 17"/>
          <p:cNvSpPr txBox="1"/>
          <p:nvPr/>
        </p:nvSpPr>
        <p:spPr>
          <a:xfrm>
            <a:off x="4023359" y="3703320"/>
            <a:ext cx="1005840" cy="274320"/>
          </a:xfrm>
          <a:prstGeom prst="rect">
            <a:avLst/>
          </a:prstGeom>
          <a:noFill/>
        </p:spPr>
        <p:txBody>
          <a:bodyPr wrap="square" lIns="0" tIns="0" rIns="0" bIns="0">
            <a:spAutoFit/>
          </a:bodyPr>
          <a:lstStyle/>
          <a:p>
            <a:pPr algn="ctr"/>
            <a:r>
              <a:rPr sz="800" b="0" i="0">
                <a:solidFill>
                  <a:srgbClr val="64748B"/>
                </a:solidFill>
                <a:latin typeface="Segoe UI"/>
              </a:rPr>
              <a:t>May 2021</a:t>
            </a:r>
          </a:p>
        </p:txBody>
      </p:sp>
      <p:sp>
        <p:nvSpPr>
          <p:cNvPr id="19" name="Oval 18"/>
          <p:cNvSpPr/>
          <p:nvPr/>
        </p:nvSpPr>
        <p:spPr>
          <a:xfrm>
            <a:off x="6080759" y="2514600"/>
            <a:ext cx="640080" cy="64008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79" y="2514600"/>
            <a:ext cx="548640" cy="640080"/>
          </a:xfrm>
          <a:prstGeom prst="rect">
            <a:avLst/>
          </a:prstGeom>
          <a:noFill/>
        </p:spPr>
        <p:txBody>
          <a:bodyPr wrap="square" lIns="0" tIns="0" rIns="0" bIns="0">
            <a:spAutoFit/>
          </a:bodyPr>
          <a:lstStyle/>
          <a:p>
            <a:pPr algn="ctr"/>
            <a:r>
              <a:rPr sz="2000" b="0" i="0">
                <a:solidFill>
                  <a:srgbClr val="FFFFFF"/>
                </a:solidFill>
                <a:latin typeface="Segoe UI"/>
              </a:rPr>
              <a:t>●</a:t>
            </a:r>
          </a:p>
        </p:txBody>
      </p:sp>
      <p:sp>
        <p:nvSpPr>
          <p:cNvPr id="21" name="TextBox 20"/>
          <p:cNvSpPr txBox="1"/>
          <p:nvPr/>
        </p:nvSpPr>
        <p:spPr>
          <a:xfrm>
            <a:off x="5897879" y="3200400"/>
            <a:ext cx="1005840" cy="548640"/>
          </a:xfrm>
          <a:prstGeom prst="rect">
            <a:avLst/>
          </a:prstGeom>
          <a:noFill/>
        </p:spPr>
        <p:txBody>
          <a:bodyPr wrap="square" lIns="0" tIns="0" rIns="0" bIns="0">
            <a:spAutoFit/>
          </a:bodyPr>
          <a:lstStyle/>
          <a:p>
            <a:pPr algn="ctr"/>
            <a:r>
              <a:rPr sz="900" b="0" i="0">
                <a:solidFill>
                  <a:srgbClr val="0F172A"/>
                </a:solidFill>
                <a:latin typeface="Segoe UI"/>
              </a:rPr>
              <a:t>Omicron
(BA.1)</a:t>
            </a:r>
          </a:p>
        </p:txBody>
      </p:sp>
      <p:sp>
        <p:nvSpPr>
          <p:cNvPr id="22" name="TextBox 21"/>
          <p:cNvSpPr txBox="1"/>
          <p:nvPr/>
        </p:nvSpPr>
        <p:spPr>
          <a:xfrm>
            <a:off x="5897879" y="3703320"/>
            <a:ext cx="1005840" cy="274320"/>
          </a:xfrm>
          <a:prstGeom prst="rect">
            <a:avLst/>
          </a:prstGeom>
          <a:noFill/>
        </p:spPr>
        <p:txBody>
          <a:bodyPr wrap="square" lIns="0" tIns="0" rIns="0" bIns="0">
            <a:spAutoFit/>
          </a:bodyPr>
          <a:lstStyle/>
          <a:p>
            <a:pPr algn="ctr"/>
            <a:r>
              <a:rPr sz="800" b="0" i="0">
                <a:solidFill>
                  <a:srgbClr val="64748B"/>
                </a:solidFill>
                <a:latin typeface="Segoe UI"/>
              </a:rPr>
              <a:t>Nov 2021</a:t>
            </a:r>
          </a:p>
        </p:txBody>
      </p:sp>
      <p:sp>
        <p:nvSpPr>
          <p:cNvPr id="23" name="Oval 22"/>
          <p:cNvSpPr/>
          <p:nvPr/>
        </p:nvSpPr>
        <p:spPr>
          <a:xfrm>
            <a:off x="7955279" y="2514600"/>
            <a:ext cx="640080" cy="6400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2514600"/>
            <a:ext cx="548640" cy="640080"/>
          </a:xfrm>
          <a:prstGeom prst="rect">
            <a:avLst/>
          </a:prstGeom>
          <a:noFill/>
        </p:spPr>
        <p:txBody>
          <a:bodyPr wrap="square" lIns="0" tIns="0" rIns="0" bIns="0">
            <a:spAutoFit/>
          </a:bodyPr>
          <a:lstStyle/>
          <a:p>
            <a:pPr algn="ctr"/>
            <a:r>
              <a:rPr sz="2000" b="0" i="0">
                <a:solidFill>
                  <a:srgbClr val="FFFFFF"/>
                </a:solidFill>
                <a:latin typeface="Segoe UI"/>
              </a:rPr>
              <a:t>●</a:t>
            </a:r>
          </a:p>
        </p:txBody>
      </p:sp>
      <p:sp>
        <p:nvSpPr>
          <p:cNvPr id="25" name="TextBox 24"/>
          <p:cNvSpPr txBox="1"/>
          <p:nvPr/>
        </p:nvSpPr>
        <p:spPr>
          <a:xfrm>
            <a:off x="7772400" y="3200400"/>
            <a:ext cx="1005840" cy="548640"/>
          </a:xfrm>
          <a:prstGeom prst="rect">
            <a:avLst/>
          </a:prstGeom>
          <a:noFill/>
        </p:spPr>
        <p:txBody>
          <a:bodyPr wrap="square" lIns="0" tIns="0" rIns="0" bIns="0">
            <a:spAutoFit/>
          </a:bodyPr>
          <a:lstStyle/>
          <a:p>
            <a:pPr algn="ctr"/>
            <a:r>
              <a:rPr sz="900" b="0" i="0">
                <a:solidFill>
                  <a:srgbClr val="0F172A"/>
                </a:solidFill>
                <a:latin typeface="Segoe UI"/>
              </a:rPr>
              <a:t>XBB.1.5</a:t>
            </a:r>
          </a:p>
        </p:txBody>
      </p:sp>
      <p:sp>
        <p:nvSpPr>
          <p:cNvPr id="26" name="TextBox 25"/>
          <p:cNvSpPr txBox="1"/>
          <p:nvPr/>
        </p:nvSpPr>
        <p:spPr>
          <a:xfrm>
            <a:off x="7772400" y="3703320"/>
            <a:ext cx="1005840" cy="274320"/>
          </a:xfrm>
          <a:prstGeom prst="rect">
            <a:avLst/>
          </a:prstGeom>
          <a:noFill/>
        </p:spPr>
        <p:txBody>
          <a:bodyPr wrap="square" lIns="0" tIns="0" rIns="0" bIns="0">
            <a:spAutoFit/>
          </a:bodyPr>
          <a:lstStyle/>
          <a:p>
            <a:pPr algn="ctr"/>
            <a:r>
              <a:rPr sz="800" b="0" i="0">
                <a:solidFill>
                  <a:srgbClr val="64748B"/>
                </a:solidFill>
                <a:latin typeface="Segoe UI"/>
              </a:rPr>
              <a:t>Aug 2023</a:t>
            </a:r>
          </a:p>
        </p:txBody>
      </p:sp>
      <p:sp>
        <p:nvSpPr>
          <p:cNvPr id="27" name="Oval 26"/>
          <p:cNvSpPr/>
          <p:nvPr/>
        </p:nvSpPr>
        <p:spPr>
          <a:xfrm>
            <a:off x="9829800" y="2514600"/>
            <a:ext cx="640080" cy="64008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20" y="2514600"/>
            <a:ext cx="548640" cy="640080"/>
          </a:xfrm>
          <a:prstGeom prst="rect">
            <a:avLst/>
          </a:prstGeom>
          <a:noFill/>
        </p:spPr>
        <p:txBody>
          <a:bodyPr wrap="square" lIns="0" tIns="0" rIns="0" bIns="0">
            <a:spAutoFit/>
          </a:bodyPr>
          <a:lstStyle/>
          <a:p>
            <a:pPr algn="ctr"/>
            <a:r>
              <a:rPr sz="2000" b="0" i="0">
                <a:solidFill>
                  <a:srgbClr val="FFFFFF"/>
                </a:solidFill>
                <a:latin typeface="Segoe UI"/>
              </a:rPr>
              <a:t>●</a:t>
            </a:r>
          </a:p>
        </p:txBody>
      </p:sp>
      <p:sp>
        <p:nvSpPr>
          <p:cNvPr id="29" name="TextBox 28"/>
          <p:cNvSpPr txBox="1"/>
          <p:nvPr/>
        </p:nvSpPr>
        <p:spPr>
          <a:xfrm>
            <a:off x="9646920" y="3200400"/>
            <a:ext cx="1005840" cy="548640"/>
          </a:xfrm>
          <a:prstGeom prst="rect">
            <a:avLst/>
          </a:prstGeom>
          <a:noFill/>
        </p:spPr>
        <p:txBody>
          <a:bodyPr wrap="square" lIns="0" tIns="0" rIns="0" bIns="0">
            <a:spAutoFit/>
          </a:bodyPr>
          <a:lstStyle/>
          <a:p>
            <a:pPr algn="ctr"/>
            <a:r>
              <a:rPr sz="900" b="0" i="0">
                <a:solidFill>
                  <a:srgbClr val="0F172A"/>
                </a:solidFill>
                <a:latin typeface="Segoe UI"/>
              </a:rPr>
              <a:t>JN.1
KP.3 XEC</a:t>
            </a:r>
          </a:p>
        </p:txBody>
      </p:sp>
      <p:sp>
        <p:nvSpPr>
          <p:cNvPr id="30" name="TextBox 29"/>
          <p:cNvSpPr txBox="1"/>
          <p:nvPr/>
        </p:nvSpPr>
        <p:spPr>
          <a:xfrm>
            <a:off x="9646920" y="3703320"/>
            <a:ext cx="1005840" cy="274320"/>
          </a:xfrm>
          <a:prstGeom prst="rect">
            <a:avLst/>
          </a:prstGeom>
          <a:noFill/>
        </p:spPr>
        <p:txBody>
          <a:bodyPr wrap="square" lIns="0" tIns="0" rIns="0" bIns="0">
            <a:spAutoFit/>
          </a:bodyPr>
          <a:lstStyle/>
          <a:p>
            <a:pPr algn="ctr"/>
            <a:r>
              <a:rPr sz="800" b="0" i="0">
                <a:solidFill>
                  <a:srgbClr val="64748B"/>
                </a:solidFill>
                <a:latin typeface="Segoe UI"/>
              </a:rPr>
              <a:t>Jan 2024</a:t>
            </a:r>
          </a:p>
        </p:txBody>
      </p:sp>
      <p:sp>
        <p:nvSpPr>
          <p:cNvPr id="31" name="Rectangle 30"/>
          <p:cNvSpPr/>
          <p:nvPr/>
        </p:nvSpPr>
        <p:spPr>
          <a:xfrm>
            <a:off x="1097280" y="2807208"/>
            <a:ext cx="1234439" cy="54864"/>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71800" y="2807208"/>
            <a:ext cx="1234439" cy="54864"/>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46320" y="2807208"/>
            <a:ext cx="1234439" cy="54864"/>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720840" y="2807208"/>
            <a:ext cx="1234439" cy="54864"/>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95359" y="2807208"/>
            <a:ext cx="1234439" cy="54864"/>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65760" y="4114800"/>
            <a:ext cx="3566160" cy="1508760"/>
          </a:xfrm>
          <a:prstGeom prst="roundRect">
            <a:avLst/>
          </a:prstGeom>
          <a:solidFill>
            <a:srgbClr val="EEF2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160520"/>
            <a:ext cx="548640" cy="548640"/>
          </a:xfrm>
          <a:prstGeom prst="rect">
            <a:avLst/>
          </a:prstGeom>
          <a:noFill/>
        </p:spPr>
        <p:txBody>
          <a:bodyPr wrap="square" lIns="0" tIns="0" rIns="0" bIns="0">
            <a:spAutoFit/>
          </a:bodyPr>
          <a:lstStyle/>
          <a:p>
            <a:pPr algn="l"/>
            <a:r>
              <a:rPr sz="2200" b="0" i="0">
                <a:solidFill>
                  <a:srgbClr val="F59E0B"/>
                </a:solidFill>
                <a:latin typeface="Segoe UI"/>
              </a:rPr>
              <a:t>💉</a:t>
            </a:r>
          </a:p>
        </p:txBody>
      </p:sp>
      <p:sp>
        <p:nvSpPr>
          <p:cNvPr id="38" name="TextBox 37"/>
          <p:cNvSpPr txBox="1"/>
          <p:nvPr/>
        </p:nvSpPr>
        <p:spPr>
          <a:xfrm>
            <a:off x="1051560" y="4206240"/>
            <a:ext cx="2651760" cy="365760"/>
          </a:xfrm>
          <a:prstGeom prst="rect">
            <a:avLst/>
          </a:prstGeom>
          <a:noFill/>
        </p:spPr>
        <p:txBody>
          <a:bodyPr wrap="square" lIns="0" tIns="0" rIns="0" bIns="0">
            <a:spAutoFit/>
          </a:bodyPr>
          <a:lstStyle/>
          <a:p>
            <a:pPr algn="l"/>
            <a:r>
              <a:rPr sz="1200" b="1" i="0">
                <a:solidFill>
                  <a:srgbClr val="F59E0B"/>
                </a:solidFill>
                <a:latin typeface="Segoe UI"/>
              </a:rPr>
              <a:t>Vaccines Weaken</a:t>
            </a:r>
          </a:p>
        </p:txBody>
      </p:sp>
      <p:sp>
        <p:nvSpPr>
          <p:cNvPr id="39" name="TextBox 38"/>
          <p:cNvSpPr txBox="1"/>
          <p:nvPr/>
        </p:nvSpPr>
        <p:spPr>
          <a:xfrm>
            <a:off x="502920" y="4617720"/>
            <a:ext cx="3291840" cy="868680"/>
          </a:xfrm>
          <a:prstGeom prst="rect">
            <a:avLst/>
          </a:prstGeom>
          <a:noFill/>
        </p:spPr>
        <p:txBody>
          <a:bodyPr wrap="square" lIns="0" tIns="0" rIns="0" bIns="0">
            <a:spAutoFit/>
          </a:bodyPr>
          <a:lstStyle/>
          <a:p>
            <a:pPr algn="l"/>
            <a:r>
              <a:rPr sz="1000" b="0" i="0">
                <a:solidFill>
                  <a:srgbClr val="0F172A"/>
                </a:solidFill>
                <a:latin typeface="Segoe UI"/>
              </a:rPr>
              <a:t>Antibodies from vaccines or past infections can no longer block the virus as effectively</a:t>
            </a:r>
          </a:p>
        </p:txBody>
      </p:sp>
      <p:sp>
        <p:nvSpPr>
          <p:cNvPr id="40" name="Rounded Rectangle 39"/>
          <p:cNvSpPr/>
          <p:nvPr/>
        </p:nvSpPr>
        <p:spPr>
          <a:xfrm>
            <a:off x="4206240" y="4114800"/>
            <a:ext cx="3566160" cy="1508760"/>
          </a:xfrm>
          <a:prstGeom prst="roundRect">
            <a:avLst/>
          </a:prstGeom>
          <a:solidFill>
            <a:srgbClr val="EEF2FF"/>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4160520"/>
            <a:ext cx="548640" cy="548640"/>
          </a:xfrm>
          <a:prstGeom prst="rect">
            <a:avLst/>
          </a:prstGeom>
          <a:noFill/>
        </p:spPr>
        <p:txBody>
          <a:bodyPr wrap="square" lIns="0" tIns="0" rIns="0" bIns="0">
            <a:spAutoFit/>
          </a:bodyPr>
          <a:lstStyle/>
          <a:p>
            <a:pPr algn="l"/>
            <a:r>
              <a:rPr sz="2200" b="0" i="0">
                <a:solidFill>
                  <a:srgbClr val="F43F5E"/>
                </a:solidFill>
                <a:latin typeface="Segoe UI"/>
              </a:rPr>
              <a:t>🏥</a:t>
            </a:r>
          </a:p>
        </p:txBody>
      </p:sp>
      <p:sp>
        <p:nvSpPr>
          <p:cNvPr id="42" name="TextBox 41"/>
          <p:cNvSpPr txBox="1"/>
          <p:nvPr/>
        </p:nvSpPr>
        <p:spPr>
          <a:xfrm>
            <a:off x="4892040" y="4206240"/>
            <a:ext cx="2651760" cy="365760"/>
          </a:xfrm>
          <a:prstGeom prst="rect">
            <a:avLst/>
          </a:prstGeom>
          <a:noFill/>
        </p:spPr>
        <p:txBody>
          <a:bodyPr wrap="square" lIns="0" tIns="0" rIns="0" bIns="0">
            <a:spAutoFit/>
          </a:bodyPr>
          <a:lstStyle/>
          <a:p>
            <a:pPr algn="l"/>
            <a:r>
              <a:rPr sz="1200" b="1" i="0">
                <a:solidFill>
                  <a:srgbClr val="F43F5E"/>
                </a:solidFill>
                <a:latin typeface="Segoe UI"/>
              </a:rPr>
              <a:t>Treatments Fail</a:t>
            </a:r>
          </a:p>
        </p:txBody>
      </p:sp>
      <p:sp>
        <p:nvSpPr>
          <p:cNvPr id="43" name="TextBox 42"/>
          <p:cNvSpPr txBox="1"/>
          <p:nvPr/>
        </p:nvSpPr>
        <p:spPr>
          <a:xfrm>
            <a:off x="4343400" y="4617720"/>
            <a:ext cx="3291840" cy="868680"/>
          </a:xfrm>
          <a:prstGeom prst="rect">
            <a:avLst/>
          </a:prstGeom>
          <a:noFill/>
        </p:spPr>
        <p:txBody>
          <a:bodyPr wrap="square" lIns="0" tIns="0" rIns="0" bIns="0">
            <a:spAutoFit/>
          </a:bodyPr>
          <a:lstStyle/>
          <a:p>
            <a:pPr algn="l"/>
            <a:r>
              <a:rPr sz="1000" b="0" i="0">
                <a:solidFill>
                  <a:srgbClr val="0F172A"/>
                </a:solidFill>
                <a:latin typeface="Segoe UI"/>
              </a:rPr>
              <a:t>Monoclonal antibody drugs (like Sotrovimab) stop working against new variants</a:t>
            </a:r>
          </a:p>
        </p:txBody>
      </p:sp>
      <p:sp>
        <p:nvSpPr>
          <p:cNvPr id="44" name="Rounded Rectangle 43"/>
          <p:cNvSpPr/>
          <p:nvPr/>
        </p:nvSpPr>
        <p:spPr>
          <a:xfrm>
            <a:off x="8046720" y="4114800"/>
            <a:ext cx="3566160" cy="150876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83880" y="4160520"/>
            <a:ext cx="548640" cy="548640"/>
          </a:xfrm>
          <a:prstGeom prst="rect">
            <a:avLst/>
          </a:prstGeom>
          <a:noFill/>
        </p:spPr>
        <p:txBody>
          <a:bodyPr wrap="square" lIns="0" tIns="0" rIns="0" bIns="0">
            <a:spAutoFit/>
          </a:bodyPr>
          <a:lstStyle/>
          <a:p>
            <a:pPr algn="l"/>
            <a:r>
              <a:rPr sz="2200" b="0" i="0">
                <a:solidFill>
                  <a:srgbClr val="4F46E5"/>
                </a:solidFill>
                <a:latin typeface="Segoe UI"/>
              </a:rPr>
              <a:t>🔬</a:t>
            </a:r>
          </a:p>
        </p:txBody>
      </p:sp>
      <p:sp>
        <p:nvSpPr>
          <p:cNvPr id="46" name="TextBox 45"/>
          <p:cNvSpPr txBox="1"/>
          <p:nvPr/>
        </p:nvSpPr>
        <p:spPr>
          <a:xfrm>
            <a:off x="8732520" y="4206240"/>
            <a:ext cx="2651760" cy="365760"/>
          </a:xfrm>
          <a:prstGeom prst="rect">
            <a:avLst/>
          </a:prstGeom>
          <a:noFill/>
        </p:spPr>
        <p:txBody>
          <a:bodyPr wrap="square" lIns="0" tIns="0" rIns="0" bIns="0">
            <a:spAutoFit/>
          </a:bodyPr>
          <a:lstStyle/>
          <a:p>
            <a:pPr algn="l"/>
            <a:r>
              <a:rPr sz="1200" b="1" i="0">
                <a:solidFill>
                  <a:srgbClr val="4F46E5"/>
                </a:solidFill>
                <a:latin typeface="Segoe UI"/>
              </a:rPr>
              <a:t>We React Too Late</a:t>
            </a:r>
          </a:p>
        </p:txBody>
      </p:sp>
      <p:sp>
        <p:nvSpPr>
          <p:cNvPr id="47" name="TextBox 46"/>
          <p:cNvSpPr txBox="1"/>
          <p:nvPr/>
        </p:nvSpPr>
        <p:spPr>
          <a:xfrm>
            <a:off x="8183880" y="4617720"/>
            <a:ext cx="3291840" cy="868680"/>
          </a:xfrm>
          <a:prstGeom prst="rect">
            <a:avLst/>
          </a:prstGeom>
          <a:noFill/>
        </p:spPr>
        <p:txBody>
          <a:bodyPr wrap="square" lIns="0" tIns="0" rIns="0" bIns="0">
            <a:spAutoFit/>
          </a:bodyPr>
          <a:lstStyle/>
          <a:p>
            <a:pPr algn="l"/>
            <a:r>
              <a:rPr sz="1000" b="0" i="0">
                <a:solidFill>
                  <a:srgbClr val="0F172A"/>
                </a:solidFill>
                <a:latin typeface="Segoe UI"/>
              </a:rPr>
              <a:t>By the time scientists notice, the variant has already spread to millions of people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The Spike Protein: The Virus's Master Key</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Understanding SARS-CoV-2's most important component</a:t>
            </a:r>
          </a:p>
        </p:txBody>
      </p:sp>
      <p:sp>
        <p:nvSpPr>
          <p:cNvPr id="5" name="TextBox 4"/>
          <p:cNvSpPr txBox="1"/>
          <p:nvPr/>
        </p:nvSpPr>
        <p:spPr>
          <a:xfrm>
            <a:off x="457200" y="1280160"/>
            <a:ext cx="11247120" cy="822960"/>
          </a:xfrm>
          <a:prstGeom prst="rect">
            <a:avLst/>
          </a:prstGeom>
          <a:noFill/>
        </p:spPr>
        <p:txBody>
          <a:bodyPr wrap="square" lIns="0" tIns="0" rIns="0" bIns="0">
            <a:spAutoFit/>
          </a:bodyPr>
          <a:lstStyle/>
          <a:p>
            <a:pPr algn="l"/>
            <a:r>
              <a:rPr sz="1300" b="0" i="0">
                <a:solidFill>
                  <a:srgbClr val="0F172A"/>
                </a:solidFill>
                <a:latin typeface="Segoe UI"/>
              </a:rPr>
              <a:t>The SARS-CoV-2 virus is like a ball covered in 'keys' (called the Spike protein). These keys bind to 'locks' on human cells (ACE2 receptor) to get inside. Our immune system works by making 'key blockers' (antibodies) that grab the key and stop the virus.</a:t>
            </a:r>
          </a:p>
        </p:txBody>
      </p:sp>
      <p:sp>
        <p:nvSpPr>
          <p:cNvPr id="6" name="TextBox 5"/>
          <p:cNvSpPr txBox="1"/>
          <p:nvPr/>
        </p:nvSpPr>
        <p:spPr>
          <a:xfrm>
            <a:off x="457200" y="2103120"/>
            <a:ext cx="1828800" cy="1828800"/>
          </a:xfrm>
          <a:prstGeom prst="rect">
            <a:avLst/>
          </a:prstGeom>
          <a:noFill/>
        </p:spPr>
        <p:txBody>
          <a:bodyPr wrap="square" lIns="0" tIns="0" rIns="0" bIns="0">
            <a:spAutoFit/>
          </a:bodyPr>
          <a:lstStyle/>
          <a:p>
            <a:pPr algn="ctr"/>
            <a:r>
              <a:rPr sz="6000" b="0" i="0">
                <a:solidFill>
                  <a:srgbClr val="0F172A"/>
                </a:solidFill>
                <a:latin typeface="Segoe UI"/>
              </a:rPr>
              <a:t>🦠</a:t>
            </a:r>
          </a:p>
        </p:txBody>
      </p:sp>
      <p:sp>
        <p:nvSpPr>
          <p:cNvPr id="7" name="TextBox 6"/>
          <p:cNvSpPr txBox="1"/>
          <p:nvPr/>
        </p:nvSpPr>
        <p:spPr>
          <a:xfrm>
            <a:off x="457200" y="3931920"/>
            <a:ext cx="1828800" cy="457200"/>
          </a:xfrm>
          <a:prstGeom prst="rect">
            <a:avLst/>
          </a:prstGeom>
          <a:noFill/>
        </p:spPr>
        <p:txBody>
          <a:bodyPr wrap="square" lIns="0" tIns="0" rIns="0" bIns="0">
            <a:spAutoFit/>
          </a:bodyPr>
          <a:lstStyle/>
          <a:p>
            <a:pPr algn="ctr"/>
            <a:r>
              <a:rPr sz="1000" b="1" i="0">
                <a:solidFill>
                  <a:srgbClr val="64748B"/>
                </a:solidFill>
                <a:latin typeface="Segoe UI"/>
              </a:rPr>
              <a:t>SARS-CoV-2
Virus</a:t>
            </a:r>
          </a:p>
        </p:txBody>
      </p:sp>
      <p:sp>
        <p:nvSpPr>
          <p:cNvPr id="8" name="TextBox 7"/>
          <p:cNvSpPr txBox="1"/>
          <p:nvPr/>
        </p:nvSpPr>
        <p:spPr>
          <a:xfrm>
            <a:off x="2194560" y="2834640"/>
            <a:ext cx="548640" cy="365760"/>
          </a:xfrm>
          <a:prstGeom prst="rect">
            <a:avLst/>
          </a:prstGeom>
          <a:noFill/>
        </p:spPr>
        <p:txBody>
          <a:bodyPr wrap="square" lIns="0" tIns="0" rIns="0" bIns="0">
            <a:spAutoFit/>
          </a:bodyPr>
          <a:lstStyle/>
          <a:p>
            <a:pPr algn="ctr"/>
            <a:r>
              <a:rPr sz="2200" b="0" i="0">
                <a:solidFill>
                  <a:srgbClr val="4F46E5"/>
                </a:solidFill>
                <a:latin typeface="Segoe UI"/>
              </a:rPr>
              <a:t>→</a:t>
            </a:r>
          </a:p>
        </p:txBody>
      </p:sp>
      <p:sp>
        <p:nvSpPr>
          <p:cNvPr id="9" name="Rounded Rectangle 8"/>
          <p:cNvSpPr/>
          <p:nvPr/>
        </p:nvSpPr>
        <p:spPr>
          <a:xfrm>
            <a:off x="2834640" y="2011680"/>
            <a:ext cx="1691640" cy="2926080"/>
          </a:xfrm>
          <a:prstGeom prst="roundRect">
            <a:avLst/>
          </a:prstGeom>
          <a:solidFill>
            <a:srgbClr val="EEF2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71800" y="2103120"/>
            <a:ext cx="1417320" cy="36576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2103120"/>
            <a:ext cx="1417320" cy="365760"/>
          </a:xfrm>
          <a:prstGeom prst="rect">
            <a:avLst/>
          </a:prstGeom>
          <a:noFill/>
        </p:spPr>
        <p:txBody>
          <a:bodyPr wrap="square" lIns="0" tIns="0" rIns="0" bIns="0">
            <a:spAutoFit/>
          </a:bodyPr>
          <a:lstStyle/>
          <a:p>
            <a:pPr algn="ctr"/>
            <a:r>
              <a:rPr sz="1300" b="1" i="0">
                <a:solidFill>
                  <a:srgbClr val="FFFFFF"/>
                </a:solidFill>
                <a:latin typeface="Segoe UI"/>
              </a:rPr>
              <a:t>NTD</a:t>
            </a:r>
          </a:p>
        </p:txBody>
      </p:sp>
      <p:sp>
        <p:nvSpPr>
          <p:cNvPr id="12" name="TextBox 11"/>
          <p:cNvSpPr txBox="1"/>
          <p:nvPr/>
        </p:nvSpPr>
        <p:spPr>
          <a:xfrm>
            <a:off x="2926080" y="2514600"/>
            <a:ext cx="1554480" cy="2286000"/>
          </a:xfrm>
          <a:prstGeom prst="rect">
            <a:avLst/>
          </a:prstGeom>
          <a:noFill/>
        </p:spPr>
        <p:txBody>
          <a:bodyPr wrap="square" lIns="0" tIns="0" rIns="0" bIns="0">
            <a:spAutoFit/>
          </a:bodyPr>
          <a:lstStyle/>
          <a:p>
            <a:pPr algn="l"/>
            <a:r>
              <a:rPr sz="850" b="0" i="0">
                <a:solidFill>
                  <a:srgbClr val="0F172A"/>
                </a:solidFill>
                <a:latin typeface="Segoe UI"/>
              </a:rPr>
              <a:t>N-Terminal Domain
Residues 14–305
The first part of the Spike. Some antibodies target this 'supersite'. Site 142 is a known hotspot here.</a:t>
            </a:r>
          </a:p>
        </p:txBody>
      </p:sp>
      <p:sp>
        <p:nvSpPr>
          <p:cNvPr id="13" name="Rounded Rectangle 12"/>
          <p:cNvSpPr/>
          <p:nvPr/>
        </p:nvSpPr>
        <p:spPr>
          <a:xfrm>
            <a:off x="4663440" y="2011680"/>
            <a:ext cx="1691640" cy="292608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00600" y="2103120"/>
            <a:ext cx="1417320" cy="36576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2103120"/>
            <a:ext cx="1417320" cy="365760"/>
          </a:xfrm>
          <a:prstGeom prst="rect">
            <a:avLst/>
          </a:prstGeom>
          <a:noFill/>
        </p:spPr>
        <p:txBody>
          <a:bodyPr wrap="square" lIns="0" tIns="0" rIns="0" bIns="0">
            <a:spAutoFit/>
          </a:bodyPr>
          <a:lstStyle/>
          <a:p>
            <a:pPr algn="ctr"/>
            <a:r>
              <a:rPr sz="1300" b="1" i="0">
                <a:solidFill>
                  <a:srgbClr val="FFFFFF"/>
                </a:solidFill>
                <a:latin typeface="Segoe UI"/>
              </a:rPr>
              <a:t>RBD</a:t>
            </a:r>
          </a:p>
        </p:txBody>
      </p:sp>
      <p:sp>
        <p:nvSpPr>
          <p:cNvPr id="16" name="TextBox 15"/>
          <p:cNvSpPr txBox="1"/>
          <p:nvPr/>
        </p:nvSpPr>
        <p:spPr>
          <a:xfrm>
            <a:off x="4754879" y="2514600"/>
            <a:ext cx="1554480" cy="2286000"/>
          </a:xfrm>
          <a:prstGeom prst="rect">
            <a:avLst/>
          </a:prstGeom>
          <a:noFill/>
        </p:spPr>
        <p:txBody>
          <a:bodyPr wrap="square" lIns="0" tIns="0" rIns="0" bIns="0">
            <a:spAutoFit/>
          </a:bodyPr>
          <a:lstStyle/>
          <a:p>
            <a:pPr algn="l"/>
            <a:r>
              <a:rPr sz="850" b="0" i="0">
                <a:solidFill>
                  <a:srgbClr val="0F172A"/>
                </a:solidFill>
                <a:latin typeface="Segoe UI"/>
              </a:rPr>
              <a:t>Receptor Binding Domain
Residues 319–541
★ Most important region ★
Directly touches human ACE2 receptor. MOST antibodies target here. Sites 484, 456, 452, 501 are all in RBD.</a:t>
            </a:r>
          </a:p>
        </p:txBody>
      </p:sp>
      <p:sp>
        <p:nvSpPr>
          <p:cNvPr id="17" name="Rounded Rectangle 16"/>
          <p:cNvSpPr/>
          <p:nvPr/>
        </p:nvSpPr>
        <p:spPr>
          <a:xfrm>
            <a:off x="6492240" y="2011680"/>
            <a:ext cx="1691640" cy="2926080"/>
          </a:xfrm>
          <a:prstGeom prst="roundRect">
            <a:avLst/>
          </a:prstGeom>
          <a:solidFill>
            <a:srgbClr val="EEF2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629400" y="2103120"/>
            <a:ext cx="1417320" cy="3657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2103120"/>
            <a:ext cx="1417320" cy="365760"/>
          </a:xfrm>
          <a:prstGeom prst="rect">
            <a:avLst/>
          </a:prstGeom>
          <a:noFill/>
        </p:spPr>
        <p:txBody>
          <a:bodyPr wrap="square" lIns="0" tIns="0" rIns="0" bIns="0">
            <a:spAutoFit/>
          </a:bodyPr>
          <a:lstStyle/>
          <a:p>
            <a:pPr algn="ctr"/>
            <a:r>
              <a:rPr sz="1300" b="1" i="0">
                <a:solidFill>
                  <a:srgbClr val="FFFFFF"/>
                </a:solidFill>
                <a:latin typeface="Segoe UI"/>
              </a:rPr>
              <a:t>RBM</a:t>
            </a:r>
          </a:p>
        </p:txBody>
      </p:sp>
      <p:sp>
        <p:nvSpPr>
          <p:cNvPr id="20" name="TextBox 19"/>
          <p:cNvSpPr txBox="1"/>
          <p:nvPr/>
        </p:nvSpPr>
        <p:spPr>
          <a:xfrm>
            <a:off x="6583679" y="2514600"/>
            <a:ext cx="1554480" cy="2286000"/>
          </a:xfrm>
          <a:prstGeom prst="rect">
            <a:avLst/>
          </a:prstGeom>
          <a:noFill/>
        </p:spPr>
        <p:txBody>
          <a:bodyPr wrap="square" lIns="0" tIns="0" rIns="0" bIns="0">
            <a:spAutoFit/>
          </a:bodyPr>
          <a:lstStyle/>
          <a:p>
            <a:pPr algn="l"/>
            <a:r>
              <a:rPr sz="850" b="0" i="0">
                <a:solidFill>
                  <a:srgbClr val="0F172A"/>
                </a:solidFill>
                <a:latin typeface="Segoe UI"/>
              </a:rPr>
              <a:t>Receptor Binding Motif
Residues 437–508
Subset of RBD that directly contacts ACE2. The 'fingerprint' the virus uses to grab human cells.</a:t>
            </a:r>
          </a:p>
        </p:txBody>
      </p:sp>
      <p:sp>
        <p:nvSpPr>
          <p:cNvPr id="21" name="Rounded Rectangle 20"/>
          <p:cNvSpPr/>
          <p:nvPr/>
        </p:nvSpPr>
        <p:spPr>
          <a:xfrm>
            <a:off x="8321040" y="2011680"/>
            <a:ext cx="1691640" cy="2926080"/>
          </a:xfrm>
          <a:prstGeom prst="roundRect">
            <a:avLst/>
          </a:prstGeom>
          <a:solidFill>
            <a:srgbClr val="EEF2FF"/>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58200" y="2103120"/>
            <a:ext cx="1417320" cy="36576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200" y="2103120"/>
            <a:ext cx="1417320" cy="365760"/>
          </a:xfrm>
          <a:prstGeom prst="rect">
            <a:avLst/>
          </a:prstGeom>
          <a:noFill/>
        </p:spPr>
        <p:txBody>
          <a:bodyPr wrap="square" lIns="0" tIns="0" rIns="0" bIns="0">
            <a:spAutoFit/>
          </a:bodyPr>
          <a:lstStyle/>
          <a:p>
            <a:pPr algn="ctr"/>
            <a:r>
              <a:rPr sz="1300" b="1" i="0">
                <a:solidFill>
                  <a:srgbClr val="FFFFFF"/>
                </a:solidFill>
                <a:latin typeface="Segoe UI"/>
              </a:rPr>
              <a:t>Furin</a:t>
            </a:r>
          </a:p>
        </p:txBody>
      </p:sp>
      <p:sp>
        <p:nvSpPr>
          <p:cNvPr id="24" name="TextBox 23"/>
          <p:cNvSpPr txBox="1"/>
          <p:nvPr/>
        </p:nvSpPr>
        <p:spPr>
          <a:xfrm>
            <a:off x="8412480" y="2514600"/>
            <a:ext cx="1554480" cy="2286000"/>
          </a:xfrm>
          <a:prstGeom prst="rect">
            <a:avLst/>
          </a:prstGeom>
          <a:noFill/>
        </p:spPr>
        <p:txBody>
          <a:bodyPr wrap="square" lIns="0" tIns="0" rIns="0" bIns="0">
            <a:spAutoFit/>
          </a:bodyPr>
          <a:lstStyle/>
          <a:p>
            <a:pPr algn="l"/>
            <a:r>
              <a:rPr sz="850" b="0" i="0">
                <a:solidFill>
                  <a:srgbClr val="0F172A"/>
                </a:solidFill>
                <a:latin typeface="Segoe UI"/>
              </a:rPr>
              <a:t>Furin Cleavage Site
Residues 681–685
Activates the Spike for cell entry. P681R (Delta) and P681H (Omicron) mutations here increased transmissibility dramatically.</a:t>
            </a:r>
          </a:p>
        </p:txBody>
      </p:sp>
      <p:sp>
        <p:nvSpPr>
          <p:cNvPr id="25" name="Rounded Rectangle 24"/>
          <p:cNvSpPr/>
          <p:nvPr/>
        </p:nvSpPr>
        <p:spPr>
          <a:xfrm>
            <a:off x="10149840" y="2011680"/>
            <a:ext cx="1691640" cy="2926080"/>
          </a:xfrm>
          <a:prstGeom prst="roundRect">
            <a:avLst/>
          </a:prstGeom>
          <a:solidFill>
            <a:srgbClr val="EEF2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287000" y="2103120"/>
            <a:ext cx="1417320" cy="3657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87000" y="2103120"/>
            <a:ext cx="1417320" cy="365760"/>
          </a:xfrm>
          <a:prstGeom prst="rect">
            <a:avLst/>
          </a:prstGeom>
          <a:noFill/>
        </p:spPr>
        <p:txBody>
          <a:bodyPr wrap="square" lIns="0" tIns="0" rIns="0" bIns="0">
            <a:spAutoFit/>
          </a:bodyPr>
          <a:lstStyle/>
          <a:p>
            <a:pPr algn="ctr"/>
            <a:r>
              <a:rPr sz="1300" b="1" i="0">
                <a:solidFill>
                  <a:srgbClr val="FFFFFF"/>
                </a:solidFill>
                <a:latin typeface="Segoe UI"/>
              </a:rPr>
              <a:t>S2</a:t>
            </a:r>
          </a:p>
        </p:txBody>
      </p:sp>
      <p:sp>
        <p:nvSpPr>
          <p:cNvPr id="28" name="TextBox 27"/>
          <p:cNvSpPr txBox="1"/>
          <p:nvPr/>
        </p:nvSpPr>
        <p:spPr>
          <a:xfrm>
            <a:off x="10241280" y="2514600"/>
            <a:ext cx="1554480" cy="2286000"/>
          </a:xfrm>
          <a:prstGeom prst="rect">
            <a:avLst/>
          </a:prstGeom>
          <a:noFill/>
        </p:spPr>
        <p:txBody>
          <a:bodyPr wrap="square" lIns="0" tIns="0" rIns="0" bIns="0">
            <a:spAutoFit/>
          </a:bodyPr>
          <a:lstStyle/>
          <a:p>
            <a:pPr algn="l"/>
            <a:r>
              <a:rPr sz="850" b="0" i="0">
                <a:solidFill>
                  <a:srgbClr val="0F172A"/>
                </a:solidFill>
                <a:latin typeface="Segoe UI"/>
              </a:rPr>
              <a:t>S2 Core Domain
Residues 686–1213
Drives membrane fusion to inject the virus into the cell. Highly conserved — rarely mutates because it's essential for survival.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What Is Immune Escape?</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How a single mutation can defeat months of immunity</a:t>
            </a:r>
          </a:p>
        </p:txBody>
      </p:sp>
      <p:sp>
        <p:nvSpPr>
          <p:cNvPr id="5" name="TextBox 4"/>
          <p:cNvSpPr txBox="1"/>
          <p:nvPr/>
        </p:nvSpPr>
        <p:spPr>
          <a:xfrm>
            <a:off x="457200" y="1280160"/>
            <a:ext cx="11247120" cy="685800"/>
          </a:xfrm>
          <a:prstGeom prst="rect">
            <a:avLst/>
          </a:prstGeom>
          <a:noFill/>
        </p:spPr>
        <p:txBody>
          <a:bodyPr wrap="square" lIns="0" tIns="0" rIns="0" bIns="0">
            <a:spAutoFit/>
          </a:bodyPr>
          <a:lstStyle/>
          <a:p>
            <a:pPr algn="l"/>
            <a:r>
              <a:rPr sz="1300" b="0" i="0">
                <a:solidFill>
                  <a:srgbClr val="0F172A"/>
                </a:solidFill>
                <a:latin typeface="Segoe UI"/>
              </a:rPr>
              <a:t>Immune escape happens when the virus mutates its Spike protein in a way that stops antibodies from recognizing and blocking it. Think of it as the virus changing the shape of its key so that your antibody 'key blocker' no longer fits.</a:t>
            </a:r>
          </a:p>
        </p:txBody>
      </p:sp>
      <p:sp>
        <p:nvSpPr>
          <p:cNvPr id="6" name="TextBox 5"/>
          <p:cNvSpPr txBox="1"/>
          <p:nvPr/>
        </p:nvSpPr>
        <p:spPr>
          <a:xfrm>
            <a:off x="548640" y="2103120"/>
            <a:ext cx="3474720" cy="365760"/>
          </a:xfrm>
          <a:prstGeom prst="rect">
            <a:avLst/>
          </a:prstGeom>
          <a:noFill/>
        </p:spPr>
        <p:txBody>
          <a:bodyPr wrap="square" lIns="0" tIns="0" rIns="0" bIns="0">
            <a:spAutoFit/>
          </a:bodyPr>
          <a:lstStyle/>
          <a:p>
            <a:pPr algn="ctr"/>
            <a:r>
              <a:rPr sz="1300" b="1" i="0">
                <a:solidFill>
                  <a:srgbClr val="10B981"/>
                </a:solidFill>
                <a:latin typeface="Segoe UI"/>
              </a:rPr>
              <a:t>BEFORE MUTATION</a:t>
            </a:r>
          </a:p>
        </p:txBody>
      </p:sp>
      <p:sp>
        <p:nvSpPr>
          <p:cNvPr id="7" name="Rounded Rectangle 6"/>
          <p:cNvSpPr/>
          <p:nvPr/>
        </p:nvSpPr>
        <p:spPr>
          <a:xfrm>
            <a:off x="365760" y="2514600"/>
            <a:ext cx="3840480" cy="2286000"/>
          </a:xfrm>
          <a:prstGeom prst="roundRect">
            <a:avLst/>
          </a:prstGeom>
          <a:solidFill>
            <a:srgbClr val="F0FDF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697480"/>
            <a:ext cx="3291840" cy="411480"/>
          </a:xfrm>
          <a:prstGeom prst="rect">
            <a:avLst/>
          </a:prstGeom>
          <a:noFill/>
        </p:spPr>
        <p:txBody>
          <a:bodyPr wrap="square" lIns="0" tIns="0" rIns="0" bIns="0">
            <a:spAutoFit/>
          </a:bodyPr>
          <a:lstStyle/>
          <a:p>
            <a:pPr algn="l"/>
            <a:r>
              <a:rPr sz="1400" b="1" i="0">
                <a:solidFill>
                  <a:srgbClr val="0F172A"/>
                </a:solidFill>
                <a:latin typeface="Segoe UI"/>
              </a:rPr>
              <a:t>🔑  Spike (E484)</a:t>
            </a:r>
          </a:p>
        </p:txBody>
      </p:sp>
      <p:sp>
        <p:nvSpPr>
          <p:cNvPr id="9" name="TextBox 8"/>
          <p:cNvSpPr txBox="1"/>
          <p:nvPr/>
        </p:nvSpPr>
        <p:spPr>
          <a:xfrm>
            <a:off x="640080" y="3108960"/>
            <a:ext cx="3291840" cy="365760"/>
          </a:xfrm>
          <a:prstGeom prst="rect">
            <a:avLst/>
          </a:prstGeom>
          <a:noFill/>
        </p:spPr>
        <p:txBody>
          <a:bodyPr wrap="square" lIns="0" tIns="0" rIns="0" bIns="0">
            <a:spAutoFit/>
          </a:bodyPr>
          <a:lstStyle/>
          <a:p>
            <a:pPr algn="l"/>
            <a:r>
              <a:rPr sz="1200" b="0" i="0">
                <a:solidFill>
                  <a:srgbClr val="0F172A"/>
                </a:solidFill>
                <a:latin typeface="Segoe UI"/>
              </a:rPr>
              <a:t>🛡️  Antibody grabs the key perfectly</a:t>
            </a:r>
          </a:p>
        </p:txBody>
      </p:sp>
      <p:sp>
        <p:nvSpPr>
          <p:cNvPr id="10" name="TextBox 9"/>
          <p:cNvSpPr txBox="1"/>
          <p:nvPr/>
        </p:nvSpPr>
        <p:spPr>
          <a:xfrm>
            <a:off x="640080" y="3520440"/>
            <a:ext cx="3291840" cy="640080"/>
          </a:xfrm>
          <a:prstGeom prst="rect">
            <a:avLst/>
          </a:prstGeom>
          <a:noFill/>
        </p:spPr>
        <p:txBody>
          <a:bodyPr wrap="square" lIns="0" tIns="0" rIns="0" bIns="0">
            <a:spAutoFit/>
          </a:bodyPr>
          <a:lstStyle/>
          <a:p>
            <a:pPr algn="l"/>
            <a:r>
              <a:rPr sz="1300" b="1" i="0">
                <a:solidFill>
                  <a:srgbClr val="10B981"/>
                </a:solidFill>
                <a:latin typeface="Segoe UI"/>
              </a:rPr>
              <a:t>✅ Virus BLOCKED
Immunity works!</a:t>
            </a:r>
          </a:p>
        </p:txBody>
      </p:sp>
      <p:sp>
        <p:nvSpPr>
          <p:cNvPr id="11" name="TextBox 10"/>
          <p:cNvSpPr txBox="1"/>
          <p:nvPr/>
        </p:nvSpPr>
        <p:spPr>
          <a:xfrm>
            <a:off x="4343400" y="3108960"/>
            <a:ext cx="731520" cy="548640"/>
          </a:xfrm>
          <a:prstGeom prst="rect">
            <a:avLst/>
          </a:prstGeom>
          <a:noFill/>
        </p:spPr>
        <p:txBody>
          <a:bodyPr wrap="square" lIns="0" tIns="0" rIns="0" bIns="0">
            <a:spAutoFit/>
          </a:bodyPr>
          <a:lstStyle/>
          <a:p>
            <a:pPr algn="ctr"/>
            <a:r>
              <a:rPr sz="2800" b="1" i="0">
                <a:solidFill>
                  <a:srgbClr val="F59E0B"/>
                </a:solidFill>
                <a:latin typeface="Segoe UI"/>
              </a:rPr>
              <a:t>➜</a:t>
            </a:r>
          </a:p>
        </p:txBody>
      </p:sp>
      <p:sp>
        <p:nvSpPr>
          <p:cNvPr id="12" name="TextBox 11"/>
          <p:cNvSpPr txBox="1"/>
          <p:nvPr/>
        </p:nvSpPr>
        <p:spPr>
          <a:xfrm>
            <a:off x="4251960" y="3611880"/>
            <a:ext cx="914400" cy="502920"/>
          </a:xfrm>
          <a:prstGeom prst="rect">
            <a:avLst/>
          </a:prstGeom>
          <a:noFill/>
        </p:spPr>
        <p:txBody>
          <a:bodyPr wrap="square" lIns="0" tIns="0" rIns="0" bIns="0">
            <a:spAutoFit/>
          </a:bodyPr>
          <a:lstStyle/>
          <a:p>
            <a:pPr algn="ctr"/>
            <a:r>
              <a:rPr sz="1000" b="1" i="0">
                <a:solidFill>
                  <a:srgbClr val="F59E0B"/>
                </a:solidFill>
                <a:latin typeface="Segoe UI"/>
              </a:rPr>
              <a:t>E484K
Mutation</a:t>
            </a:r>
          </a:p>
        </p:txBody>
      </p:sp>
      <p:sp>
        <p:nvSpPr>
          <p:cNvPr id="13" name="TextBox 12"/>
          <p:cNvSpPr txBox="1"/>
          <p:nvPr/>
        </p:nvSpPr>
        <p:spPr>
          <a:xfrm>
            <a:off x="5257800" y="2103120"/>
            <a:ext cx="3474720" cy="365760"/>
          </a:xfrm>
          <a:prstGeom prst="rect">
            <a:avLst/>
          </a:prstGeom>
          <a:noFill/>
        </p:spPr>
        <p:txBody>
          <a:bodyPr wrap="square" lIns="0" tIns="0" rIns="0" bIns="0">
            <a:spAutoFit/>
          </a:bodyPr>
          <a:lstStyle/>
          <a:p>
            <a:pPr algn="ctr"/>
            <a:r>
              <a:rPr sz="1300" b="1" i="0">
                <a:solidFill>
                  <a:srgbClr val="F43F5E"/>
                </a:solidFill>
                <a:latin typeface="Segoe UI"/>
              </a:rPr>
              <a:t>AFTER MUTATION</a:t>
            </a:r>
          </a:p>
        </p:txBody>
      </p:sp>
      <p:sp>
        <p:nvSpPr>
          <p:cNvPr id="14" name="Rounded Rectangle 13"/>
          <p:cNvSpPr/>
          <p:nvPr/>
        </p:nvSpPr>
        <p:spPr>
          <a:xfrm>
            <a:off x="5074920" y="2514600"/>
            <a:ext cx="3840480" cy="2286000"/>
          </a:xfrm>
          <a:prstGeom prst="roundRect">
            <a:avLst/>
          </a:prstGeom>
          <a:solidFill>
            <a:srgbClr val="FFF1F2"/>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9240" y="2697480"/>
            <a:ext cx="3291840" cy="411480"/>
          </a:xfrm>
          <a:prstGeom prst="rect">
            <a:avLst/>
          </a:prstGeom>
          <a:noFill/>
        </p:spPr>
        <p:txBody>
          <a:bodyPr wrap="square" lIns="0" tIns="0" rIns="0" bIns="0">
            <a:spAutoFit/>
          </a:bodyPr>
          <a:lstStyle/>
          <a:p>
            <a:pPr algn="l"/>
            <a:r>
              <a:rPr sz="1400" b="1" i="0">
                <a:solidFill>
                  <a:srgbClr val="0F172A"/>
                </a:solidFill>
                <a:latin typeface="Segoe UI"/>
              </a:rPr>
              <a:t>🔑  Spike (E484K)</a:t>
            </a:r>
          </a:p>
        </p:txBody>
      </p:sp>
      <p:sp>
        <p:nvSpPr>
          <p:cNvPr id="16" name="TextBox 15"/>
          <p:cNvSpPr txBox="1"/>
          <p:nvPr/>
        </p:nvSpPr>
        <p:spPr>
          <a:xfrm>
            <a:off x="5349240" y="3108960"/>
            <a:ext cx="3291840" cy="365760"/>
          </a:xfrm>
          <a:prstGeom prst="rect">
            <a:avLst/>
          </a:prstGeom>
          <a:noFill/>
        </p:spPr>
        <p:txBody>
          <a:bodyPr wrap="square" lIns="0" tIns="0" rIns="0" bIns="0">
            <a:spAutoFit/>
          </a:bodyPr>
          <a:lstStyle/>
          <a:p>
            <a:pPr algn="l"/>
            <a:r>
              <a:rPr sz="1200" b="0" i="0">
                <a:solidFill>
                  <a:srgbClr val="F43F5E"/>
                </a:solidFill>
                <a:latin typeface="Segoe UI"/>
              </a:rPr>
              <a:t>🛡️❌ Antibody can't grip — wrong shape!</a:t>
            </a:r>
          </a:p>
        </p:txBody>
      </p:sp>
      <p:sp>
        <p:nvSpPr>
          <p:cNvPr id="17" name="TextBox 16"/>
          <p:cNvSpPr txBox="1"/>
          <p:nvPr/>
        </p:nvSpPr>
        <p:spPr>
          <a:xfrm>
            <a:off x="5349240" y="3520440"/>
            <a:ext cx="3291840" cy="640080"/>
          </a:xfrm>
          <a:prstGeom prst="rect">
            <a:avLst/>
          </a:prstGeom>
          <a:noFill/>
        </p:spPr>
        <p:txBody>
          <a:bodyPr wrap="square" lIns="0" tIns="0" rIns="0" bIns="0">
            <a:spAutoFit/>
          </a:bodyPr>
          <a:lstStyle/>
          <a:p>
            <a:pPr algn="l"/>
            <a:r>
              <a:rPr sz="1300" b="1" i="0">
                <a:solidFill>
                  <a:srgbClr val="F43F5E"/>
                </a:solidFill>
                <a:latin typeface="Segoe UI"/>
              </a:rPr>
              <a:t>🚫 Virus ESCAPES
Immunity FAILS!</a:t>
            </a:r>
          </a:p>
        </p:txBody>
      </p:sp>
      <p:sp>
        <p:nvSpPr>
          <p:cNvPr id="18" name="TextBox 17"/>
          <p:cNvSpPr txBox="1"/>
          <p:nvPr/>
        </p:nvSpPr>
        <p:spPr>
          <a:xfrm>
            <a:off x="457200" y="4983480"/>
            <a:ext cx="10972800" cy="365760"/>
          </a:xfrm>
          <a:prstGeom prst="rect">
            <a:avLst/>
          </a:prstGeom>
          <a:noFill/>
        </p:spPr>
        <p:txBody>
          <a:bodyPr wrap="square" lIns="0" tIns="0" rIns="0" bIns="0">
            <a:spAutoFit/>
          </a:bodyPr>
          <a:lstStyle/>
          <a:p>
            <a:pPr algn="l"/>
            <a:r>
              <a:rPr sz="1300" b="1" i="0">
                <a:solidFill>
                  <a:srgbClr val="4F46E5"/>
                </a:solidFill>
                <a:latin typeface="Segoe UI"/>
              </a:rPr>
              <a:t>Real Escape Mutations That Fooled Vaccines &amp; Drugs</a:t>
            </a:r>
          </a:p>
        </p:txBody>
      </p:sp>
      <p:sp>
        <p:nvSpPr>
          <p:cNvPr id="19" name="Rounded Rectangle 18"/>
          <p:cNvSpPr/>
          <p:nvPr/>
        </p:nvSpPr>
        <p:spPr>
          <a:xfrm>
            <a:off x="365760" y="5394960"/>
            <a:ext cx="2743200" cy="105156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5440680"/>
            <a:ext cx="1371600" cy="347472"/>
          </a:xfrm>
          <a:prstGeom prst="rect">
            <a:avLst/>
          </a:prstGeom>
          <a:noFill/>
        </p:spPr>
        <p:txBody>
          <a:bodyPr wrap="square" lIns="0" tIns="0" rIns="0" bIns="0">
            <a:spAutoFit/>
          </a:bodyPr>
          <a:lstStyle/>
          <a:p>
            <a:pPr algn="l"/>
            <a:r>
              <a:rPr sz="1300" b="1" i="0">
                <a:solidFill>
                  <a:srgbClr val="4F46E5"/>
                </a:solidFill>
                <a:latin typeface="Segoe UI"/>
              </a:rPr>
              <a:t>E484K</a:t>
            </a:r>
          </a:p>
        </p:txBody>
      </p:sp>
      <p:sp>
        <p:nvSpPr>
          <p:cNvPr id="21" name="TextBox 20"/>
          <p:cNvSpPr txBox="1"/>
          <p:nvPr/>
        </p:nvSpPr>
        <p:spPr>
          <a:xfrm>
            <a:off x="502920" y="5788152"/>
            <a:ext cx="2468880" cy="594360"/>
          </a:xfrm>
          <a:prstGeom prst="rect">
            <a:avLst/>
          </a:prstGeom>
          <a:noFill/>
        </p:spPr>
        <p:txBody>
          <a:bodyPr wrap="square" lIns="0" tIns="0" rIns="0" bIns="0">
            <a:spAutoFit/>
          </a:bodyPr>
          <a:lstStyle/>
          <a:p>
            <a:pPr algn="l"/>
            <a:r>
              <a:rPr sz="900" b="0" i="0">
                <a:solidFill>
                  <a:srgbClr val="0F172A"/>
                </a:solidFill>
                <a:latin typeface="Segoe UI"/>
              </a:rPr>
              <a:t>Defeated LY-CoV016, REGN10933 antibody drugs. Found in Beta, Gamma, early Omicron.</a:t>
            </a:r>
          </a:p>
        </p:txBody>
      </p:sp>
      <p:sp>
        <p:nvSpPr>
          <p:cNvPr id="22" name="Rounded Rectangle 21"/>
          <p:cNvSpPr/>
          <p:nvPr/>
        </p:nvSpPr>
        <p:spPr>
          <a:xfrm>
            <a:off x="3291840" y="5394960"/>
            <a:ext cx="2743200" cy="105156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9000" y="5440680"/>
            <a:ext cx="1371600" cy="347472"/>
          </a:xfrm>
          <a:prstGeom prst="rect">
            <a:avLst/>
          </a:prstGeom>
          <a:noFill/>
        </p:spPr>
        <p:txBody>
          <a:bodyPr wrap="square" lIns="0" tIns="0" rIns="0" bIns="0">
            <a:spAutoFit/>
          </a:bodyPr>
          <a:lstStyle/>
          <a:p>
            <a:pPr algn="l"/>
            <a:r>
              <a:rPr sz="1300" b="1" i="0">
                <a:solidFill>
                  <a:srgbClr val="4F46E5"/>
                </a:solidFill>
                <a:latin typeface="Segoe UI"/>
              </a:rPr>
              <a:t>F456L</a:t>
            </a:r>
          </a:p>
        </p:txBody>
      </p:sp>
      <p:sp>
        <p:nvSpPr>
          <p:cNvPr id="24" name="TextBox 23"/>
          <p:cNvSpPr txBox="1"/>
          <p:nvPr/>
        </p:nvSpPr>
        <p:spPr>
          <a:xfrm>
            <a:off x="3429000" y="5788152"/>
            <a:ext cx="2468880" cy="594360"/>
          </a:xfrm>
          <a:prstGeom prst="rect">
            <a:avLst/>
          </a:prstGeom>
          <a:noFill/>
        </p:spPr>
        <p:txBody>
          <a:bodyPr wrap="square" lIns="0" tIns="0" rIns="0" bIns="0">
            <a:spAutoFit/>
          </a:bodyPr>
          <a:lstStyle/>
          <a:p>
            <a:pPr algn="l"/>
            <a:r>
              <a:rPr sz="900" b="0" i="0">
                <a:solidFill>
                  <a:srgbClr val="0F172A"/>
                </a:solidFill>
                <a:latin typeface="Segoe UI"/>
              </a:rPr>
              <a:t>Key JN.1 / KP.3 mutation. Escapes Class 1 antibodies targeting the ACE2 binding surface.</a:t>
            </a:r>
          </a:p>
        </p:txBody>
      </p:sp>
      <p:sp>
        <p:nvSpPr>
          <p:cNvPr id="25" name="Rounded Rectangle 24"/>
          <p:cNvSpPr/>
          <p:nvPr/>
        </p:nvSpPr>
        <p:spPr>
          <a:xfrm>
            <a:off x="6217920" y="5394960"/>
            <a:ext cx="2743200" cy="105156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5440680"/>
            <a:ext cx="1371600" cy="347472"/>
          </a:xfrm>
          <a:prstGeom prst="rect">
            <a:avLst/>
          </a:prstGeom>
          <a:noFill/>
        </p:spPr>
        <p:txBody>
          <a:bodyPr wrap="square" lIns="0" tIns="0" rIns="0" bIns="0">
            <a:spAutoFit/>
          </a:bodyPr>
          <a:lstStyle/>
          <a:p>
            <a:pPr algn="l"/>
            <a:r>
              <a:rPr sz="1300" b="1" i="0">
                <a:solidFill>
                  <a:srgbClr val="4F46E5"/>
                </a:solidFill>
                <a:latin typeface="Segoe UI"/>
              </a:rPr>
              <a:t>L452R</a:t>
            </a:r>
          </a:p>
        </p:txBody>
      </p:sp>
      <p:sp>
        <p:nvSpPr>
          <p:cNvPr id="27" name="TextBox 26"/>
          <p:cNvSpPr txBox="1"/>
          <p:nvPr/>
        </p:nvSpPr>
        <p:spPr>
          <a:xfrm>
            <a:off x="6355080" y="5788152"/>
            <a:ext cx="2468880" cy="594360"/>
          </a:xfrm>
          <a:prstGeom prst="rect">
            <a:avLst/>
          </a:prstGeom>
          <a:noFill/>
        </p:spPr>
        <p:txBody>
          <a:bodyPr wrap="square" lIns="0" tIns="0" rIns="0" bIns="0">
            <a:spAutoFit/>
          </a:bodyPr>
          <a:lstStyle/>
          <a:p>
            <a:pPr algn="l"/>
            <a:r>
              <a:rPr sz="900" b="0" i="0">
                <a:solidFill>
                  <a:srgbClr val="0F172A"/>
                </a:solidFill>
                <a:latin typeface="Segoe UI"/>
              </a:rPr>
              <a:t>Delta's superpower. Escapes multiple vaccine-induced antibodies. Very high ACE2 affinity.</a:t>
            </a:r>
          </a:p>
        </p:txBody>
      </p:sp>
      <p:sp>
        <p:nvSpPr>
          <p:cNvPr id="28" name="Rounded Rectangle 27"/>
          <p:cNvSpPr/>
          <p:nvPr/>
        </p:nvSpPr>
        <p:spPr>
          <a:xfrm>
            <a:off x="9144000" y="5394960"/>
            <a:ext cx="2743200" cy="105156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5440680"/>
            <a:ext cx="1371600" cy="347472"/>
          </a:xfrm>
          <a:prstGeom prst="rect">
            <a:avLst/>
          </a:prstGeom>
          <a:noFill/>
        </p:spPr>
        <p:txBody>
          <a:bodyPr wrap="square" lIns="0" tIns="0" rIns="0" bIns="0">
            <a:spAutoFit/>
          </a:bodyPr>
          <a:lstStyle/>
          <a:p>
            <a:pPr algn="l"/>
            <a:r>
              <a:rPr sz="1300" b="1" i="0">
                <a:solidFill>
                  <a:srgbClr val="4F46E5"/>
                </a:solidFill>
                <a:latin typeface="Segoe UI"/>
              </a:rPr>
              <a:t>P681R</a:t>
            </a:r>
          </a:p>
        </p:txBody>
      </p:sp>
      <p:sp>
        <p:nvSpPr>
          <p:cNvPr id="30" name="TextBox 29"/>
          <p:cNvSpPr txBox="1"/>
          <p:nvPr/>
        </p:nvSpPr>
        <p:spPr>
          <a:xfrm>
            <a:off x="9281160" y="5788152"/>
            <a:ext cx="2468880" cy="594360"/>
          </a:xfrm>
          <a:prstGeom prst="rect">
            <a:avLst/>
          </a:prstGeom>
          <a:noFill/>
        </p:spPr>
        <p:txBody>
          <a:bodyPr wrap="square" lIns="0" tIns="0" rIns="0" bIns="0">
            <a:spAutoFit/>
          </a:bodyPr>
          <a:lstStyle/>
          <a:p>
            <a:pPr algn="l"/>
            <a:r>
              <a:rPr sz="900" b="0" i="0">
                <a:solidFill>
                  <a:srgbClr val="0F172A"/>
                </a:solidFill>
                <a:latin typeface="Segoe UI"/>
              </a:rPr>
              <a:t>Delta Furin site mutation — not escape but massively increased transmissibility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Our Solution: Predict Before It Happens</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Using artificial intelligence to forecast which mutations are coming next</a:t>
            </a:r>
          </a:p>
        </p:txBody>
      </p:sp>
      <p:sp>
        <p:nvSpPr>
          <p:cNvPr id="5" name="TextBox 4"/>
          <p:cNvSpPr txBox="1"/>
          <p:nvPr/>
        </p:nvSpPr>
        <p:spPr>
          <a:xfrm>
            <a:off x="457200" y="1280160"/>
            <a:ext cx="11247120" cy="731520"/>
          </a:xfrm>
          <a:prstGeom prst="rect">
            <a:avLst/>
          </a:prstGeom>
          <a:noFill/>
        </p:spPr>
        <p:txBody>
          <a:bodyPr wrap="square" lIns="0" tIns="0" rIns="0" bIns="0">
            <a:spAutoFit/>
          </a:bodyPr>
          <a:lstStyle/>
          <a:p>
            <a:pPr algn="l"/>
            <a:r>
              <a:rPr sz="1300" b="0" i="0">
                <a:solidFill>
                  <a:srgbClr val="0F172A"/>
                </a:solidFill>
                <a:latin typeface="Segoe UI"/>
              </a:rPr>
              <a:t>Instead of waiting for a new variant to spread, we trained an AI model to look at the Spike protein from two angles — its genetic sequence AND its 3D shape — and predict which positions are most likely to mutate AND cause immune escape.</a:t>
            </a:r>
          </a:p>
        </p:txBody>
      </p:sp>
      <p:sp>
        <p:nvSpPr>
          <p:cNvPr id="6" name="Rounded Rectangle 5"/>
          <p:cNvSpPr/>
          <p:nvPr/>
        </p:nvSpPr>
        <p:spPr>
          <a:xfrm>
            <a:off x="365760" y="2148840"/>
            <a:ext cx="3566160" cy="3474720"/>
          </a:xfrm>
          <a:prstGeom prst="roundRect">
            <a:avLst/>
          </a:prstGeom>
          <a:solidFill>
            <a:srgbClr val="EEF2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83080" y="2240280"/>
            <a:ext cx="731520" cy="731520"/>
          </a:xfrm>
          <a:prstGeom prst="rect">
            <a:avLst/>
          </a:prstGeom>
          <a:noFill/>
        </p:spPr>
        <p:txBody>
          <a:bodyPr wrap="square" lIns="0" tIns="0" rIns="0" bIns="0">
            <a:spAutoFit/>
          </a:bodyPr>
          <a:lstStyle/>
          <a:p>
            <a:pPr algn="ctr"/>
            <a:r>
              <a:rPr sz="2800" b="0" i="0">
                <a:solidFill>
                  <a:srgbClr val="0EA5E9"/>
                </a:solidFill>
                <a:latin typeface="Segoe UI"/>
              </a:rPr>
              <a:t>📖</a:t>
            </a:r>
          </a:p>
        </p:txBody>
      </p:sp>
      <p:sp>
        <p:nvSpPr>
          <p:cNvPr id="8" name="TextBox 7"/>
          <p:cNvSpPr txBox="1"/>
          <p:nvPr/>
        </p:nvSpPr>
        <p:spPr>
          <a:xfrm>
            <a:off x="502920" y="3017520"/>
            <a:ext cx="3291840" cy="548640"/>
          </a:xfrm>
          <a:prstGeom prst="rect">
            <a:avLst/>
          </a:prstGeom>
          <a:noFill/>
        </p:spPr>
        <p:txBody>
          <a:bodyPr wrap="square" lIns="0" tIns="0" rIns="0" bIns="0">
            <a:spAutoFit/>
          </a:bodyPr>
          <a:lstStyle/>
          <a:p>
            <a:pPr algn="ctr"/>
            <a:r>
              <a:rPr sz="1400" b="1" i="0">
                <a:solidFill>
                  <a:srgbClr val="0EA5E9"/>
                </a:solidFill>
                <a:latin typeface="Segoe UI"/>
              </a:rPr>
              <a:t>Read the
Genetic Code</a:t>
            </a:r>
          </a:p>
        </p:txBody>
      </p:sp>
      <p:sp>
        <p:nvSpPr>
          <p:cNvPr id="9" name="TextBox 8"/>
          <p:cNvSpPr txBox="1"/>
          <p:nvPr/>
        </p:nvSpPr>
        <p:spPr>
          <a:xfrm>
            <a:off x="548640" y="3611880"/>
            <a:ext cx="3200400" cy="1783080"/>
          </a:xfrm>
          <a:prstGeom prst="rect">
            <a:avLst/>
          </a:prstGeom>
          <a:noFill/>
        </p:spPr>
        <p:txBody>
          <a:bodyPr wrap="square" lIns="0" tIns="0" rIns="0" bIns="0">
            <a:spAutoFit/>
          </a:bodyPr>
          <a:lstStyle/>
          <a:p>
            <a:pPr algn="l"/>
            <a:r>
              <a:rPr sz="1100" b="0" i="0">
                <a:solidFill>
                  <a:srgbClr val="0F172A"/>
                </a:solidFill>
                <a:latin typeface="Segoe UI"/>
              </a:rPr>
              <a:t>Like reading a book written in amino acids. An AI (ESM-2) trained on 250 million proteins understands which parts are likely to change.</a:t>
            </a:r>
          </a:p>
        </p:txBody>
      </p:sp>
      <p:sp>
        <p:nvSpPr>
          <p:cNvPr id="10" name="Rounded Rectangle 9"/>
          <p:cNvSpPr/>
          <p:nvPr/>
        </p:nvSpPr>
        <p:spPr>
          <a:xfrm>
            <a:off x="4160520" y="2148840"/>
            <a:ext cx="3566160" cy="3474720"/>
          </a:xfrm>
          <a:prstGeom prst="roundRect">
            <a:avLst/>
          </a:prstGeom>
          <a:solidFill>
            <a:srgbClr val="EEF2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2240280"/>
            <a:ext cx="731520" cy="731520"/>
          </a:xfrm>
          <a:prstGeom prst="rect">
            <a:avLst/>
          </a:prstGeom>
          <a:noFill/>
        </p:spPr>
        <p:txBody>
          <a:bodyPr wrap="square" lIns="0" tIns="0" rIns="0" bIns="0">
            <a:spAutoFit/>
          </a:bodyPr>
          <a:lstStyle/>
          <a:p>
            <a:pPr algn="ctr"/>
            <a:r>
              <a:rPr sz="2800" b="0" i="0">
                <a:solidFill>
                  <a:srgbClr val="14B8A6"/>
                </a:solidFill>
                <a:latin typeface="Segoe UI"/>
              </a:rPr>
              <a:t>🔬</a:t>
            </a:r>
          </a:p>
        </p:txBody>
      </p:sp>
      <p:sp>
        <p:nvSpPr>
          <p:cNvPr id="12" name="TextBox 11"/>
          <p:cNvSpPr txBox="1"/>
          <p:nvPr/>
        </p:nvSpPr>
        <p:spPr>
          <a:xfrm>
            <a:off x="4297680" y="3017520"/>
            <a:ext cx="3291840" cy="548640"/>
          </a:xfrm>
          <a:prstGeom prst="rect">
            <a:avLst/>
          </a:prstGeom>
          <a:noFill/>
        </p:spPr>
        <p:txBody>
          <a:bodyPr wrap="square" lIns="0" tIns="0" rIns="0" bIns="0">
            <a:spAutoFit/>
          </a:bodyPr>
          <a:lstStyle/>
          <a:p>
            <a:pPr algn="ctr"/>
            <a:r>
              <a:rPr sz="1400" b="1" i="0">
                <a:solidFill>
                  <a:srgbClr val="14B8A6"/>
                </a:solidFill>
                <a:latin typeface="Segoe UI"/>
              </a:rPr>
              <a:t>Read the
3D Shape</a:t>
            </a:r>
          </a:p>
        </p:txBody>
      </p:sp>
      <p:sp>
        <p:nvSpPr>
          <p:cNvPr id="13" name="TextBox 12"/>
          <p:cNvSpPr txBox="1"/>
          <p:nvPr/>
        </p:nvSpPr>
        <p:spPr>
          <a:xfrm>
            <a:off x="4343400" y="3611880"/>
            <a:ext cx="3200400" cy="1783080"/>
          </a:xfrm>
          <a:prstGeom prst="rect">
            <a:avLst/>
          </a:prstGeom>
          <a:noFill/>
        </p:spPr>
        <p:txBody>
          <a:bodyPr wrap="square" lIns="0" tIns="0" rIns="0" bIns="0">
            <a:spAutoFit/>
          </a:bodyPr>
          <a:lstStyle/>
          <a:p>
            <a:pPr algn="l"/>
            <a:r>
              <a:rPr sz="1100" b="0" i="0">
                <a:solidFill>
                  <a:srgbClr val="0F172A"/>
                </a:solidFill>
                <a:latin typeface="Segoe UI"/>
              </a:rPr>
              <a:t>Look at the actual 3D crystal structure of the Spike. Which amino acids are exposed on the surface? Which are buried inside? Exposed = more likely to mutate.</a:t>
            </a:r>
          </a:p>
        </p:txBody>
      </p:sp>
      <p:sp>
        <p:nvSpPr>
          <p:cNvPr id="14" name="Rounded Rectangle 13"/>
          <p:cNvSpPr/>
          <p:nvPr/>
        </p:nvSpPr>
        <p:spPr>
          <a:xfrm>
            <a:off x="7955280" y="2148840"/>
            <a:ext cx="3566160" cy="347472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2240280"/>
            <a:ext cx="731520" cy="731520"/>
          </a:xfrm>
          <a:prstGeom prst="rect">
            <a:avLst/>
          </a:prstGeom>
          <a:noFill/>
        </p:spPr>
        <p:txBody>
          <a:bodyPr wrap="square" lIns="0" tIns="0" rIns="0" bIns="0">
            <a:spAutoFit/>
          </a:bodyPr>
          <a:lstStyle/>
          <a:p>
            <a:pPr algn="ctr"/>
            <a:r>
              <a:rPr sz="2800" b="0" i="0">
                <a:solidFill>
                  <a:srgbClr val="4F46E5"/>
                </a:solidFill>
                <a:latin typeface="Segoe UI"/>
              </a:rPr>
              <a:t>🧠</a:t>
            </a:r>
          </a:p>
        </p:txBody>
      </p:sp>
      <p:sp>
        <p:nvSpPr>
          <p:cNvPr id="16" name="TextBox 15"/>
          <p:cNvSpPr txBox="1"/>
          <p:nvPr/>
        </p:nvSpPr>
        <p:spPr>
          <a:xfrm>
            <a:off x="8092440" y="3017520"/>
            <a:ext cx="3291840" cy="548640"/>
          </a:xfrm>
          <a:prstGeom prst="rect">
            <a:avLst/>
          </a:prstGeom>
          <a:noFill/>
        </p:spPr>
        <p:txBody>
          <a:bodyPr wrap="square" lIns="0" tIns="0" rIns="0" bIns="0">
            <a:spAutoFit/>
          </a:bodyPr>
          <a:lstStyle/>
          <a:p>
            <a:pPr algn="ctr"/>
            <a:r>
              <a:rPr sz="1400" b="1" i="0">
                <a:solidFill>
                  <a:srgbClr val="4F46E5"/>
                </a:solidFill>
                <a:latin typeface="Segoe UI"/>
              </a:rPr>
              <a:t>Combine Both
&amp; Predict</a:t>
            </a:r>
          </a:p>
        </p:txBody>
      </p:sp>
      <p:sp>
        <p:nvSpPr>
          <p:cNvPr id="17" name="TextBox 16"/>
          <p:cNvSpPr txBox="1"/>
          <p:nvPr/>
        </p:nvSpPr>
        <p:spPr>
          <a:xfrm>
            <a:off x="8138160" y="3611880"/>
            <a:ext cx="3200400" cy="1783080"/>
          </a:xfrm>
          <a:prstGeom prst="rect">
            <a:avLst/>
          </a:prstGeom>
          <a:noFill/>
        </p:spPr>
        <p:txBody>
          <a:bodyPr wrap="square" lIns="0" tIns="0" rIns="0" bIns="0">
            <a:spAutoFit/>
          </a:bodyPr>
          <a:lstStyle/>
          <a:p>
            <a:pPr algn="l"/>
            <a:r>
              <a:rPr sz="1100" b="0" i="0">
                <a:solidFill>
                  <a:srgbClr val="0F172A"/>
                </a:solidFill>
                <a:latin typeface="Segoe UI"/>
              </a:rPr>
              <a:t>Fuse both perspectives using 'cross-attention' — each amino acid's sequence info is enriched by its 3D structural neighborhood. Output: risk score per residue.</a:t>
            </a:r>
          </a:p>
        </p:txBody>
      </p:sp>
      <p:sp>
        <p:nvSpPr>
          <p:cNvPr id="18" name="Rounded Rectangle 17"/>
          <p:cNvSpPr/>
          <p:nvPr/>
        </p:nvSpPr>
        <p:spPr>
          <a:xfrm>
            <a:off x="457200" y="5760720"/>
            <a:ext cx="11064240" cy="77724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852160"/>
            <a:ext cx="10698480" cy="594360"/>
          </a:xfrm>
          <a:prstGeom prst="rect">
            <a:avLst/>
          </a:prstGeom>
          <a:noFill/>
        </p:spPr>
        <p:txBody>
          <a:bodyPr wrap="square" lIns="0" tIns="0" rIns="0" bIns="0">
            <a:spAutoFit/>
          </a:bodyPr>
          <a:lstStyle/>
          <a:p>
            <a:pPr algn="l"/>
            <a:r>
              <a:rPr sz="1100" b="0" i="0">
                <a:solidFill>
                  <a:srgbClr val="0F172A"/>
                </a:solidFill>
                <a:latin typeface="Segoe UI"/>
              </a:rPr>
              <a:t>📊  Output for each of the 1,273 Spike residues:    🟢 P(mutate) — How likely to mutate?       🔵 S(escape) — If it mutates, how badly does it escape immunity?       🔴 Risk Score = P × S — Overall danger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Database 1: Deep Mutational Scanning (DMS)</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How scientists measured the escape potential of every possible Spike mutation in the lab</a:t>
            </a:r>
          </a:p>
        </p:txBody>
      </p:sp>
      <p:sp>
        <p:nvSpPr>
          <p:cNvPr id="5" name="TextBox 4"/>
          <p:cNvSpPr txBox="1"/>
          <p:nvPr/>
        </p:nvSpPr>
        <p:spPr>
          <a:xfrm>
            <a:off x="457200" y="1280160"/>
            <a:ext cx="11247120" cy="822960"/>
          </a:xfrm>
          <a:prstGeom prst="rect">
            <a:avLst/>
          </a:prstGeom>
          <a:noFill/>
        </p:spPr>
        <p:txBody>
          <a:bodyPr wrap="square" lIns="0" tIns="0" rIns="0" bIns="0">
            <a:spAutoFit/>
          </a:bodyPr>
          <a:lstStyle/>
          <a:p>
            <a:pPr algn="l"/>
            <a:r>
              <a:rPr sz="1300" b="0" i="0">
                <a:solidFill>
                  <a:srgbClr val="0F172A"/>
                </a:solidFill>
                <a:latin typeface="Segoe UI"/>
              </a:rPr>
              <a:t>The Bloom Lab at Fred Hutchinson Cancer Center did something extraordinary: they systematically mutated EVERY single position in the Spike protein, one at a time, tested it against dozens of antibodies, and measured how much each mutation helped the virus escape. This gave us our training 'answer key'.</a:t>
            </a:r>
          </a:p>
        </p:txBody>
      </p:sp>
      <p:sp>
        <p:nvSpPr>
          <p:cNvPr id="6" name="Rounded Rectangle 5"/>
          <p:cNvSpPr/>
          <p:nvPr/>
        </p:nvSpPr>
        <p:spPr>
          <a:xfrm>
            <a:off x="365760" y="2194560"/>
            <a:ext cx="5303520" cy="3657600"/>
          </a:xfrm>
          <a:prstGeom prst="roundRect">
            <a:avLst/>
          </a:prstGeom>
          <a:solidFill>
            <a:srgbClr val="EEF2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286000"/>
            <a:ext cx="5029200" cy="365760"/>
          </a:xfrm>
          <a:prstGeom prst="rect">
            <a:avLst/>
          </a:prstGeom>
          <a:noFill/>
        </p:spPr>
        <p:txBody>
          <a:bodyPr wrap="square" lIns="0" tIns="0" rIns="0" bIns="0">
            <a:spAutoFit/>
          </a:bodyPr>
          <a:lstStyle/>
          <a:p>
            <a:pPr algn="l"/>
            <a:r>
              <a:rPr sz="1300" b="1" i="0">
                <a:solidFill>
                  <a:srgbClr val="0EA5E9"/>
                </a:solidFill>
                <a:latin typeface="Segoe UI"/>
              </a:rPr>
              <a:t>🔬 The Experiment</a:t>
            </a:r>
          </a:p>
        </p:txBody>
      </p:sp>
      <p:sp>
        <p:nvSpPr>
          <p:cNvPr id="8" name="TextBox 7"/>
          <p:cNvSpPr txBox="1"/>
          <p:nvPr/>
        </p:nvSpPr>
        <p:spPr>
          <a:xfrm>
            <a:off x="594360" y="2715768"/>
            <a:ext cx="4892040" cy="393192"/>
          </a:xfrm>
          <a:prstGeom prst="rect">
            <a:avLst/>
          </a:prstGeom>
          <a:noFill/>
        </p:spPr>
        <p:txBody>
          <a:bodyPr wrap="square" lIns="0" tIns="0" rIns="0" bIns="0">
            <a:spAutoFit/>
          </a:bodyPr>
          <a:lstStyle/>
          <a:p>
            <a:pPr algn="l"/>
            <a:r>
              <a:rPr sz="1100" b="0" i="0">
                <a:solidFill>
                  <a:srgbClr val="0F172A"/>
                </a:solidFill>
                <a:latin typeface="Segoe UI"/>
              </a:rPr>
              <a:t>1. Take the Spike protein (1,273 amino acid positions)</a:t>
            </a:r>
          </a:p>
        </p:txBody>
      </p:sp>
      <p:sp>
        <p:nvSpPr>
          <p:cNvPr id="9" name="TextBox 8"/>
          <p:cNvSpPr txBox="1"/>
          <p:nvPr/>
        </p:nvSpPr>
        <p:spPr>
          <a:xfrm>
            <a:off x="594360" y="3145536"/>
            <a:ext cx="4892040" cy="393192"/>
          </a:xfrm>
          <a:prstGeom prst="rect">
            <a:avLst/>
          </a:prstGeom>
          <a:noFill/>
        </p:spPr>
        <p:txBody>
          <a:bodyPr wrap="square" lIns="0" tIns="0" rIns="0" bIns="0">
            <a:spAutoFit/>
          </a:bodyPr>
          <a:lstStyle/>
          <a:p>
            <a:pPr algn="l"/>
            <a:r>
              <a:rPr sz="1100" b="0" i="0">
                <a:solidFill>
                  <a:srgbClr val="0F172A"/>
                </a:solidFill>
                <a:latin typeface="Segoe UI"/>
              </a:rPr>
              <a:t>2. Mutate EACH position to every other amino acid</a:t>
            </a:r>
          </a:p>
        </p:txBody>
      </p:sp>
      <p:sp>
        <p:nvSpPr>
          <p:cNvPr id="10" name="TextBox 9"/>
          <p:cNvSpPr txBox="1"/>
          <p:nvPr/>
        </p:nvSpPr>
        <p:spPr>
          <a:xfrm>
            <a:off x="594360" y="3575304"/>
            <a:ext cx="4892040" cy="393192"/>
          </a:xfrm>
          <a:prstGeom prst="rect">
            <a:avLst/>
          </a:prstGeom>
          <a:noFill/>
        </p:spPr>
        <p:txBody>
          <a:bodyPr wrap="square" lIns="0" tIns="0" rIns="0" bIns="0">
            <a:spAutoFit/>
          </a:bodyPr>
          <a:lstStyle/>
          <a:p>
            <a:pPr algn="l"/>
            <a:r>
              <a:rPr sz="1100" b="0" i="0">
                <a:solidFill>
                  <a:srgbClr val="0F172A"/>
                </a:solidFill>
                <a:latin typeface="Segoe UI"/>
              </a:rPr>
              <a:t>3. Mix with a real neutralizing antibody</a:t>
            </a:r>
          </a:p>
        </p:txBody>
      </p:sp>
      <p:sp>
        <p:nvSpPr>
          <p:cNvPr id="11" name="TextBox 10"/>
          <p:cNvSpPr txBox="1"/>
          <p:nvPr/>
        </p:nvSpPr>
        <p:spPr>
          <a:xfrm>
            <a:off x="594360" y="4005072"/>
            <a:ext cx="4892040" cy="393192"/>
          </a:xfrm>
          <a:prstGeom prst="rect">
            <a:avLst/>
          </a:prstGeom>
          <a:noFill/>
        </p:spPr>
        <p:txBody>
          <a:bodyPr wrap="square" lIns="0" tIns="0" rIns="0" bIns="0">
            <a:spAutoFit/>
          </a:bodyPr>
          <a:lstStyle/>
          <a:p>
            <a:pPr algn="l"/>
            <a:r>
              <a:rPr sz="1100" b="0" i="0">
                <a:solidFill>
                  <a:srgbClr val="0F172A"/>
                </a:solidFill>
                <a:latin typeface="Segoe UI"/>
              </a:rPr>
              <a:t>4. Measure: does the virus still get blocked?</a:t>
            </a:r>
          </a:p>
        </p:txBody>
      </p:sp>
      <p:sp>
        <p:nvSpPr>
          <p:cNvPr id="12" name="TextBox 11"/>
          <p:cNvSpPr txBox="1"/>
          <p:nvPr/>
        </p:nvSpPr>
        <p:spPr>
          <a:xfrm>
            <a:off x="594360" y="4434840"/>
            <a:ext cx="4892040" cy="393192"/>
          </a:xfrm>
          <a:prstGeom prst="rect">
            <a:avLst/>
          </a:prstGeom>
          <a:noFill/>
        </p:spPr>
        <p:txBody>
          <a:bodyPr wrap="square" lIns="0" tIns="0" rIns="0" bIns="0">
            <a:spAutoFit/>
          </a:bodyPr>
          <a:lstStyle/>
          <a:p>
            <a:pPr algn="l"/>
            <a:r>
              <a:rPr sz="1100" b="0" i="0">
                <a:solidFill>
                  <a:srgbClr val="0F172A"/>
                </a:solidFill>
                <a:latin typeface="Segoe UI"/>
              </a:rPr>
              <a:t>5. Record the 'escape score' — higher = worse</a:t>
            </a:r>
          </a:p>
        </p:txBody>
      </p:sp>
      <p:sp>
        <p:nvSpPr>
          <p:cNvPr id="13" name="TextBox 12"/>
          <p:cNvSpPr txBox="1"/>
          <p:nvPr/>
        </p:nvSpPr>
        <p:spPr>
          <a:xfrm>
            <a:off x="594360" y="4864608"/>
            <a:ext cx="4892040" cy="393192"/>
          </a:xfrm>
          <a:prstGeom prst="rect">
            <a:avLst/>
          </a:prstGeom>
          <a:noFill/>
        </p:spPr>
        <p:txBody>
          <a:bodyPr wrap="square" lIns="0" tIns="0" rIns="0" bIns="0">
            <a:spAutoFit/>
          </a:bodyPr>
          <a:lstStyle/>
          <a:p>
            <a:pPr algn="l"/>
            <a:r>
              <a:rPr sz="1100" b="0" i="0">
                <a:solidFill>
                  <a:srgbClr val="0F172A"/>
                </a:solidFill>
                <a:latin typeface="Segoe UI"/>
              </a:rPr>
              <a:t>6. Repeat for 50+ different antibodies</a:t>
            </a:r>
          </a:p>
        </p:txBody>
      </p:sp>
      <p:sp>
        <p:nvSpPr>
          <p:cNvPr id="14" name="TextBox 13"/>
          <p:cNvSpPr txBox="1"/>
          <p:nvPr/>
        </p:nvSpPr>
        <p:spPr>
          <a:xfrm>
            <a:off x="594360" y="5294376"/>
            <a:ext cx="4892040" cy="393192"/>
          </a:xfrm>
          <a:prstGeom prst="rect">
            <a:avLst/>
          </a:prstGeom>
          <a:noFill/>
        </p:spPr>
        <p:txBody>
          <a:bodyPr wrap="square" lIns="0" tIns="0" rIns="0" bIns="0">
            <a:spAutoFit/>
          </a:bodyPr>
          <a:lstStyle/>
          <a:p>
            <a:pPr algn="l"/>
            <a:r>
              <a:rPr sz="1100" b="0" i="0">
                <a:solidFill>
                  <a:srgbClr val="0F172A"/>
                </a:solidFill>
                <a:latin typeface="Segoe UI"/>
              </a:rPr>
              <a:t>Result: millions of individual measurements</a:t>
            </a:r>
          </a:p>
        </p:txBody>
      </p:sp>
      <p:sp>
        <p:nvSpPr>
          <p:cNvPr id="15" name="Rounded Rectangle 14"/>
          <p:cNvSpPr/>
          <p:nvPr/>
        </p:nvSpPr>
        <p:spPr>
          <a:xfrm>
            <a:off x="5943600" y="2194560"/>
            <a:ext cx="5760720" cy="3657600"/>
          </a:xfrm>
          <a:prstGeom prst="roundRect">
            <a:avLst/>
          </a:prstGeom>
          <a:solidFill>
            <a:srgbClr val="F0F9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2286000"/>
            <a:ext cx="5486400" cy="365760"/>
          </a:xfrm>
          <a:prstGeom prst="rect">
            <a:avLst/>
          </a:prstGeom>
          <a:noFill/>
        </p:spPr>
        <p:txBody>
          <a:bodyPr wrap="square" lIns="0" tIns="0" rIns="0" bIns="0">
            <a:spAutoFit/>
          </a:bodyPr>
          <a:lstStyle/>
          <a:p>
            <a:pPr algn="l"/>
            <a:r>
              <a:rPr sz="1300" b="1" i="0">
                <a:solidFill>
                  <a:srgbClr val="0EA5E9"/>
                </a:solidFill>
                <a:latin typeface="Segoe UI"/>
              </a:rPr>
              <a:t>📄 Raw Data Format (CSV)</a:t>
            </a:r>
          </a:p>
        </p:txBody>
      </p:sp>
      <p:sp>
        <p:nvSpPr>
          <p:cNvPr id="17" name="TextBox 16"/>
          <p:cNvSpPr txBox="1"/>
          <p:nvPr/>
        </p:nvSpPr>
        <p:spPr>
          <a:xfrm>
            <a:off x="6080760" y="2715768"/>
            <a:ext cx="5394960" cy="685800"/>
          </a:xfrm>
          <a:prstGeom prst="rect">
            <a:avLst/>
          </a:prstGeom>
          <a:noFill/>
        </p:spPr>
        <p:txBody>
          <a:bodyPr wrap="square" lIns="0" tIns="0" rIns="0" bIns="0">
            <a:spAutoFit/>
          </a:bodyPr>
          <a:lstStyle/>
          <a:p>
            <a:pPr algn="l"/>
            <a:r>
              <a:rPr sz="1100" b="0" i="0">
                <a:solidFill>
                  <a:srgbClr val="0F172A"/>
                </a:solidFill>
                <a:latin typeface="Segoe UI"/>
              </a:rPr>
              <a:t>Column 1 — Antibody name
Column 2 — Spike position (1–1273)
Column 3 — Escape score (0 to 2+)</a:t>
            </a:r>
          </a:p>
        </p:txBody>
      </p:sp>
      <p:sp>
        <p:nvSpPr>
          <p:cNvPr id="18" name="Rectangle 17"/>
          <p:cNvSpPr/>
          <p:nvPr/>
        </p:nvSpPr>
        <p:spPr>
          <a:xfrm>
            <a:off x="6035040" y="3474720"/>
            <a:ext cx="1691640" cy="2926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3493008"/>
            <a:ext cx="1691640" cy="256032"/>
          </a:xfrm>
          <a:prstGeom prst="rect">
            <a:avLst/>
          </a:prstGeom>
          <a:noFill/>
        </p:spPr>
        <p:txBody>
          <a:bodyPr wrap="square" lIns="0" tIns="0" rIns="0" bIns="0">
            <a:spAutoFit/>
          </a:bodyPr>
          <a:lstStyle/>
          <a:p>
            <a:pPr algn="ctr"/>
            <a:r>
              <a:rPr sz="1000" b="1" i="0">
                <a:solidFill>
                  <a:srgbClr val="FFFFFF"/>
                </a:solidFill>
                <a:latin typeface="Segoe UI"/>
              </a:rPr>
              <a:t>Antibody</a:t>
            </a:r>
          </a:p>
        </p:txBody>
      </p:sp>
      <p:sp>
        <p:nvSpPr>
          <p:cNvPr id="20" name="Rectangle 19"/>
          <p:cNvSpPr/>
          <p:nvPr/>
        </p:nvSpPr>
        <p:spPr>
          <a:xfrm>
            <a:off x="7818119" y="3474720"/>
            <a:ext cx="1691640" cy="2926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18119" y="3493008"/>
            <a:ext cx="1691640" cy="256032"/>
          </a:xfrm>
          <a:prstGeom prst="rect">
            <a:avLst/>
          </a:prstGeom>
          <a:noFill/>
        </p:spPr>
        <p:txBody>
          <a:bodyPr wrap="square" lIns="0" tIns="0" rIns="0" bIns="0">
            <a:spAutoFit/>
          </a:bodyPr>
          <a:lstStyle/>
          <a:p>
            <a:pPr algn="ctr"/>
            <a:r>
              <a:rPr sz="1000" b="1" i="0">
                <a:solidFill>
                  <a:srgbClr val="FFFFFF"/>
                </a:solidFill>
                <a:latin typeface="Segoe UI"/>
              </a:rPr>
              <a:t>Site</a:t>
            </a:r>
          </a:p>
        </p:txBody>
      </p:sp>
      <p:sp>
        <p:nvSpPr>
          <p:cNvPr id="22" name="Rectangle 21"/>
          <p:cNvSpPr/>
          <p:nvPr/>
        </p:nvSpPr>
        <p:spPr>
          <a:xfrm>
            <a:off x="9601200" y="3474720"/>
            <a:ext cx="1691640" cy="2926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0" y="3493008"/>
            <a:ext cx="1691640" cy="256032"/>
          </a:xfrm>
          <a:prstGeom prst="rect">
            <a:avLst/>
          </a:prstGeom>
          <a:noFill/>
        </p:spPr>
        <p:txBody>
          <a:bodyPr wrap="square" lIns="0" tIns="0" rIns="0" bIns="0">
            <a:spAutoFit/>
          </a:bodyPr>
          <a:lstStyle/>
          <a:p>
            <a:pPr algn="ctr"/>
            <a:r>
              <a:rPr sz="1000" b="1" i="0">
                <a:solidFill>
                  <a:srgbClr val="FFFFFF"/>
                </a:solidFill>
                <a:latin typeface="Segoe UI"/>
              </a:rPr>
              <a:t>Escape Score</a:t>
            </a:r>
          </a:p>
        </p:txBody>
      </p:sp>
      <p:sp>
        <p:nvSpPr>
          <p:cNvPr id="24" name="Rectangle 23"/>
          <p:cNvSpPr/>
          <p:nvPr/>
        </p:nvSpPr>
        <p:spPr>
          <a:xfrm>
            <a:off x="6035040" y="3776472"/>
            <a:ext cx="1691640" cy="256032"/>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59" y="3794760"/>
            <a:ext cx="1645920" cy="219456"/>
          </a:xfrm>
          <a:prstGeom prst="rect">
            <a:avLst/>
          </a:prstGeom>
          <a:noFill/>
        </p:spPr>
        <p:txBody>
          <a:bodyPr wrap="square" lIns="0" tIns="0" rIns="0" bIns="0">
            <a:spAutoFit/>
          </a:bodyPr>
          <a:lstStyle/>
          <a:p>
            <a:pPr algn="l"/>
            <a:r>
              <a:rPr sz="900" b="0" i="0">
                <a:solidFill>
                  <a:srgbClr val="0F172A"/>
                </a:solidFill>
                <a:latin typeface="Segoe UI"/>
              </a:rPr>
              <a:t>LY-CoV016</a:t>
            </a:r>
          </a:p>
        </p:txBody>
      </p:sp>
      <p:sp>
        <p:nvSpPr>
          <p:cNvPr id="26" name="Rectangle 25"/>
          <p:cNvSpPr/>
          <p:nvPr/>
        </p:nvSpPr>
        <p:spPr>
          <a:xfrm>
            <a:off x="7818119" y="3776472"/>
            <a:ext cx="1691640" cy="256032"/>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0" y="3794760"/>
            <a:ext cx="1645920" cy="219456"/>
          </a:xfrm>
          <a:prstGeom prst="rect">
            <a:avLst/>
          </a:prstGeom>
          <a:noFill/>
        </p:spPr>
        <p:txBody>
          <a:bodyPr wrap="square" lIns="0" tIns="0" rIns="0" bIns="0">
            <a:spAutoFit/>
          </a:bodyPr>
          <a:lstStyle/>
          <a:p>
            <a:pPr algn="l"/>
            <a:r>
              <a:rPr sz="900" b="0" i="0">
                <a:solidFill>
                  <a:srgbClr val="0F172A"/>
                </a:solidFill>
                <a:latin typeface="Segoe UI"/>
              </a:rPr>
              <a:t>484</a:t>
            </a:r>
          </a:p>
        </p:txBody>
      </p:sp>
      <p:sp>
        <p:nvSpPr>
          <p:cNvPr id="28" name="Rectangle 27"/>
          <p:cNvSpPr/>
          <p:nvPr/>
        </p:nvSpPr>
        <p:spPr>
          <a:xfrm>
            <a:off x="9601200" y="3776472"/>
            <a:ext cx="1691640" cy="256032"/>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46920" y="3794760"/>
            <a:ext cx="1645920" cy="219456"/>
          </a:xfrm>
          <a:prstGeom prst="rect">
            <a:avLst/>
          </a:prstGeom>
          <a:noFill/>
        </p:spPr>
        <p:txBody>
          <a:bodyPr wrap="square" lIns="0" tIns="0" rIns="0" bIns="0">
            <a:spAutoFit/>
          </a:bodyPr>
          <a:lstStyle/>
          <a:p>
            <a:pPr algn="l"/>
            <a:r>
              <a:rPr sz="900" b="0" i="0">
                <a:solidFill>
                  <a:srgbClr val="0F172A"/>
                </a:solidFill>
                <a:latin typeface="Segoe UI"/>
              </a:rPr>
              <a:t>1.847  ← HIGH</a:t>
            </a:r>
          </a:p>
        </p:txBody>
      </p:sp>
      <p:sp>
        <p:nvSpPr>
          <p:cNvPr id="30" name="Rectangle 29"/>
          <p:cNvSpPr/>
          <p:nvPr/>
        </p:nvSpPr>
        <p:spPr>
          <a:xfrm>
            <a:off x="6035040" y="4050791"/>
            <a:ext cx="16916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80759" y="4069080"/>
            <a:ext cx="1645920" cy="219456"/>
          </a:xfrm>
          <a:prstGeom prst="rect">
            <a:avLst/>
          </a:prstGeom>
          <a:noFill/>
        </p:spPr>
        <p:txBody>
          <a:bodyPr wrap="square" lIns="0" tIns="0" rIns="0" bIns="0">
            <a:spAutoFit/>
          </a:bodyPr>
          <a:lstStyle/>
          <a:p>
            <a:pPr algn="l"/>
            <a:r>
              <a:rPr sz="900" b="0" i="0">
                <a:solidFill>
                  <a:srgbClr val="0F172A"/>
                </a:solidFill>
                <a:latin typeface="Segoe UI"/>
              </a:rPr>
              <a:t>LY-CoV016</a:t>
            </a:r>
          </a:p>
        </p:txBody>
      </p:sp>
      <p:sp>
        <p:nvSpPr>
          <p:cNvPr id="32" name="Rectangle 31"/>
          <p:cNvSpPr/>
          <p:nvPr/>
        </p:nvSpPr>
        <p:spPr>
          <a:xfrm>
            <a:off x="7818119" y="4050791"/>
            <a:ext cx="16916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0" y="4069080"/>
            <a:ext cx="1645920" cy="219456"/>
          </a:xfrm>
          <a:prstGeom prst="rect">
            <a:avLst/>
          </a:prstGeom>
          <a:noFill/>
        </p:spPr>
        <p:txBody>
          <a:bodyPr wrap="square" lIns="0" tIns="0" rIns="0" bIns="0">
            <a:spAutoFit/>
          </a:bodyPr>
          <a:lstStyle/>
          <a:p>
            <a:pPr algn="l"/>
            <a:r>
              <a:rPr sz="900" b="0" i="0">
                <a:solidFill>
                  <a:srgbClr val="0F172A"/>
                </a:solidFill>
                <a:latin typeface="Segoe UI"/>
              </a:rPr>
              <a:t>501</a:t>
            </a:r>
          </a:p>
        </p:txBody>
      </p:sp>
      <p:sp>
        <p:nvSpPr>
          <p:cNvPr id="34" name="Rectangle 33"/>
          <p:cNvSpPr/>
          <p:nvPr/>
        </p:nvSpPr>
        <p:spPr>
          <a:xfrm>
            <a:off x="9601200" y="4050791"/>
            <a:ext cx="16916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46920" y="4069080"/>
            <a:ext cx="1645920" cy="219456"/>
          </a:xfrm>
          <a:prstGeom prst="rect">
            <a:avLst/>
          </a:prstGeom>
          <a:noFill/>
        </p:spPr>
        <p:txBody>
          <a:bodyPr wrap="square" lIns="0" tIns="0" rIns="0" bIns="0">
            <a:spAutoFit/>
          </a:bodyPr>
          <a:lstStyle/>
          <a:p>
            <a:pPr algn="l"/>
            <a:r>
              <a:rPr sz="900" b="0" i="0">
                <a:solidFill>
                  <a:srgbClr val="0F172A"/>
                </a:solidFill>
                <a:latin typeface="Segoe UI"/>
              </a:rPr>
              <a:t>0.234</a:t>
            </a:r>
          </a:p>
        </p:txBody>
      </p:sp>
      <p:sp>
        <p:nvSpPr>
          <p:cNvPr id="36" name="Rectangle 35"/>
          <p:cNvSpPr/>
          <p:nvPr/>
        </p:nvSpPr>
        <p:spPr>
          <a:xfrm>
            <a:off x="6035040" y="4325112"/>
            <a:ext cx="1691640" cy="256032"/>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0759" y="4343400"/>
            <a:ext cx="1645920" cy="219456"/>
          </a:xfrm>
          <a:prstGeom prst="rect">
            <a:avLst/>
          </a:prstGeom>
          <a:noFill/>
        </p:spPr>
        <p:txBody>
          <a:bodyPr wrap="square" lIns="0" tIns="0" rIns="0" bIns="0">
            <a:spAutoFit/>
          </a:bodyPr>
          <a:lstStyle/>
          <a:p>
            <a:pPr algn="l"/>
            <a:r>
              <a:rPr sz="900" b="0" i="0">
                <a:solidFill>
                  <a:srgbClr val="0F172A"/>
                </a:solidFill>
                <a:latin typeface="Segoe UI"/>
              </a:rPr>
              <a:t>REGN10933</a:t>
            </a:r>
          </a:p>
        </p:txBody>
      </p:sp>
      <p:sp>
        <p:nvSpPr>
          <p:cNvPr id="38" name="Rectangle 37"/>
          <p:cNvSpPr/>
          <p:nvPr/>
        </p:nvSpPr>
        <p:spPr>
          <a:xfrm>
            <a:off x="7818119" y="4325112"/>
            <a:ext cx="1691640" cy="256032"/>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4343400"/>
            <a:ext cx="1645920" cy="219456"/>
          </a:xfrm>
          <a:prstGeom prst="rect">
            <a:avLst/>
          </a:prstGeom>
          <a:noFill/>
        </p:spPr>
        <p:txBody>
          <a:bodyPr wrap="square" lIns="0" tIns="0" rIns="0" bIns="0">
            <a:spAutoFit/>
          </a:bodyPr>
          <a:lstStyle/>
          <a:p>
            <a:pPr algn="l"/>
            <a:r>
              <a:rPr sz="900" b="0" i="0">
                <a:solidFill>
                  <a:srgbClr val="0F172A"/>
                </a:solidFill>
                <a:latin typeface="Segoe UI"/>
              </a:rPr>
              <a:t>456</a:t>
            </a:r>
          </a:p>
        </p:txBody>
      </p:sp>
      <p:sp>
        <p:nvSpPr>
          <p:cNvPr id="40" name="Rectangle 39"/>
          <p:cNvSpPr/>
          <p:nvPr/>
        </p:nvSpPr>
        <p:spPr>
          <a:xfrm>
            <a:off x="9601200" y="4325112"/>
            <a:ext cx="1691640" cy="256032"/>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46920" y="4343400"/>
            <a:ext cx="1645920" cy="219456"/>
          </a:xfrm>
          <a:prstGeom prst="rect">
            <a:avLst/>
          </a:prstGeom>
          <a:noFill/>
        </p:spPr>
        <p:txBody>
          <a:bodyPr wrap="square" lIns="0" tIns="0" rIns="0" bIns="0">
            <a:spAutoFit/>
          </a:bodyPr>
          <a:lstStyle/>
          <a:p>
            <a:pPr algn="l"/>
            <a:r>
              <a:rPr sz="900" b="0" i="0">
                <a:solidFill>
                  <a:srgbClr val="0F172A"/>
                </a:solidFill>
                <a:latin typeface="Segoe UI"/>
              </a:rPr>
              <a:t>2.103  ← HIGH</a:t>
            </a:r>
          </a:p>
        </p:txBody>
      </p:sp>
      <p:sp>
        <p:nvSpPr>
          <p:cNvPr id="42" name="Rectangle 41"/>
          <p:cNvSpPr/>
          <p:nvPr/>
        </p:nvSpPr>
        <p:spPr>
          <a:xfrm>
            <a:off x="6035040" y="4599431"/>
            <a:ext cx="16916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80759" y="4617720"/>
            <a:ext cx="1645920" cy="219456"/>
          </a:xfrm>
          <a:prstGeom prst="rect">
            <a:avLst/>
          </a:prstGeom>
          <a:noFill/>
        </p:spPr>
        <p:txBody>
          <a:bodyPr wrap="square" lIns="0" tIns="0" rIns="0" bIns="0">
            <a:spAutoFit/>
          </a:bodyPr>
          <a:lstStyle/>
          <a:p>
            <a:pPr algn="l"/>
            <a:r>
              <a:rPr sz="900" b="0" i="0">
                <a:solidFill>
                  <a:srgbClr val="0F172A"/>
                </a:solidFill>
                <a:latin typeface="Segoe UI"/>
              </a:rPr>
              <a:t>S309</a:t>
            </a:r>
          </a:p>
        </p:txBody>
      </p:sp>
      <p:sp>
        <p:nvSpPr>
          <p:cNvPr id="44" name="Rectangle 43"/>
          <p:cNvSpPr/>
          <p:nvPr/>
        </p:nvSpPr>
        <p:spPr>
          <a:xfrm>
            <a:off x="7818119" y="4599431"/>
            <a:ext cx="16916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63840" y="4617720"/>
            <a:ext cx="1645920" cy="219456"/>
          </a:xfrm>
          <a:prstGeom prst="rect">
            <a:avLst/>
          </a:prstGeom>
          <a:noFill/>
        </p:spPr>
        <p:txBody>
          <a:bodyPr wrap="square" lIns="0" tIns="0" rIns="0" bIns="0">
            <a:spAutoFit/>
          </a:bodyPr>
          <a:lstStyle/>
          <a:p>
            <a:pPr algn="l"/>
            <a:r>
              <a:rPr sz="900" b="0" i="0">
                <a:solidFill>
                  <a:srgbClr val="0F172A"/>
                </a:solidFill>
                <a:latin typeface="Segoe UI"/>
              </a:rPr>
              <a:t>346</a:t>
            </a:r>
          </a:p>
        </p:txBody>
      </p:sp>
      <p:sp>
        <p:nvSpPr>
          <p:cNvPr id="46" name="Rectangle 45"/>
          <p:cNvSpPr/>
          <p:nvPr/>
        </p:nvSpPr>
        <p:spPr>
          <a:xfrm>
            <a:off x="9601200" y="4599431"/>
            <a:ext cx="16916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20" y="4617720"/>
            <a:ext cx="1645920" cy="219456"/>
          </a:xfrm>
          <a:prstGeom prst="rect">
            <a:avLst/>
          </a:prstGeom>
          <a:noFill/>
        </p:spPr>
        <p:txBody>
          <a:bodyPr wrap="square" lIns="0" tIns="0" rIns="0" bIns="0">
            <a:spAutoFit/>
          </a:bodyPr>
          <a:lstStyle/>
          <a:p>
            <a:pPr algn="l"/>
            <a:r>
              <a:rPr sz="900" b="0" i="0">
                <a:solidFill>
                  <a:srgbClr val="0F172A"/>
                </a:solidFill>
                <a:latin typeface="Segoe UI"/>
              </a:rPr>
              <a:t>0.089</a:t>
            </a:r>
          </a:p>
        </p:txBody>
      </p:sp>
      <p:sp>
        <p:nvSpPr>
          <p:cNvPr id="48" name="Rectangle 47"/>
          <p:cNvSpPr/>
          <p:nvPr/>
        </p:nvSpPr>
        <p:spPr>
          <a:xfrm>
            <a:off x="6035040" y="4873752"/>
            <a:ext cx="1691640" cy="256032"/>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080759" y="4892040"/>
            <a:ext cx="1645920" cy="219456"/>
          </a:xfrm>
          <a:prstGeom prst="rect">
            <a:avLst/>
          </a:prstGeom>
          <a:noFill/>
        </p:spPr>
        <p:txBody>
          <a:bodyPr wrap="square" lIns="0" tIns="0" rIns="0" bIns="0">
            <a:spAutoFit/>
          </a:bodyPr>
          <a:lstStyle/>
          <a:p>
            <a:pPr algn="l"/>
            <a:r>
              <a:rPr sz="900" b="0" i="0">
                <a:solidFill>
                  <a:srgbClr val="0F172A"/>
                </a:solidFill>
                <a:latin typeface="Segoe UI"/>
              </a:rPr>
              <a:t>CB6</a:t>
            </a:r>
          </a:p>
        </p:txBody>
      </p:sp>
      <p:sp>
        <p:nvSpPr>
          <p:cNvPr id="50" name="Rectangle 49"/>
          <p:cNvSpPr/>
          <p:nvPr/>
        </p:nvSpPr>
        <p:spPr>
          <a:xfrm>
            <a:off x="7818119" y="4873752"/>
            <a:ext cx="1691640" cy="256032"/>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63840" y="4892040"/>
            <a:ext cx="1645920" cy="219456"/>
          </a:xfrm>
          <a:prstGeom prst="rect">
            <a:avLst/>
          </a:prstGeom>
          <a:noFill/>
        </p:spPr>
        <p:txBody>
          <a:bodyPr wrap="square" lIns="0" tIns="0" rIns="0" bIns="0">
            <a:spAutoFit/>
          </a:bodyPr>
          <a:lstStyle/>
          <a:p>
            <a:pPr algn="l"/>
            <a:r>
              <a:rPr sz="900" b="0" i="0">
                <a:solidFill>
                  <a:srgbClr val="0F172A"/>
                </a:solidFill>
                <a:latin typeface="Segoe UI"/>
              </a:rPr>
              <a:t>417</a:t>
            </a:r>
          </a:p>
        </p:txBody>
      </p:sp>
      <p:sp>
        <p:nvSpPr>
          <p:cNvPr id="52" name="Rectangle 51"/>
          <p:cNvSpPr/>
          <p:nvPr/>
        </p:nvSpPr>
        <p:spPr>
          <a:xfrm>
            <a:off x="9601200" y="4873752"/>
            <a:ext cx="1691640" cy="256032"/>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20" y="4892040"/>
            <a:ext cx="1645920" cy="219456"/>
          </a:xfrm>
          <a:prstGeom prst="rect">
            <a:avLst/>
          </a:prstGeom>
          <a:noFill/>
        </p:spPr>
        <p:txBody>
          <a:bodyPr wrap="square" lIns="0" tIns="0" rIns="0" bIns="0">
            <a:spAutoFit/>
          </a:bodyPr>
          <a:lstStyle/>
          <a:p>
            <a:pPr algn="l"/>
            <a:r>
              <a:rPr sz="900" b="0" i="0">
                <a:solidFill>
                  <a:srgbClr val="0F172A"/>
                </a:solidFill>
                <a:latin typeface="Segoe UI"/>
              </a:rPr>
              <a:t>0.023</a:t>
            </a:r>
          </a:p>
        </p:txBody>
      </p:sp>
      <p:sp>
        <p:nvSpPr>
          <p:cNvPr id="54" name="TextBox 53"/>
          <p:cNvSpPr txBox="1"/>
          <p:nvPr/>
        </p:nvSpPr>
        <p:spPr>
          <a:xfrm>
            <a:off x="457200" y="5989320"/>
            <a:ext cx="10972800" cy="640080"/>
          </a:xfrm>
          <a:prstGeom prst="rect">
            <a:avLst/>
          </a:prstGeom>
          <a:noFill/>
        </p:spPr>
        <p:txBody>
          <a:bodyPr wrap="square" lIns="0" tIns="0" rIns="0" bIns="0">
            <a:spAutoFit/>
          </a:bodyPr>
          <a:lstStyle/>
          <a:p>
            <a:pPr algn="l"/>
            <a:r>
              <a:rPr sz="1100" b="0" i="0">
                <a:solidFill>
                  <a:srgbClr val="0F172A"/>
                </a:solidFill>
                <a:latin typeface="Segoe UI"/>
              </a:rPr>
              <a:t>✅ We downloaded this data and processed it:
  • Normalize each antibody's scores independently (0 → 1)
  • Average the top 10% of escape scores per residue
  • Result: one danger score per Spike position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Database 2: Nextstrain — Real Viral Sequences</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16 million+ COVID genomes from patients around the world</a:t>
            </a:r>
          </a:p>
        </p:txBody>
      </p:sp>
      <p:sp>
        <p:nvSpPr>
          <p:cNvPr id="5" name="TextBox 4"/>
          <p:cNvSpPr txBox="1"/>
          <p:nvPr/>
        </p:nvSpPr>
        <p:spPr>
          <a:xfrm>
            <a:off x="457200" y="1280160"/>
            <a:ext cx="11247120" cy="685800"/>
          </a:xfrm>
          <a:prstGeom prst="rect">
            <a:avLst/>
          </a:prstGeom>
          <a:noFill/>
        </p:spPr>
        <p:txBody>
          <a:bodyPr wrap="square" lIns="0" tIns="0" rIns="0" bIns="0">
            <a:spAutoFit/>
          </a:bodyPr>
          <a:lstStyle/>
          <a:p>
            <a:pPr algn="l"/>
            <a:r>
              <a:rPr sz="1300" b="0" i="0">
                <a:solidFill>
                  <a:srgbClr val="0F172A"/>
                </a:solidFill>
                <a:latin typeface="Segoe UI"/>
              </a:rPr>
              <a:t>Nextstrain aggregates SARS-CoV-2 genome sequences from hospitals, clinics, and surveillance programs in 180+ countries. Each sequence tells us exactly what mutations a real virus had — giving us our ground truth for which positions ACTUALLY mutated.</a:t>
            </a:r>
          </a:p>
        </p:txBody>
      </p:sp>
      <p:sp>
        <p:nvSpPr>
          <p:cNvPr id="6" name="Rounded Rectangle 5"/>
          <p:cNvSpPr/>
          <p:nvPr/>
        </p:nvSpPr>
        <p:spPr>
          <a:xfrm>
            <a:off x="365760" y="2057400"/>
            <a:ext cx="6858000" cy="2011680"/>
          </a:xfrm>
          <a:prstGeom prst="roundRect">
            <a:avLst/>
          </a:prstGeom>
          <a:solidFill>
            <a:srgbClr val="F0FDF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48840"/>
            <a:ext cx="6400800" cy="347472"/>
          </a:xfrm>
          <a:prstGeom prst="rect">
            <a:avLst/>
          </a:prstGeom>
          <a:noFill/>
        </p:spPr>
        <p:txBody>
          <a:bodyPr wrap="square" lIns="0" tIns="0" rIns="0" bIns="0">
            <a:spAutoFit/>
          </a:bodyPr>
          <a:lstStyle/>
          <a:p>
            <a:pPr algn="l"/>
            <a:r>
              <a:rPr sz="1300" b="1" i="0">
                <a:solidFill>
                  <a:srgbClr val="10B981"/>
                </a:solidFill>
                <a:latin typeface="Segoe UI"/>
              </a:rPr>
              <a:t>🧬 Sequence File Format (FASTA)</a:t>
            </a:r>
          </a:p>
        </p:txBody>
      </p:sp>
      <p:sp>
        <p:nvSpPr>
          <p:cNvPr id="8" name="TextBox 7"/>
          <p:cNvSpPr txBox="1"/>
          <p:nvPr/>
        </p:nvSpPr>
        <p:spPr>
          <a:xfrm>
            <a:off x="594360" y="2578608"/>
            <a:ext cx="6492240" cy="822960"/>
          </a:xfrm>
          <a:prstGeom prst="rect">
            <a:avLst/>
          </a:prstGeom>
          <a:noFill/>
        </p:spPr>
        <p:txBody>
          <a:bodyPr wrap="square" lIns="0" tIns="0" rIns="0" bIns="0">
            <a:spAutoFit/>
          </a:bodyPr>
          <a:lstStyle/>
          <a:p>
            <a:pPr algn="l"/>
            <a:r>
              <a:rPr sz="1050" b="0" i="1">
                <a:solidFill>
                  <a:srgbClr val="166534"/>
                </a:solidFill>
                <a:latin typeface="Segoe UI"/>
              </a:rPr>
              <a:t>&gt;USA/California/2024|EPI_ISL_9999|2024-01-15
MFVFLVLLPLVSSQCVNLTTRTQL...GVKLHYT
(full 1,273 amino acid Spike sequence for one patient sample)</a:t>
            </a:r>
          </a:p>
        </p:txBody>
      </p:sp>
      <p:sp>
        <p:nvSpPr>
          <p:cNvPr id="9" name="TextBox 8"/>
          <p:cNvSpPr txBox="1"/>
          <p:nvPr/>
        </p:nvSpPr>
        <p:spPr>
          <a:xfrm>
            <a:off x="594360" y="3383280"/>
            <a:ext cx="6492240" cy="320040"/>
          </a:xfrm>
          <a:prstGeom prst="rect">
            <a:avLst/>
          </a:prstGeom>
          <a:noFill/>
        </p:spPr>
        <p:txBody>
          <a:bodyPr wrap="square" lIns="0" tIns="0" rIns="0" bIns="0">
            <a:spAutoFit/>
          </a:bodyPr>
          <a:lstStyle/>
          <a:p>
            <a:pPr algn="l"/>
            <a:r>
              <a:rPr sz="1000" b="0" i="0">
                <a:solidFill>
                  <a:srgbClr val="64748B"/>
                </a:solidFill>
                <a:latin typeface="Segoe UI"/>
              </a:rPr>
              <a:t>Each '&gt;' line = one patient's virus | Below = full genome sequence</a:t>
            </a:r>
          </a:p>
        </p:txBody>
      </p:sp>
      <p:sp>
        <p:nvSpPr>
          <p:cNvPr id="10" name="Rounded Rectangle 9"/>
          <p:cNvSpPr/>
          <p:nvPr/>
        </p:nvSpPr>
        <p:spPr>
          <a:xfrm>
            <a:off x="365760" y="4160520"/>
            <a:ext cx="6858000" cy="1417320"/>
          </a:xfrm>
          <a:prstGeom prst="roundRect">
            <a:avLst/>
          </a:prstGeom>
          <a:solidFill>
            <a:srgbClr val="F0FDF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251960"/>
            <a:ext cx="6400800" cy="347472"/>
          </a:xfrm>
          <a:prstGeom prst="rect">
            <a:avLst/>
          </a:prstGeom>
          <a:noFill/>
        </p:spPr>
        <p:txBody>
          <a:bodyPr wrap="square" lIns="0" tIns="0" rIns="0" bIns="0">
            <a:spAutoFit/>
          </a:bodyPr>
          <a:lstStyle/>
          <a:p>
            <a:pPr algn="l"/>
            <a:r>
              <a:rPr sz="1300" b="1" i="0">
                <a:solidFill>
                  <a:srgbClr val="10B981"/>
                </a:solidFill>
                <a:latin typeface="Segoe UI"/>
              </a:rPr>
              <a:t>📋 Metadata File Format (TSV)</a:t>
            </a:r>
          </a:p>
        </p:txBody>
      </p:sp>
      <p:sp>
        <p:nvSpPr>
          <p:cNvPr id="12" name="TextBox 11"/>
          <p:cNvSpPr txBox="1"/>
          <p:nvPr/>
        </p:nvSpPr>
        <p:spPr>
          <a:xfrm>
            <a:off x="594360" y="4663440"/>
            <a:ext cx="6492240" cy="777240"/>
          </a:xfrm>
          <a:prstGeom prst="rect">
            <a:avLst/>
          </a:prstGeom>
          <a:noFill/>
        </p:spPr>
        <p:txBody>
          <a:bodyPr wrap="square" lIns="0" tIns="0" rIns="0" bIns="0">
            <a:spAutoFit/>
          </a:bodyPr>
          <a:lstStyle/>
          <a:p>
            <a:pPr algn="l"/>
            <a:r>
              <a:rPr sz="1050" b="0" i="1">
                <a:solidFill>
                  <a:srgbClr val="166534"/>
                </a:solidFill>
                <a:latin typeface="Segoe UI"/>
              </a:rPr>
              <a:t>Strain ID  |  Collection Date  |  Pango Lineage  |  WHO Clade
USA/CA/001   |  2024-01-15        |  JN.1            |  23I
India/MH/002 |  2023-11-20        |  XBB.1.5         |  23B</a:t>
            </a:r>
          </a:p>
        </p:txBody>
      </p:sp>
      <p:sp>
        <p:nvSpPr>
          <p:cNvPr id="13" name="Rounded Rectangle 12"/>
          <p:cNvSpPr/>
          <p:nvPr/>
        </p:nvSpPr>
        <p:spPr>
          <a:xfrm>
            <a:off x="7406640" y="2057400"/>
            <a:ext cx="4572000" cy="3520440"/>
          </a:xfrm>
          <a:prstGeom prst="roundRect">
            <a:avLst/>
          </a:prstGeom>
          <a:solidFill>
            <a:srgbClr val="EEF2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2148840"/>
            <a:ext cx="4297680" cy="347472"/>
          </a:xfrm>
          <a:prstGeom prst="rect">
            <a:avLst/>
          </a:prstGeom>
          <a:noFill/>
        </p:spPr>
        <p:txBody>
          <a:bodyPr wrap="square" lIns="0" tIns="0" rIns="0" bIns="0">
            <a:spAutoFit/>
          </a:bodyPr>
          <a:lstStyle/>
          <a:p>
            <a:pPr algn="l"/>
            <a:r>
              <a:rPr sz="1300" b="1" i="0">
                <a:solidFill>
                  <a:srgbClr val="10B981"/>
                </a:solidFill>
                <a:latin typeface="Segoe UI"/>
              </a:rPr>
              <a:t>How We Used This Data</a:t>
            </a:r>
          </a:p>
        </p:txBody>
      </p:sp>
      <p:sp>
        <p:nvSpPr>
          <p:cNvPr id="15" name="TextBox 14"/>
          <p:cNvSpPr txBox="1"/>
          <p:nvPr/>
        </p:nvSpPr>
        <p:spPr>
          <a:xfrm>
            <a:off x="7543800" y="2606040"/>
            <a:ext cx="365760" cy="457200"/>
          </a:xfrm>
          <a:prstGeom prst="rect">
            <a:avLst/>
          </a:prstGeom>
          <a:noFill/>
        </p:spPr>
        <p:txBody>
          <a:bodyPr wrap="square" lIns="0" tIns="0" rIns="0" bIns="0">
            <a:spAutoFit/>
          </a:bodyPr>
          <a:lstStyle/>
          <a:p>
            <a:pPr algn="l"/>
            <a:r>
              <a:rPr sz="1600" b="0" i="0">
                <a:solidFill>
                  <a:srgbClr val="0F172A"/>
                </a:solidFill>
                <a:latin typeface="Segoe UI"/>
              </a:rPr>
              <a:t>🧹</a:t>
            </a:r>
          </a:p>
        </p:txBody>
      </p:sp>
      <p:sp>
        <p:nvSpPr>
          <p:cNvPr id="16" name="TextBox 15"/>
          <p:cNvSpPr txBox="1"/>
          <p:nvPr/>
        </p:nvSpPr>
        <p:spPr>
          <a:xfrm>
            <a:off x="7955279" y="2624328"/>
            <a:ext cx="3840480" cy="502920"/>
          </a:xfrm>
          <a:prstGeom prst="rect">
            <a:avLst/>
          </a:prstGeom>
          <a:noFill/>
        </p:spPr>
        <p:txBody>
          <a:bodyPr wrap="square" lIns="0" tIns="0" rIns="0" bIns="0">
            <a:spAutoFit/>
          </a:bodyPr>
          <a:lstStyle/>
          <a:p>
            <a:pPr algn="l"/>
            <a:r>
              <a:rPr sz="1050" b="0" i="0">
                <a:solidFill>
                  <a:srgbClr val="0F172A"/>
                </a:solidFill>
                <a:latin typeface="Segoe UI"/>
              </a:rPr>
              <a:t>Quality filter: remove sequences with &gt;5% unknown bases</a:t>
            </a:r>
          </a:p>
        </p:txBody>
      </p:sp>
      <p:sp>
        <p:nvSpPr>
          <p:cNvPr id="17" name="TextBox 16"/>
          <p:cNvSpPr txBox="1"/>
          <p:nvPr/>
        </p:nvSpPr>
        <p:spPr>
          <a:xfrm>
            <a:off x="7543800" y="3182112"/>
            <a:ext cx="365760" cy="457200"/>
          </a:xfrm>
          <a:prstGeom prst="rect">
            <a:avLst/>
          </a:prstGeom>
          <a:noFill/>
        </p:spPr>
        <p:txBody>
          <a:bodyPr wrap="square" lIns="0" tIns="0" rIns="0" bIns="0">
            <a:spAutoFit/>
          </a:bodyPr>
          <a:lstStyle/>
          <a:p>
            <a:pPr algn="l"/>
            <a:r>
              <a:rPr sz="1600" b="0" i="0">
                <a:solidFill>
                  <a:srgbClr val="0F172A"/>
                </a:solidFill>
                <a:latin typeface="Segoe UI"/>
              </a:rPr>
              <a:t>📅</a:t>
            </a:r>
          </a:p>
        </p:txBody>
      </p:sp>
      <p:sp>
        <p:nvSpPr>
          <p:cNvPr id="18" name="TextBox 17"/>
          <p:cNvSpPr txBox="1"/>
          <p:nvPr/>
        </p:nvSpPr>
        <p:spPr>
          <a:xfrm>
            <a:off x="7955279" y="3200400"/>
            <a:ext cx="3840480" cy="502920"/>
          </a:xfrm>
          <a:prstGeom prst="rect">
            <a:avLst/>
          </a:prstGeom>
          <a:noFill/>
        </p:spPr>
        <p:txBody>
          <a:bodyPr wrap="square" lIns="0" tIns="0" rIns="0" bIns="0">
            <a:spAutoFit/>
          </a:bodyPr>
          <a:lstStyle/>
          <a:p>
            <a:pPr algn="l"/>
            <a:r>
              <a:rPr sz="1050" b="0" i="0">
                <a:solidFill>
                  <a:srgbClr val="0F172A"/>
                </a:solidFill>
                <a:latin typeface="Segoe UI"/>
              </a:rPr>
              <a:t>Temporal split: train on sequences before Dec 2023</a:t>
            </a:r>
          </a:p>
        </p:txBody>
      </p:sp>
      <p:sp>
        <p:nvSpPr>
          <p:cNvPr id="19" name="TextBox 18"/>
          <p:cNvSpPr txBox="1"/>
          <p:nvPr/>
        </p:nvSpPr>
        <p:spPr>
          <a:xfrm>
            <a:off x="7543800" y="3758184"/>
            <a:ext cx="365760" cy="457200"/>
          </a:xfrm>
          <a:prstGeom prst="rect">
            <a:avLst/>
          </a:prstGeom>
          <a:noFill/>
        </p:spPr>
        <p:txBody>
          <a:bodyPr wrap="square" lIns="0" tIns="0" rIns="0" bIns="0">
            <a:spAutoFit/>
          </a:bodyPr>
          <a:lstStyle/>
          <a:p>
            <a:pPr algn="l"/>
            <a:r>
              <a:rPr sz="1600" b="0" i="0">
                <a:solidFill>
                  <a:srgbClr val="0F172A"/>
                </a:solidFill>
                <a:latin typeface="Segoe UI"/>
              </a:rPr>
              <a:t>🌍</a:t>
            </a:r>
          </a:p>
        </p:txBody>
      </p:sp>
      <p:sp>
        <p:nvSpPr>
          <p:cNvPr id="20" name="TextBox 19"/>
          <p:cNvSpPr txBox="1"/>
          <p:nvPr/>
        </p:nvSpPr>
        <p:spPr>
          <a:xfrm>
            <a:off x="7955279" y="3776472"/>
            <a:ext cx="3840480" cy="502920"/>
          </a:xfrm>
          <a:prstGeom prst="rect">
            <a:avLst/>
          </a:prstGeom>
          <a:noFill/>
        </p:spPr>
        <p:txBody>
          <a:bodyPr wrap="square" lIns="0" tIns="0" rIns="0" bIns="0">
            <a:spAutoFit/>
          </a:bodyPr>
          <a:lstStyle/>
          <a:p>
            <a:pPr algn="l"/>
            <a:r>
              <a:rPr sz="1050" b="0" i="0">
                <a:solidFill>
                  <a:srgbClr val="0F172A"/>
                </a:solidFill>
                <a:latin typeface="Segoe UI"/>
              </a:rPr>
              <a:t>Subsample: 1 sequence per variant per month (balance)</a:t>
            </a:r>
          </a:p>
        </p:txBody>
      </p:sp>
      <p:sp>
        <p:nvSpPr>
          <p:cNvPr id="21" name="TextBox 20"/>
          <p:cNvSpPr txBox="1"/>
          <p:nvPr/>
        </p:nvSpPr>
        <p:spPr>
          <a:xfrm>
            <a:off x="7543800" y="4334256"/>
            <a:ext cx="365760" cy="457200"/>
          </a:xfrm>
          <a:prstGeom prst="rect">
            <a:avLst/>
          </a:prstGeom>
          <a:noFill/>
        </p:spPr>
        <p:txBody>
          <a:bodyPr wrap="square" lIns="0" tIns="0" rIns="0" bIns="0">
            <a:spAutoFit/>
          </a:bodyPr>
          <a:lstStyle/>
          <a:p>
            <a:pPr algn="l"/>
            <a:r>
              <a:rPr sz="1600" b="0" i="0">
                <a:solidFill>
                  <a:srgbClr val="0F172A"/>
                </a:solidFill>
                <a:latin typeface="Segoe UI"/>
              </a:rPr>
              <a:t>🔗</a:t>
            </a:r>
          </a:p>
        </p:txBody>
      </p:sp>
      <p:sp>
        <p:nvSpPr>
          <p:cNvPr id="22" name="TextBox 21"/>
          <p:cNvSpPr txBox="1"/>
          <p:nvPr/>
        </p:nvSpPr>
        <p:spPr>
          <a:xfrm>
            <a:off x="7955279" y="4352544"/>
            <a:ext cx="3840480" cy="502920"/>
          </a:xfrm>
          <a:prstGeom prst="rect">
            <a:avLst/>
          </a:prstGeom>
          <a:noFill/>
        </p:spPr>
        <p:txBody>
          <a:bodyPr wrap="square" lIns="0" tIns="0" rIns="0" bIns="0">
            <a:spAutoFit/>
          </a:bodyPr>
          <a:lstStyle/>
          <a:p>
            <a:pPr algn="l"/>
            <a:r>
              <a:rPr sz="1050" b="0" i="0">
                <a:solidFill>
                  <a:srgbClr val="0F172A"/>
                </a:solidFill>
                <a:latin typeface="Segoe UI"/>
              </a:rPr>
              <a:t>Align to reference: compare every sequence to original Wuhan Spike</a:t>
            </a:r>
          </a:p>
        </p:txBody>
      </p:sp>
      <p:sp>
        <p:nvSpPr>
          <p:cNvPr id="23" name="TextBox 22"/>
          <p:cNvSpPr txBox="1"/>
          <p:nvPr/>
        </p:nvSpPr>
        <p:spPr>
          <a:xfrm>
            <a:off x="7543800" y="4910328"/>
            <a:ext cx="365760" cy="457200"/>
          </a:xfrm>
          <a:prstGeom prst="rect">
            <a:avLst/>
          </a:prstGeom>
          <a:noFill/>
        </p:spPr>
        <p:txBody>
          <a:bodyPr wrap="square" lIns="0" tIns="0" rIns="0" bIns="0">
            <a:spAutoFit/>
          </a:bodyPr>
          <a:lstStyle/>
          <a:p>
            <a:pPr algn="l"/>
            <a:r>
              <a:rPr sz="1600" b="0" i="0">
                <a:solidFill>
                  <a:srgbClr val="0F172A"/>
                </a:solidFill>
                <a:latin typeface="Segoe UI"/>
              </a:rPr>
              <a:t>🎯</a:t>
            </a:r>
          </a:p>
        </p:txBody>
      </p:sp>
      <p:sp>
        <p:nvSpPr>
          <p:cNvPr id="24" name="TextBox 23"/>
          <p:cNvSpPr txBox="1"/>
          <p:nvPr/>
        </p:nvSpPr>
        <p:spPr>
          <a:xfrm>
            <a:off x="7955279" y="4928616"/>
            <a:ext cx="3840480" cy="502920"/>
          </a:xfrm>
          <a:prstGeom prst="rect">
            <a:avLst/>
          </a:prstGeom>
          <a:noFill/>
        </p:spPr>
        <p:txBody>
          <a:bodyPr wrap="square" lIns="0" tIns="0" rIns="0" bIns="0">
            <a:spAutoFit/>
          </a:bodyPr>
          <a:lstStyle/>
          <a:p>
            <a:pPr algn="l"/>
            <a:r>
              <a:rPr sz="1050" b="0" i="0">
                <a:solidFill>
                  <a:srgbClr val="0F172A"/>
                </a:solidFill>
                <a:latin typeface="Segoe UI"/>
              </a:rPr>
              <a:t>Label hotspots: positions that actually mutated in real viruses</a:t>
            </a:r>
          </a:p>
        </p:txBody>
      </p:sp>
      <p:sp>
        <p:nvSpPr>
          <p:cNvPr id="25" name="TextBox 24"/>
          <p:cNvSpPr txBox="1"/>
          <p:nvPr/>
        </p:nvSpPr>
        <p:spPr>
          <a:xfrm>
            <a:off x="365760" y="5669280"/>
            <a:ext cx="11430000" cy="548640"/>
          </a:xfrm>
          <a:prstGeom prst="rect">
            <a:avLst/>
          </a:prstGeom>
          <a:noFill/>
        </p:spPr>
        <p:txBody>
          <a:bodyPr wrap="square" lIns="0" tIns="0" rIns="0" bIns="0">
            <a:spAutoFit/>
          </a:bodyPr>
          <a:lstStyle/>
          <a:p>
            <a:pPr algn="l"/>
            <a:r>
              <a:rPr sz="1150" b="1" i="0">
                <a:solidFill>
                  <a:srgbClr val="4F46E5"/>
                </a:solidFill>
                <a:latin typeface="Segoe UI"/>
              </a:rPr>
              <a:t>📌 Key insight: Strict time cutoff (Dec 31, 2023) means the model NEVER saw JN.1, KP.3, or XEC during training — making the test truly prospective.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Database 3: PDB Crystal Structure (6VXX)</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The actual 3D atomic coordinates of the SARS-CoV-2 Spike protein</a:t>
            </a:r>
          </a:p>
        </p:txBody>
      </p:sp>
      <p:sp>
        <p:nvSpPr>
          <p:cNvPr id="5" name="TextBox 4"/>
          <p:cNvSpPr txBox="1"/>
          <p:nvPr/>
        </p:nvSpPr>
        <p:spPr>
          <a:xfrm>
            <a:off x="457200" y="1280160"/>
            <a:ext cx="11247120" cy="685800"/>
          </a:xfrm>
          <a:prstGeom prst="rect">
            <a:avLst/>
          </a:prstGeom>
          <a:noFill/>
        </p:spPr>
        <p:txBody>
          <a:bodyPr wrap="square" lIns="0" tIns="0" rIns="0" bIns="0">
            <a:spAutoFit/>
          </a:bodyPr>
          <a:lstStyle/>
          <a:p>
            <a:pPr algn="l"/>
            <a:r>
              <a:rPr sz="1300" b="0" i="0">
                <a:solidFill>
                  <a:srgbClr val="0F172A"/>
                </a:solidFill>
                <a:latin typeface="Segoe UI"/>
              </a:rPr>
              <a:t>In 2020, scientists flash-froze the Spike protein and bombarded it with electron beams (cryo-EM) to reveal its exact 3D shape at the atomic level — down to 2.8 Ångstroms (0.00000028 mm) resolution. This structure is PDB entry 6VXX.</a:t>
            </a:r>
          </a:p>
        </p:txBody>
      </p:sp>
      <p:sp>
        <p:nvSpPr>
          <p:cNvPr id="6" name="Rounded Rectangle 5"/>
          <p:cNvSpPr/>
          <p:nvPr/>
        </p:nvSpPr>
        <p:spPr>
          <a:xfrm>
            <a:off x="365760" y="2057400"/>
            <a:ext cx="6858000" cy="2286000"/>
          </a:xfrm>
          <a:prstGeom prst="roundRect">
            <a:avLst/>
          </a:prstGeom>
          <a:solidFill>
            <a:srgbClr val="FDF6EC"/>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48840"/>
            <a:ext cx="6400800" cy="347472"/>
          </a:xfrm>
          <a:prstGeom prst="rect">
            <a:avLst/>
          </a:prstGeom>
          <a:noFill/>
        </p:spPr>
        <p:txBody>
          <a:bodyPr wrap="square" lIns="0" tIns="0" rIns="0" bIns="0">
            <a:spAutoFit/>
          </a:bodyPr>
          <a:lstStyle/>
          <a:p>
            <a:pPr algn="l"/>
            <a:r>
              <a:rPr sz="1300" b="1" i="0">
                <a:solidFill>
                  <a:srgbClr val="F59E0B"/>
                </a:solidFill>
                <a:latin typeface="Segoe UI"/>
              </a:rPr>
              <a:t>📄 PDB File Format (plain text)</a:t>
            </a:r>
          </a:p>
        </p:txBody>
      </p:sp>
      <p:sp>
        <p:nvSpPr>
          <p:cNvPr id="8" name="TextBox 7"/>
          <p:cNvSpPr txBox="1"/>
          <p:nvPr/>
        </p:nvSpPr>
        <p:spPr>
          <a:xfrm>
            <a:off x="594360" y="2578608"/>
            <a:ext cx="6492240" cy="1097280"/>
          </a:xfrm>
          <a:prstGeom prst="rect">
            <a:avLst/>
          </a:prstGeom>
          <a:noFill/>
        </p:spPr>
        <p:txBody>
          <a:bodyPr wrap="square" lIns="0" tIns="0" rIns="0" bIns="0">
            <a:spAutoFit/>
          </a:bodyPr>
          <a:lstStyle/>
          <a:p>
            <a:pPr algn="l"/>
            <a:r>
              <a:rPr sz="1000" b="0" i="1">
                <a:solidFill>
                  <a:srgbClr val="5C2D00"/>
                </a:solidFill>
                <a:latin typeface="Segoe UI"/>
              </a:rPr>
              <a:t>ATOM    1   N   MET A  14   -4.562  57.432  28.941  1.00 93.20   N
ATOM    2   CA  MET A  14   -5.012  56.891  30.201  1.00 93.20   C
ATOM    3   C   MET A  14   -4.073  55.812  30.714  1.00 93.20   C
...  (one line per ATOM, X Y Z coordinates in Ångstroms)
ATOM 1842   CA  GLU A 484   12.341  35.210  18.903  1.00 44.80   C
                                      ↑ This is residue E484!</a:t>
            </a:r>
          </a:p>
        </p:txBody>
      </p:sp>
      <p:sp>
        <p:nvSpPr>
          <p:cNvPr id="9" name="Rounded Rectangle 8"/>
          <p:cNvSpPr/>
          <p:nvPr/>
        </p:nvSpPr>
        <p:spPr>
          <a:xfrm>
            <a:off x="365760" y="4434840"/>
            <a:ext cx="5029200" cy="2194560"/>
          </a:xfrm>
          <a:prstGeom prst="roundRect">
            <a:avLst/>
          </a:prstGeom>
          <a:solidFill>
            <a:srgbClr val="EEF2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526280"/>
            <a:ext cx="4754880" cy="347472"/>
          </a:xfrm>
          <a:prstGeom prst="rect">
            <a:avLst/>
          </a:prstGeom>
          <a:noFill/>
        </p:spPr>
        <p:txBody>
          <a:bodyPr wrap="square" lIns="0" tIns="0" rIns="0" bIns="0">
            <a:spAutoFit/>
          </a:bodyPr>
          <a:lstStyle/>
          <a:p>
            <a:pPr algn="l"/>
            <a:r>
              <a:rPr sz="1300" b="1" i="0">
                <a:solidFill>
                  <a:srgbClr val="F59E0B"/>
                </a:solidFill>
                <a:latin typeface="Segoe UI"/>
              </a:rPr>
              <a:t>What We Extract From 6VXX</a:t>
            </a:r>
          </a:p>
        </p:txBody>
      </p:sp>
      <p:sp>
        <p:nvSpPr>
          <p:cNvPr id="11" name="TextBox 10"/>
          <p:cNvSpPr txBox="1"/>
          <p:nvPr/>
        </p:nvSpPr>
        <p:spPr>
          <a:xfrm>
            <a:off x="548640" y="4956048"/>
            <a:ext cx="4663440" cy="292608"/>
          </a:xfrm>
          <a:prstGeom prst="rect">
            <a:avLst/>
          </a:prstGeom>
          <a:noFill/>
        </p:spPr>
        <p:txBody>
          <a:bodyPr wrap="square" lIns="0" tIns="0" rIns="0" bIns="0">
            <a:spAutoFit/>
          </a:bodyPr>
          <a:lstStyle/>
          <a:p>
            <a:pPr algn="l"/>
            <a:r>
              <a:rPr sz="1000" b="0" i="0">
                <a:solidFill>
                  <a:srgbClr val="0F172A"/>
                </a:solidFill>
                <a:latin typeface="Segoe UI"/>
              </a:rPr>
              <a:t>• SASA: Solvent Accessible Surface Area — how exposed is each amino acid to water/antibodies?</a:t>
            </a:r>
          </a:p>
        </p:txBody>
      </p:sp>
      <p:sp>
        <p:nvSpPr>
          <p:cNvPr id="12" name="TextBox 11"/>
          <p:cNvSpPr txBox="1"/>
          <p:nvPr/>
        </p:nvSpPr>
        <p:spPr>
          <a:xfrm>
            <a:off x="548640" y="5276088"/>
            <a:ext cx="4663440" cy="292608"/>
          </a:xfrm>
          <a:prstGeom prst="rect">
            <a:avLst/>
          </a:prstGeom>
          <a:noFill/>
        </p:spPr>
        <p:txBody>
          <a:bodyPr wrap="square" lIns="0" tIns="0" rIns="0" bIns="0">
            <a:spAutoFit/>
          </a:bodyPr>
          <a:lstStyle/>
          <a:p>
            <a:pPr algn="l"/>
            <a:r>
              <a:rPr sz="1000" b="0" i="0">
                <a:solidFill>
                  <a:srgbClr val="0F172A"/>
                </a:solidFill>
                <a:latin typeface="Segoe UI"/>
              </a:rPr>
              <a:t>• φ / ψ angles: Backbone dihedral angles — tells us the local protein conformation (helix, sheet, loop)</a:t>
            </a:r>
          </a:p>
        </p:txBody>
      </p:sp>
      <p:sp>
        <p:nvSpPr>
          <p:cNvPr id="13" name="TextBox 12"/>
          <p:cNvSpPr txBox="1"/>
          <p:nvPr/>
        </p:nvSpPr>
        <p:spPr>
          <a:xfrm>
            <a:off x="548640" y="5596128"/>
            <a:ext cx="4663440" cy="292608"/>
          </a:xfrm>
          <a:prstGeom prst="rect">
            <a:avLst/>
          </a:prstGeom>
          <a:noFill/>
        </p:spPr>
        <p:txBody>
          <a:bodyPr wrap="square" lIns="0" tIns="0" rIns="0" bIns="0">
            <a:spAutoFit/>
          </a:bodyPr>
          <a:lstStyle/>
          <a:p>
            <a:pPr algn="l"/>
            <a:r>
              <a:rPr sz="1000" b="0" i="0">
                <a:solidFill>
                  <a:srgbClr val="0F172A"/>
                </a:solidFill>
                <a:latin typeface="Segoe UI"/>
              </a:rPr>
              <a:t>• Secondary structure: Is this position in an alpha helix? A beta sheet? A flexible loop?</a:t>
            </a:r>
          </a:p>
        </p:txBody>
      </p:sp>
      <p:sp>
        <p:nvSpPr>
          <p:cNvPr id="14" name="TextBox 13"/>
          <p:cNvSpPr txBox="1"/>
          <p:nvPr/>
        </p:nvSpPr>
        <p:spPr>
          <a:xfrm>
            <a:off x="548640" y="5916168"/>
            <a:ext cx="4663440" cy="292608"/>
          </a:xfrm>
          <a:prstGeom prst="rect">
            <a:avLst/>
          </a:prstGeom>
          <a:noFill/>
        </p:spPr>
        <p:txBody>
          <a:bodyPr wrap="square" lIns="0" tIns="0" rIns="0" bIns="0">
            <a:spAutoFit/>
          </a:bodyPr>
          <a:lstStyle/>
          <a:p>
            <a:pPr algn="l"/>
            <a:r>
              <a:rPr sz="1000" b="0" i="0">
                <a:solidFill>
                  <a:srgbClr val="0F172A"/>
                </a:solidFill>
                <a:latin typeface="Segoe UI"/>
              </a:rPr>
              <a:t>• Backbone vectors: 3D unit vectors showing which direction each part of the chain points in space</a:t>
            </a:r>
          </a:p>
        </p:txBody>
      </p:sp>
      <p:sp>
        <p:nvSpPr>
          <p:cNvPr id="15" name="TextBox 14"/>
          <p:cNvSpPr txBox="1"/>
          <p:nvPr/>
        </p:nvSpPr>
        <p:spPr>
          <a:xfrm>
            <a:off x="548640" y="6236208"/>
            <a:ext cx="4663440" cy="292608"/>
          </a:xfrm>
          <a:prstGeom prst="rect">
            <a:avLst/>
          </a:prstGeom>
          <a:noFill/>
        </p:spPr>
        <p:txBody>
          <a:bodyPr wrap="square" lIns="0" tIns="0" rIns="0" bIns="0">
            <a:spAutoFit/>
          </a:bodyPr>
          <a:lstStyle/>
          <a:p>
            <a:pPr algn="l"/>
            <a:r>
              <a:rPr sz="1000" b="0" i="0">
                <a:solidFill>
                  <a:srgbClr val="0F172A"/>
                </a:solidFill>
                <a:latin typeface="Segoe UI"/>
              </a:rPr>
              <a:t>• Contact graph: Which residues are within 10 Å of each other? Builds a 3D neighborhood map</a:t>
            </a:r>
          </a:p>
        </p:txBody>
      </p:sp>
      <p:sp>
        <p:nvSpPr>
          <p:cNvPr id="16" name="Rounded Rectangle 15"/>
          <p:cNvSpPr/>
          <p:nvPr/>
        </p:nvSpPr>
        <p:spPr>
          <a:xfrm>
            <a:off x="5577840" y="4434840"/>
            <a:ext cx="6126480" cy="2194560"/>
          </a:xfrm>
          <a:prstGeom prst="roundRect">
            <a:avLst/>
          </a:prstGeom>
          <a:solidFill>
            <a:srgbClr val="EEF2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0" y="4526280"/>
            <a:ext cx="5852160" cy="347472"/>
          </a:xfrm>
          <a:prstGeom prst="rect">
            <a:avLst/>
          </a:prstGeom>
          <a:noFill/>
        </p:spPr>
        <p:txBody>
          <a:bodyPr wrap="square" lIns="0" tIns="0" rIns="0" bIns="0">
            <a:spAutoFit/>
          </a:bodyPr>
          <a:lstStyle/>
          <a:p>
            <a:pPr algn="l"/>
            <a:r>
              <a:rPr sz="1300" b="1" i="0">
                <a:solidFill>
                  <a:srgbClr val="F59E0B"/>
                </a:solidFill>
                <a:latin typeface="Segoe UI"/>
              </a:rPr>
              <a:t>3 Conformational States Used</a:t>
            </a:r>
          </a:p>
        </p:txBody>
      </p:sp>
      <p:sp>
        <p:nvSpPr>
          <p:cNvPr id="18" name="Oval 17"/>
          <p:cNvSpPr/>
          <p:nvPr/>
        </p:nvSpPr>
        <p:spPr>
          <a:xfrm>
            <a:off x="5669280" y="4983480"/>
            <a:ext cx="457200" cy="36576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0" y="4983480"/>
            <a:ext cx="457200" cy="365760"/>
          </a:xfrm>
          <a:prstGeom prst="rect">
            <a:avLst/>
          </a:prstGeom>
          <a:noFill/>
        </p:spPr>
        <p:txBody>
          <a:bodyPr wrap="square" lIns="0" tIns="0" rIns="0" bIns="0">
            <a:spAutoFit/>
          </a:bodyPr>
          <a:lstStyle/>
          <a:p>
            <a:pPr algn="ctr"/>
            <a:r>
              <a:rPr sz="900" b="1" i="0">
                <a:solidFill>
                  <a:srgbClr val="FFFFFF"/>
                </a:solidFill>
                <a:latin typeface="Segoe UI"/>
              </a:rPr>
              <a:t>6VXX</a:t>
            </a:r>
          </a:p>
        </p:txBody>
      </p:sp>
      <p:sp>
        <p:nvSpPr>
          <p:cNvPr id="20" name="TextBox 19"/>
          <p:cNvSpPr txBox="1"/>
          <p:nvPr/>
        </p:nvSpPr>
        <p:spPr>
          <a:xfrm>
            <a:off x="6217920" y="5001768"/>
            <a:ext cx="5303520" cy="320040"/>
          </a:xfrm>
          <a:prstGeom prst="rect">
            <a:avLst/>
          </a:prstGeom>
          <a:noFill/>
        </p:spPr>
        <p:txBody>
          <a:bodyPr wrap="square" lIns="0" tIns="0" rIns="0" bIns="0">
            <a:spAutoFit/>
          </a:bodyPr>
          <a:lstStyle/>
          <a:p>
            <a:pPr algn="l"/>
            <a:r>
              <a:rPr sz="1100" b="0" i="0">
                <a:solidFill>
                  <a:srgbClr val="0F172A"/>
                </a:solidFill>
                <a:latin typeface="Segoe UI"/>
              </a:rPr>
              <a:t>All RBD 'down' — closed, immune-evasive conformation</a:t>
            </a:r>
          </a:p>
        </p:txBody>
      </p:sp>
      <p:sp>
        <p:nvSpPr>
          <p:cNvPr id="21" name="Oval 20"/>
          <p:cNvSpPr/>
          <p:nvPr/>
        </p:nvSpPr>
        <p:spPr>
          <a:xfrm>
            <a:off x="5669280" y="5532120"/>
            <a:ext cx="457200" cy="36576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0" y="5532120"/>
            <a:ext cx="457200" cy="365760"/>
          </a:xfrm>
          <a:prstGeom prst="rect">
            <a:avLst/>
          </a:prstGeom>
          <a:noFill/>
        </p:spPr>
        <p:txBody>
          <a:bodyPr wrap="square" lIns="0" tIns="0" rIns="0" bIns="0">
            <a:spAutoFit/>
          </a:bodyPr>
          <a:lstStyle/>
          <a:p>
            <a:pPr algn="ctr"/>
            <a:r>
              <a:rPr sz="900" b="1" i="0">
                <a:solidFill>
                  <a:srgbClr val="FFFFFF"/>
                </a:solidFill>
                <a:latin typeface="Segoe UI"/>
              </a:rPr>
              <a:t>6VSB</a:t>
            </a:r>
          </a:p>
        </p:txBody>
      </p:sp>
      <p:sp>
        <p:nvSpPr>
          <p:cNvPr id="23" name="TextBox 22"/>
          <p:cNvSpPr txBox="1"/>
          <p:nvPr/>
        </p:nvSpPr>
        <p:spPr>
          <a:xfrm>
            <a:off x="6217920" y="5550407"/>
            <a:ext cx="5303520" cy="320040"/>
          </a:xfrm>
          <a:prstGeom prst="rect">
            <a:avLst/>
          </a:prstGeom>
          <a:noFill/>
        </p:spPr>
        <p:txBody>
          <a:bodyPr wrap="square" lIns="0" tIns="0" rIns="0" bIns="0">
            <a:spAutoFit/>
          </a:bodyPr>
          <a:lstStyle/>
          <a:p>
            <a:pPr algn="l"/>
            <a:r>
              <a:rPr sz="1100" b="0" i="0">
                <a:solidFill>
                  <a:srgbClr val="0F172A"/>
                </a:solidFill>
                <a:latin typeface="Segoe UI"/>
              </a:rPr>
              <a:t>One RBD 'up' — antibodies can access the binding surface</a:t>
            </a:r>
          </a:p>
        </p:txBody>
      </p:sp>
      <p:sp>
        <p:nvSpPr>
          <p:cNvPr id="24" name="Oval 23"/>
          <p:cNvSpPr/>
          <p:nvPr/>
        </p:nvSpPr>
        <p:spPr>
          <a:xfrm>
            <a:off x="5669280" y="6080760"/>
            <a:ext cx="457200" cy="36576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0" y="6080760"/>
            <a:ext cx="457200" cy="365760"/>
          </a:xfrm>
          <a:prstGeom prst="rect">
            <a:avLst/>
          </a:prstGeom>
          <a:noFill/>
        </p:spPr>
        <p:txBody>
          <a:bodyPr wrap="square" lIns="0" tIns="0" rIns="0" bIns="0">
            <a:spAutoFit/>
          </a:bodyPr>
          <a:lstStyle/>
          <a:p>
            <a:pPr algn="ctr"/>
            <a:r>
              <a:rPr sz="900" b="1" i="0">
                <a:solidFill>
                  <a:srgbClr val="FFFFFF"/>
                </a:solidFill>
                <a:latin typeface="Segoe UI"/>
              </a:rPr>
              <a:t>7BNN</a:t>
            </a:r>
          </a:p>
        </p:txBody>
      </p:sp>
      <p:sp>
        <p:nvSpPr>
          <p:cNvPr id="26" name="TextBox 25"/>
          <p:cNvSpPr txBox="1"/>
          <p:nvPr/>
        </p:nvSpPr>
        <p:spPr>
          <a:xfrm>
            <a:off x="6217920" y="6099048"/>
            <a:ext cx="5303520" cy="320040"/>
          </a:xfrm>
          <a:prstGeom prst="rect">
            <a:avLst/>
          </a:prstGeom>
          <a:noFill/>
        </p:spPr>
        <p:txBody>
          <a:bodyPr wrap="square" lIns="0" tIns="0" rIns="0" bIns="0">
            <a:spAutoFit/>
          </a:bodyPr>
          <a:lstStyle/>
          <a:p>
            <a:pPr algn="l"/>
            <a:r>
              <a:rPr sz="1100" b="0" i="0">
                <a:solidFill>
                  <a:srgbClr val="0F172A"/>
                </a:solidFill>
                <a:latin typeface="Segoe UI"/>
              </a:rPr>
              <a:t>Open RBD — high ACE2 affinity conformation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Databases 4 &amp; 5: Antibody Map + Protein Language Model</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CoV-AbDab and ESM-2 — the immunology library and the AI biologist</a:t>
            </a:r>
          </a:p>
        </p:txBody>
      </p:sp>
      <p:sp>
        <p:nvSpPr>
          <p:cNvPr id="5" name="Rounded Rectangle 4"/>
          <p:cNvSpPr/>
          <p:nvPr/>
        </p:nvSpPr>
        <p:spPr>
          <a:xfrm>
            <a:off x="274320" y="1280160"/>
            <a:ext cx="5669280" cy="5394960"/>
          </a:xfrm>
          <a:prstGeom prst="roundRect">
            <a:avLst/>
          </a:prstGeom>
          <a:solidFill>
            <a:srgbClr val="EEF2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5394960" cy="411480"/>
          </a:xfrm>
          <a:prstGeom prst="rect">
            <a:avLst/>
          </a:prstGeom>
          <a:noFill/>
        </p:spPr>
        <p:txBody>
          <a:bodyPr wrap="square" lIns="0" tIns="0" rIns="0" bIns="0">
            <a:spAutoFit/>
          </a:bodyPr>
          <a:lstStyle/>
          <a:p>
            <a:pPr algn="l"/>
            <a:r>
              <a:rPr sz="1400" b="1" i="0">
                <a:solidFill>
                  <a:srgbClr val="8B5CF6"/>
                </a:solidFill>
                <a:latin typeface="Segoe UI"/>
              </a:rPr>
              <a:t>🛡️  Database 4: CoV-AbDab</a:t>
            </a:r>
          </a:p>
        </p:txBody>
      </p:sp>
      <p:sp>
        <p:nvSpPr>
          <p:cNvPr id="7" name="TextBox 6"/>
          <p:cNvSpPr txBox="1"/>
          <p:nvPr/>
        </p:nvSpPr>
        <p:spPr>
          <a:xfrm>
            <a:off x="457200" y="1810512"/>
            <a:ext cx="5303520" cy="548640"/>
          </a:xfrm>
          <a:prstGeom prst="rect">
            <a:avLst/>
          </a:prstGeom>
          <a:noFill/>
        </p:spPr>
        <p:txBody>
          <a:bodyPr wrap="square" lIns="0" tIns="0" rIns="0" bIns="0">
            <a:spAutoFit/>
          </a:bodyPr>
          <a:lstStyle/>
          <a:p>
            <a:pPr algn="l"/>
            <a:r>
              <a:rPr sz="1050" b="0" i="0">
                <a:solidFill>
                  <a:srgbClr val="0F172A"/>
                </a:solidFill>
                <a:latin typeface="Segoe UI"/>
              </a:rPr>
              <a:t>Oxford University's database of every published SARS-CoV-2 antibody.
University: opig.stats.ox.ac.uk/webapps/covabdab</a:t>
            </a:r>
          </a:p>
        </p:txBody>
      </p:sp>
      <p:sp>
        <p:nvSpPr>
          <p:cNvPr id="8" name="TextBox 7"/>
          <p:cNvSpPr txBox="1"/>
          <p:nvPr/>
        </p:nvSpPr>
        <p:spPr>
          <a:xfrm>
            <a:off x="457200" y="2423160"/>
            <a:ext cx="5303520" cy="320040"/>
          </a:xfrm>
          <a:prstGeom prst="rect">
            <a:avLst/>
          </a:prstGeom>
          <a:noFill/>
        </p:spPr>
        <p:txBody>
          <a:bodyPr wrap="square" lIns="0" tIns="0" rIns="0" bIns="0">
            <a:spAutoFit/>
          </a:bodyPr>
          <a:lstStyle/>
          <a:p>
            <a:pPr algn="l"/>
            <a:r>
              <a:rPr sz="1100" b="1" i="0">
                <a:solidFill>
                  <a:srgbClr val="8B5CF6"/>
                </a:solidFill>
                <a:latin typeface="Segoe UI"/>
              </a:rPr>
              <a:t>Data format:</a:t>
            </a:r>
          </a:p>
        </p:txBody>
      </p:sp>
      <p:sp>
        <p:nvSpPr>
          <p:cNvPr id="9" name="TextBox 8"/>
          <p:cNvSpPr txBox="1"/>
          <p:nvPr/>
        </p:nvSpPr>
        <p:spPr>
          <a:xfrm>
            <a:off x="457200" y="2788920"/>
            <a:ext cx="5303520" cy="822960"/>
          </a:xfrm>
          <a:prstGeom prst="rect">
            <a:avLst/>
          </a:prstGeom>
          <a:noFill/>
        </p:spPr>
        <p:txBody>
          <a:bodyPr wrap="square" lIns="0" tIns="0" rIns="0" bIns="0">
            <a:spAutoFit/>
          </a:bodyPr>
          <a:lstStyle/>
          <a:p>
            <a:pPr algn="l"/>
            <a:r>
              <a:rPr sz="1000" b="0" i="1">
                <a:solidFill>
                  <a:srgbClr val="8B5CF6"/>
                </a:solidFill>
                <a:latin typeface="Segoe UI"/>
              </a:rPr>
              <a:t>Ab Name    | Protein + Epitope              | Target
LY-CoV016  | SARS-CoV-2 Spike RBD Class 1   | SARS-CoV-2
S309       | SARS-CoV-2 Spike RBD Class 3   | SARS-CoV-2
4A8        | SARS-CoV-2 Spike NTD Supersite  | SARS-CoV-2</a:t>
            </a:r>
          </a:p>
        </p:txBody>
      </p:sp>
      <p:sp>
        <p:nvSpPr>
          <p:cNvPr id="10" name="TextBox 9"/>
          <p:cNvSpPr txBox="1"/>
          <p:nvPr/>
        </p:nvSpPr>
        <p:spPr>
          <a:xfrm>
            <a:off x="457200" y="3703320"/>
            <a:ext cx="5303520" cy="320040"/>
          </a:xfrm>
          <a:prstGeom prst="rect">
            <a:avLst/>
          </a:prstGeom>
          <a:noFill/>
        </p:spPr>
        <p:txBody>
          <a:bodyPr wrap="square" lIns="0" tIns="0" rIns="0" bIns="0">
            <a:spAutoFit/>
          </a:bodyPr>
          <a:lstStyle/>
          <a:p>
            <a:pPr algn="l"/>
            <a:r>
              <a:rPr sz="1100" b="1" i="0">
                <a:solidFill>
                  <a:srgbClr val="8B5CF6"/>
                </a:solidFill>
                <a:latin typeface="Segoe UI"/>
              </a:rPr>
              <a:t>Why we need it:</a:t>
            </a:r>
          </a:p>
        </p:txBody>
      </p:sp>
      <p:sp>
        <p:nvSpPr>
          <p:cNvPr id="11" name="Oval 10"/>
          <p:cNvSpPr/>
          <p:nvPr/>
        </p:nvSpPr>
        <p:spPr>
          <a:xfrm>
            <a:off x="457200" y="4114800"/>
            <a:ext cx="128016" cy="12801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87368"/>
            <a:ext cx="5029200" cy="365760"/>
          </a:xfrm>
          <a:prstGeom prst="rect">
            <a:avLst/>
          </a:prstGeom>
          <a:noFill/>
        </p:spPr>
        <p:txBody>
          <a:bodyPr wrap="square" lIns="0" tIns="0" rIns="0" bIns="0">
            <a:spAutoFit/>
          </a:bodyPr>
          <a:lstStyle/>
          <a:p>
            <a:pPr algn="l"/>
            <a:r>
              <a:rPr sz="1050" b="0" i="0">
                <a:solidFill>
                  <a:srgbClr val="0F172A"/>
                </a:solidFill>
                <a:latin typeface="Segoe UI"/>
              </a:rPr>
              <a:t>Groups antibodies into 5 epitope classes (RBD Class 1/2/3/4 + NTD supersite)</a:t>
            </a:r>
          </a:p>
        </p:txBody>
      </p:sp>
      <p:sp>
        <p:nvSpPr>
          <p:cNvPr id="13" name="Oval 12"/>
          <p:cNvSpPr/>
          <p:nvPr/>
        </p:nvSpPr>
        <p:spPr>
          <a:xfrm>
            <a:off x="457200" y="4526280"/>
            <a:ext cx="128016" cy="12801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498848"/>
            <a:ext cx="5029200" cy="365760"/>
          </a:xfrm>
          <a:prstGeom prst="rect">
            <a:avLst/>
          </a:prstGeom>
          <a:noFill/>
        </p:spPr>
        <p:txBody>
          <a:bodyPr wrap="square" lIns="0" tIns="0" rIns="0" bIns="0">
            <a:spAutoFit/>
          </a:bodyPr>
          <a:lstStyle/>
          <a:p>
            <a:pPr algn="l"/>
            <a:r>
              <a:rPr sz="1050" b="0" i="0">
                <a:solidFill>
                  <a:srgbClr val="0F172A"/>
                </a:solidFill>
                <a:latin typeface="Segoe UI"/>
              </a:rPr>
              <a:t>Each class targets a different face of the Spike — escape from each is different</a:t>
            </a:r>
          </a:p>
        </p:txBody>
      </p:sp>
      <p:sp>
        <p:nvSpPr>
          <p:cNvPr id="15" name="Oval 14"/>
          <p:cNvSpPr/>
          <p:nvPr/>
        </p:nvSpPr>
        <p:spPr>
          <a:xfrm>
            <a:off x="457200" y="4937760"/>
            <a:ext cx="128016" cy="12801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910328"/>
            <a:ext cx="5029200" cy="365760"/>
          </a:xfrm>
          <a:prstGeom prst="rect">
            <a:avLst/>
          </a:prstGeom>
          <a:noFill/>
        </p:spPr>
        <p:txBody>
          <a:bodyPr wrap="square" lIns="0" tIns="0" rIns="0" bIns="0">
            <a:spAutoFit/>
          </a:bodyPr>
          <a:lstStyle/>
          <a:p>
            <a:pPr algn="l"/>
            <a:r>
              <a:rPr sz="1050" b="0" i="0">
                <a:solidFill>
                  <a:srgbClr val="0F172A"/>
                </a:solidFill>
                <a:latin typeface="Segoe UI"/>
              </a:rPr>
              <a:t>Lets us compute escape broken down by antibody class, not just as one number</a:t>
            </a:r>
          </a:p>
        </p:txBody>
      </p:sp>
      <p:sp>
        <p:nvSpPr>
          <p:cNvPr id="17" name="Oval 16"/>
          <p:cNvSpPr/>
          <p:nvPr/>
        </p:nvSpPr>
        <p:spPr>
          <a:xfrm>
            <a:off x="457200" y="5349240"/>
            <a:ext cx="128016" cy="12801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321808"/>
            <a:ext cx="5029200" cy="365760"/>
          </a:xfrm>
          <a:prstGeom prst="rect">
            <a:avLst/>
          </a:prstGeom>
          <a:noFill/>
        </p:spPr>
        <p:txBody>
          <a:bodyPr wrap="square" lIns="0" tIns="0" rIns="0" bIns="0">
            <a:spAutoFit/>
          </a:bodyPr>
          <a:lstStyle/>
          <a:p>
            <a:pPr algn="l"/>
            <a:r>
              <a:rPr sz="1050" b="0" i="0">
                <a:solidFill>
                  <a:srgbClr val="0F172A"/>
                </a:solidFill>
                <a:latin typeface="Segoe UI"/>
              </a:rPr>
              <a:t>Maps to real clinical drugs: LY-CoV016 = Bamlanivimab; S309 = Sotrovimab</a:t>
            </a:r>
          </a:p>
        </p:txBody>
      </p:sp>
      <p:sp>
        <p:nvSpPr>
          <p:cNvPr id="19" name="Rounded Rectangle 18"/>
          <p:cNvSpPr/>
          <p:nvPr/>
        </p:nvSpPr>
        <p:spPr>
          <a:xfrm>
            <a:off x="6217920" y="1280160"/>
            <a:ext cx="5669280" cy="5394960"/>
          </a:xfrm>
          <a:prstGeom prst="roundRect">
            <a:avLst/>
          </a:prstGeom>
          <a:solidFill>
            <a:srgbClr val="EEF2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394960" cy="411480"/>
          </a:xfrm>
          <a:prstGeom prst="rect">
            <a:avLst/>
          </a:prstGeom>
          <a:noFill/>
        </p:spPr>
        <p:txBody>
          <a:bodyPr wrap="square" lIns="0" tIns="0" rIns="0" bIns="0">
            <a:spAutoFit/>
          </a:bodyPr>
          <a:lstStyle/>
          <a:p>
            <a:pPr algn="l"/>
            <a:r>
              <a:rPr sz="1400" b="1" i="0">
                <a:solidFill>
                  <a:srgbClr val="0EA5E9"/>
                </a:solidFill>
                <a:latin typeface="Segoe UI"/>
              </a:rPr>
              <a:t>🤖  Model 5: ESM-2 (Meta AI)</a:t>
            </a:r>
          </a:p>
        </p:txBody>
      </p:sp>
      <p:sp>
        <p:nvSpPr>
          <p:cNvPr id="21" name="TextBox 20"/>
          <p:cNvSpPr txBox="1"/>
          <p:nvPr/>
        </p:nvSpPr>
        <p:spPr>
          <a:xfrm>
            <a:off x="6400800" y="1810512"/>
            <a:ext cx="5303520" cy="658368"/>
          </a:xfrm>
          <a:prstGeom prst="rect">
            <a:avLst/>
          </a:prstGeom>
          <a:noFill/>
        </p:spPr>
        <p:txBody>
          <a:bodyPr wrap="square" lIns="0" tIns="0" rIns="0" bIns="0">
            <a:spAutoFit/>
          </a:bodyPr>
          <a:lstStyle/>
          <a:p>
            <a:pPr algn="l"/>
            <a:r>
              <a:rPr sz="1050" b="0" i="0">
                <a:solidFill>
                  <a:srgbClr val="0F172A"/>
                </a:solidFill>
                <a:latin typeface="Segoe UI"/>
              </a:rPr>
              <a:t>650 million parameter AI model trained by Meta on 250 MILLION protein sequences from all living organisms. It learned the 'grammar' of proteins.</a:t>
            </a:r>
          </a:p>
        </p:txBody>
      </p:sp>
      <p:sp>
        <p:nvSpPr>
          <p:cNvPr id="22" name="TextBox 21"/>
          <p:cNvSpPr txBox="1"/>
          <p:nvPr/>
        </p:nvSpPr>
        <p:spPr>
          <a:xfrm>
            <a:off x="6400800" y="2514600"/>
            <a:ext cx="5303520" cy="274320"/>
          </a:xfrm>
          <a:prstGeom prst="rect">
            <a:avLst/>
          </a:prstGeom>
          <a:noFill/>
        </p:spPr>
        <p:txBody>
          <a:bodyPr wrap="square" lIns="0" tIns="0" rIns="0" bIns="0">
            <a:spAutoFit/>
          </a:bodyPr>
          <a:lstStyle/>
          <a:p>
            <a:pPr algn="l"/>
            <a:r>
              <a:rPr sz="1100" b="1" i="0">
                <a:solidFill>
                  <a:srgbClr val="0EA5E9"/>
                </a:solidFill>
                <a:latin typeface="Segoe UI"/>
              </a:rPr>
              <a:t>What it learned:</a:t>
            </a:r>
          </a:p>
        </p:txBody>
      </p:sp>
      <p:sp>
        <p:nvSpPr>
          <p:cNvPr id="23" name="TextBox 22"/>
          <p:cNvSpPr txBox="1"/>
          <p:nvPr/>
        </p:nvSpPr>
        <p:spPr>
          <a:xfrm>
            <a:off x="6400800" y="2788920"/>
            <a:ext cx="5303520" cy="594360"/>
          </a:xfrm>
          <a:prstGeom prst="rect">
            <a:avLst/>
          </a:prstGeom>
          <a:noFill/>
        </p:spPr>
        <p:txBody>
          <a:bodyPr wrap="square" lIns="0" tIns="0" rIns="0" bIns="0">
            <a:spAutoFit/>
          </a:bodyPr>
          <a:lstStyle/>
          <a:p>
            <a:pPr algn="l"/>
            <a:r>
              <a:rPr sz="1050" b="0" i="0">
                <a:solidFill>
                  <a:srgbClr val="0F172A"/>
                </a:solidFill>
                <a:latin typeface="Segoe UI"/>
              </a:rPr>
              <a:t>Which amino acid positions are evolutionarily conserved. Which positions tend to change together. What a 'healthy' vs 'unusual' protein looks like.</a:t>
            </a:r>
          </a:p>
        </p:txBody>
      </p:sp>
      <p:sp>
        <p:nvSpPr>
          <p:cNvPr id="24" name="TextBox 23"/>
          <p:cNvSpPr txBox="1"/>
          <p:nvPr/>
        </p:nvSpPr>
        <p:spPr>
          <a:xfrm>
            <a:off x="6400800" y="3474720"/>
            <a:ext cx="5303520" cy="274320"/>
          </a:xfrm>
          <a:prstGeom prst="rect">
            <a:avLst/>
          </a:prstGeom>
          <a:noFill/>
        </p:spPr>
        <p:txBody>
          <a:bodyPr wrap="square" lIns="0" tIns="0" rIns="0" bIns="0">
            <a:spAutoFit/>
          </a:bodyPr>
          <a:lstStyle/>
          <a:p>
            <a:pPr algn="l"/>
            <a:r>
              <a:rPr sz="1100" b="1" i="0">
                <a:solidFill>
                  <a:srgbClr val="0EA5E9"/>
                </a:solidFill>
                <a:latin typeface="Segoe UI"/>
              </a:rPr>
              <a:t>What it produces:</a:t>
            </a:r>
          </a:p>
        </p:txBody>
      </p:sp>
      <p:sp>
        <p:nvSpPr>
          <p:cNvPr id="25" name="TextBox 24"/>
          <p:cNvSpPr txBox="1"/>
          <p:nvPr/>
        </p:nvSpPr>
        <p:spPr>
          <a:xfrm>
            <a:off x="6400800" y="3749039"/>
            <a:ext cx="5303520" cy="594360"/>
          </a:xfrm>
          <a:prstGeom prst="rect">
            <a:avLst/>
          </a:prstGeom>
          <a:noFill/>
        </p:spPr>
        <p:txBody>
          <a:bodyPr wrap="square" lIns="0" tIns="0" rIns="0" bIns="0">
            <a:spAutoFit/>
          </a:bodyPr>
          <a:lstStyle/>
          <a:p>
            <a:pPr algn="l"/>
            <a:r>
              <a:rPr sz="1050" b="0" i="0">
                <a:solidFill>
                  <a:srgbClr val="0F172A"/>
                </a:solidFill>
                <a:latin typeface="Segoe UI"/>
              </a:rPr>
              <a:t>For each amino acid in the Spike, a vector of 1,280 numbers that encodes everything ESM-2 knows about that position — its biological context.</a:t>
            </a:r>
          </a:p>
        </p:txBody>
      </p:sp>
      <p:sp>
        <p:nvSpPr>
          <p:cNvPr id="26" name="TextBox 25"/>
          <p:cNvSpPr txBox="1"/>
          <p:nvPr/>
        </p:nvSpPr>
        <p:spPr>
          <a:xfrm>
            <a:off x="6400800" y="4434840"/>
            <a:ext cx="5303520" cy="274320"/>
          </a:xfrm>
          <a:prstGeom prst="rect">
            <a:avLst/>
          </a:prstGeom>
          <a:noFill/>
        </p:spPr>
        <p:txBody>
          <a:bodyPr wrap="square" lIns="0" tIns="0" rIns="0" bIns="0">
            <a:spAutoFit/>
          </a:bodyPr>
          <a:lstStyle/>
          <a:p>
            <a:pPr algn="l"/>
            <a:r>
              <a:rPr sz="1100" b="1" i="0">
                <a:solidFill>
                  <a:srgbClr val="0EA5E9"/>
                </a:solidFill>
                <a:latin typeface="Segoe UI"/>
              </a:rPr>
              <a:t>How we use it:</a:t>
            </a:r>
          </a:p>
        </p:txBody>
      </p:sp>
      <p:sp>
        <p:nvSpPr>
          <p:cNvPr id="27" name="TextBox 26"/>
          <p:cNvSpPr txBox="1"/>
          <p:nvPr/>
        </p:nvSpPr>
        <p:spPr>
          <a:xfrm>
            <a:off x="6400800" y="4709159"/>
            <a:ext cx="5303520" cy="594360"/>
          </a:xfrm>
          <a:prstGeom prst="rect">
            <a:avLst/>
          </a:prstGeom>
          <a:noFill/>
        </p:spPr>
        <p:txBody>
          <a:bodyPr wrap="square" lIns="0" tIns="0" rIns="0" bIns="0">
            <a:spAutoFit/>
          </a:bodyPr>
          <a:lstStyle/>
          <a:p>
            <a:pPr algn="l"/>
            <a:r>
              <a:rPr sz="1050" b="0" i="0">
                <a:solidFill>
                  <a:srgbClr val="0F172A"/>
                </a:solidFill>
                <a:latin typeface="Segoe UI"/>
              </a:rPr>
              <a:t>We run each Spike sequence through ESM-2 ONCE and save the output. During training, we load these saved files — ESM-2 itself never runs again.</a:t>
            </a:r>
          </a:p>
        </p:txBody>
      </p:sp>
      <p:sp>
        <p:nvSpPr>
          <p:cNvPr id="28" name="TextBox 27"/>
          <p:cNvSpPr txBox="1"/>
          <p:nvPr/>
        </p:nvSpPr>
        <p:spPr>
          <a:xfrm>
            <a:off x="6400800" y="5394959"/>
            <a:ext cx="5303520" cy="274320"/>
          </a:xfrm>
          <a:prstGeom prst="rect">
            <a:avLst/>
          </a:prstGeom>
          <a:noFill/>
        </p:spPr>
        <p:txBody>
          <a:bodyPr wrap="square" lIns="0" tIns="0" rIns="0" bIns="0">
            <a:spAutoFit/>
          </a:bodyPr>
          <a:lstStyle/>
          <a:p>
            <a:pPr algn="l"/>
            <a:r>
              <a:rPr sz="1100" b="1" i="0">
                <a:solidFill>
                  <a:srgbClr val="0EA5E9"/>
                </a:solidFill>
                <a:latin typeface="Segoe UI"/>
              </a:rPr>
              <a:t>Why it matters:</a:t>
            </a:r>
          </a:p>
        </p:txBody>
      </p:sp>
      <p:sp>
        <p:nvSpPr>
          <p:cNvPr id="29" name="TextBox 28"/>
          <p:cNvSpPr txBox="1"/>
          <p:nvPr/>
        </p:nvSpPr>
        <p:spPr>
          <a:xfrm>
            <a:off x="6400800" y="5669279"/>
            <a:ext cx="5303520" cy="594360"/>
          </a:xfrm>
          <a:prstGeom prst="rect">
            <a:avLst/>
          </a:prstGeom>
          <a:noFill/>
        </p:spPr>
        <p:txBody>
          <a:bodyPr wrap="square" lIns="0" tIns="0" rIns="0" bIns="0">
            <a:spAutoFit/>
          </a:bodyPr>
          <a:lstStyle/>
          <a:p>
            <a:pPr algn="l"/>
            <a:r>
              <a:rPr sz="1050" b="0" i="0">
                <a:solidFill>
                  <a:srgbClr val="0F172A"/>
                </a:solidFill>
                <a:latin typeface="Segoe UI"/>
              </a:rPr>
              <a:t>ESM-2 was trained on bacteria, fungi, plants, animals — not just viruses. So it understands protein 'rules' that apply to all of evolution.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The AI Model: How the 3 Streams Come Together</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ESM-2 + GVP-GNN + Cross-Attention Fusion</a:t>
            </a:r>
          </a:p>
        </p:txBody>
      </p:sp>
      <p:sp>
        <p:nvSpPr>
          <p:cNvPr id="5" name="Rounded Rectangle 4"/>
          <p:cNvSpPr/>
          <p:nvPr/>
        </p:nvSpPr>
        <p:spPr>
          <a:xfrm>
            <a:off x="274320" y="1280160"/>
            <a:ext cx="3474720" cy="1920240"/>
          </a:xfrm>
          <a:prstGeom prst="roundRect">
            <a:avLst/>
          </a:prstGeom>
          <a:solidFill>
            <a:srgbClr val="F0F9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3200400" cy="347472"/>
          </a:xfrm>
          <a:prstGeom prst="rect">
            <a:avLst/>
          </a:prstGeom>
          <a:noFill/>
        </p:spPr>
        <p:txBody>
          <a:bodyPr wrap="square" lIns="0" tIns="0" rIns="0" bIns="0">
            <a:spAutoFit/>
          </a:bodyPr>
          <a:lstStyle/>
          <a:p>
            <a:pPr algn="l"/>
            <a:r>
              <a:rPr sz="1200" b="1" i="0">
                <a:solidFill>
                  <a:srgbClr val="0EA5E9"/>
                </a:solidFill>
                <a:latin typeface="Segoe UI"/>
              </a:rPr>
              <a:t>Stream 1: Sequence</a:t>
            </a:r>
          </a:p>
        </p:txBody>
      </p:sp>
      <p:sp>
        <p:nvSpPr>
          <p:cNvPr id="7" name="TextBox 6"/>
          <p:cNvSpPr txBox="1"/>
          <p:nvPr/>
        </p:nvSpPr>
        <p:spPr>
          <a:xfrm>
            <a:off x="457200" y="1737360"/>
            <a:ext cx="3200400" cy="1280160"/>
          </a:xfrm>
          <a:prstGeom prst="rect">
            <a:avLst/>
          </a:prstGeom>
          <a:noFill/>
        </p:spPr>
        <p:txBody>
          <a:bodyPr wrap="square" lIns="0" tIns="0" rIns="0" bIns="0">
            <a:spAutoFit/>
          </a:bodyPr>
          <a:lstStyle/>
          <a:p>
            <a:pPr algn="l"/>
            <a:r>
              <a:rPr sz="1050" b="0" i="0">
                <a:solidFill>
                  <a:srgbClr val="0F172A"/>
                </a:solidFill>
                <a:latin typeface="Segoe UI"/>
              </a:rPr>
              <a:t>Input: Spike amino acid sequence
↓
ESM-2 (frozen, 650M params)
↓
Output: 1,280 numbers per amino acid
(captures evolutionary context)</a:t>
            </a:r>
          </a:p>
        </p:txBody>
      </p:sp>
      <p:sp>
        <p:nvSpPr>
          <p:cNvPr id="8" name="TextBox 7"/>
          <p:cNvSpPr txBox="1"/>
          <p:nvPr/>
        </p:nvSpPr>
        <p:spPr>
          <a:xfrm>
            <a:off x="3840480" y="2011680"/>
            <a:ext cx="548640" cy="548640"/>
          </a:xfrm>
          <a:prstGeom prst="rect">
            <a:avLst/>
          </a:prstGeom>
          <a:noFill/>
        </p:spPr>
        <p:txBody>
          <a:bodyPr wrap="square" lIns="0" tIns="0" rIns="0" bIns="0">
            <a:spAutoFit/>
          </a:bodyPr>
          <a:lstStyle/>
          <a:p>
            <a:pPr algn="ctr"/>
            <a:r>
              <a:rPr sz="2800" b="1" i="0">
                <a:solidFill>
                  <a:srgbClr val="4F46E5"/>
                </a:solidFill>
                <a:latin typeface="Segoe UI"/>
              </a:rPr>
              <a:t>+</a:t>
            </a:r>
          </a:p>
        </p:txBody>
      </p:sp>
      <p:sp>
        <p:nvSpPr>
          <p:cNvPr id="9" name="Rounded Rectangle 8"/>
          <p:cNvSpPr/>
          <p:nvPr/>
        </p:nvSpPr>
        <p:spPr>
          <a:xfrm>
            <a:off x="4434840" y="1280160"/>
            <a:ext cx="3474720" cy="1920240"/>
          </a:xfrm>
          <a:prstGeom prst="roundRect">
            <a:avLst/>
          </a:prstGeom>
          <a:solidFill>
            <a:srgbClr val="F0FDF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371600"/>
            <a:ext cx="3200400" cy="347472"/>
          </a:xfrm>
          <a:prstGeom prst="rect">
            <a:avLst/>
          </a:prstGeom>
          <a:noFill/>
        </p:spPr>
        <p:txBody>
          <a:bodyPr wrap="square" lIns="0" tIns="0" rIns="0" bIns="0">
            <a:spAutoFit/>
          </a:bodyPr>
          <a:lstStyle/>
          <a:p>
            <a:pPr algn="l"/>
            <a:r>
              <a:rPr sz="1200" b="1" i="0">
                <a:solidFill>
                  <a:srgbClr val="10B981"/>
                </a:solidFill>
                <a:latin typeface="Segoe UI"/>
              </a:rPr>
              <a:t>Stream 2: Structure</a:t>
            </a:r>
          </a:p>
        </p:txBody>
      </p:sp>
      <p:sp>
        <p:nvSpPr>
          <p:cNvPr id="11" name="TextBox 10"/>
          <p:cNvSpPr txBox="1"/>
          <p:nvPr/>
        </p:nvSpPr>
        <p:spPr>
          <a:xfrm>
            <a:off x="4617720" y="1737360"/>
            <a:ext cx="3200400" cy="1280160"/>
          </a:xfrm>
          <a:prstGeom prst="rect">
            <a:avLst/>
          </a:prstGeom>
          <a:noFill/>
        </p:spPr>
        <p:txBody>
          <a:bodyPr wrap="square" lIns="0" tIns="0" rIns="0" bIns="0">
            <a:spAutoFit/>
          </a:bodyPr>
          <a:lstStyle/>
          <a:p>
            <a:pPr algn="l"/>
            <a:r>
              <a:rPr sz="1050" b="0" i="0">
                <a:solidFill>
                  <a:srgbClr val="0F172A"/>
                </a:solidFill>
                <a:latin typeface="Segoe UI"/>
              </a:rPr>
              <a:t>Input: PDB contact graph (6VXX)
↓
GVP-GNN (3 layers, equivariant)
↓
Output: 512 numbers per amino acid
(captures 3D structural context)</a:t>
            </a:r>
          </a:p>
        </p:txBody>
      </p:sp>
      <p:sp>
        <p:nvSpPr>
          <p:cNvPr id="12" name="TextBox 11"/>
          <p:cNvSpPr txBox="1"/>
          <p:nvPr/>
        </p:nvSpPr>
        <p:spPr>
          <a:xfrm>
            <a:off x="2286000" y="3337560"/>
            <a:ext cx="7315200" cy="411480"/>
          </a:xfrm>
          <a:prstGeom prst="rect">
            <a:avLst/>
          </a:prstGeom>
          <a:noFill/>
        </p:spPr>
        <p:txBody>
          <a:bodyPr wrap="square" lIns="0" tIns="0" rIns="0" bIns="0">
            <a:spAutoFit/>
          </a:bodyPr>
          <a:lstStyle/>
          <a:p>
            <a:pPr algn="ctr"/>
            <a:r>
              <a:rPr sz="1300" b="1" i="0">
                <a:solidFill>
                  <a:srgbClr val="4F46E5"/>
                </a:solidFill>
                <a:latin typeface="Segoe UI"/>
              </a:rPr>
              <a:t>↓ CROSS-ATTENTION FUSION ↓</a:t>
            </a:r>
          </a:p>
        </p:txBody>
      </p:sp>
      <p:sp>
        <p:nvSpPr>
          <p:cNvPr id="13" name="TextBox 12"/>
          <p:cNvSpPr txBox="1"/>
          <p:nvPr/>
        </p:nvSpPr>
        <p:spPr>
          <a:xfrm>
            <a:off x="914400" y="3749039"/>
            <a:ext cx="10058400" cy="594360"/>
          </a:xfrm>
          <a:prstGeom prst="rect">
            <a:avLst/>
          </a:prstGeom>
          <a:noFill/>
        </p:spPr>
        <p:txBody>
          <a:bodyPr wrap="square" lIns="0" tIns="0" rIns="0" bIns="0">
            <a:spAutoFit/>
          </a:bodyPr>
          <a:lstStyle/>
          <a:p>
            <a:pPr algn="ctr"/>
            <a:r>
              <a:rPr sz="1150" b="0" i="0">
                <a:solidFill>
                  <a:srgbClr val="0F172A"/>
                </a:solidFill>
                <a:latin typeface="Segoe UI"/>
              </a:rPr>
              <a:t>Each amino acid's sequence understanding 'asks questions' to its structural neighborhood.
The model learns: 'What 3D context matters most for predicting mutations at this site?'</a:t>
            </a:r>
          </a:p>
        </p:txBody>
      </p:sp>
      <p:sp>
        <p:nvSpPr>
          <p:cNvPr id="14" name="Rounded Rectangle 13"/>
          <p:cNvSpPr/>
          <p:nvPr/>
        </p:nvSpPr>
        <p:spPr>
          <a:xfrm>
            <a:off x="914400" y="4389120"/>
            <a:ext cx="10241280" cy="68580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498848"/>
            <a:ext cx="9875520" cy="457200"/>
          </a:xfrm>
          <a:prstGeom prst="rect">
            <a:avLst/>
          </a:prstGeom>
          <a:noFill/>
        </p:spPr>
        <p:txBody>
          <a:bodyPr wrap="square" lIns="0" tIns="0" rIns="0" bIns="0">
            <a:spAutoFit/>
          </a:bodyPr>
          <a:lstStyle/>
          <a:p>
            <a:pPr algn="ctr"/>
            <a:r>
              <a:rPr sz="1200" b="1" i="0">
                <a:solidFill>
                  <a:srgbClr val="4F46E5"/>
                </a:solidFill>
                <a:latin typeface="Segoe UI"/>
              </a:rPr>
              <a:t>Fused Representation: 512 numbers per residue — combines sequence + structural knowledge</a:t>
            </a:r>
          </a:p>
        </p:txBody>
      </p:sp>
      <p:sp>
        <p:nvSpPr>
          <p:cNvPr id="16" name="TextBox 15"/>
          <p:cNvSpPr txBox="1"/>
          <p:nvPr/>
        </p:nvSpPr>
        <p:spPr>
          <a:xfrm>
            <a:off x="3657600" y="5166360"/>
            <a:ext cx="4572000" cy="347472"/>
          </a:xfrm>
          <a:prstGeom prst="rect">
            <a:avLst/>
          </a:prstGeom>
          <a:noFill/>
        </p:spPr>
        <p:txBody>
          <a:bodyPr wrap="square" lIns="0" tIns="0" rIns="0" bIns="0">
            <a:spAutoFit/>
          </a:bodyPr>
          <a:lstStyle/>
          <a:p>
            <a:pPr algn="ctr"/>
            <a:r>
              <a:rPr sz="1200" b="1" i="0">
                <a:solidFill>
                  <a:srgbClr val="0F172A"/>
                </a:solidFill>
                <a:latin typeface="Segoe UI"/>
              </a:rPr>
              <a:t>↓ OUTPUT HEADS ↓</a:t>
            </a:r>
          </a:p>
        </p:txBody>
      </p:sp>
      <p:sp>
        <p:nvSpPr>
          <p:cNvPr id="17" name="Rounded Rectangle 16"/>
          <p:cNvSpPr/>
          <p:nvPr/>
        </p:nvSpPr>
        <p:spPr>
          <a:xfrm>
            <a:off x="457200" y="5577840"/>
            <a:ext cx="3566160" cy="1051560"/>
          </a:xfrm>
          <a:prstGeom prst="roundRect">
            <a:avLst/>
          </a:prstGeom>
          <a:solidFill>
            <a:srgbClr val="EEF2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650992"/>
            <a:ext cx="3291840" cy="347472"/>
          </a:xfrm>
          <a:prstGeom prst="rect">
            <a:avLst/>
          </a:prstGeom>
          <a:noFill/>
        </p:spPr>
        <p:txBody>
          <a:bodyPr wrap="square" lIns="0" tIns="0" rIns="0" bIns="0">
            <a:spAutoFit/>
          </a:bodyPr>
          <a:lstStyle/>
          <a:p>
            <a:pPr algn="l"/>
            <a:r>
              <a:rPr sz="1200" b="1" i="0">
                <a:solidFill>
                  <a:srgbClr val="10B981"/>
                </a:solidFill>
                <a:latin typeface="Segoe UI"/>
              </a:rPr>
              <a:t>🟢  Hotspot Head</a:t>
            </a:r>
          </a:p>
        </p:txBody>
      </p:sp>
      <p:sp>
        <p:nvSpPr>
          <p:cNvPr id="19" name="TextBox 18"/>
          <p:cNvSpPr txBox="1"/>
          <p:nvPr/>
        </p:nvSpPr>
        <p:spPr>
          <a:xfrm>
            <a:off x="594360" y="6016752"/>
            <a:ext cx="3291840" cy="256032"/>
          </a:xfrm>
          <a:prstGeom prst="rect">
            <a:avLst/>
          </a:prstGeom>
          <a:noFill/>
        </p:spPr>
        <p:txBody>
          <a:bodyPr wrap="square" lIns="0" tIns="0" rIns="0" bIns="0">
            <a:spAutoFit/>
          </a:bodyPr>
          <a:lstStyle/>
          <a:p>
            <a:pPr algn="l"/>
            <a:r>
              <a:rPr sz="1100" b="1" i="0">
                <a:solidFill>
                  <a:srgbClr val="10B981"/>
                </a:solidFill>
                <a:latin typeface="Segoe UI"/>
              </a:rPr>
              <a:t>P(mutate)</a:t>
            </a:r>
          </a:p>
        </p:txBody>
      </p:sp>
      <p:sp>
        <p:nvSpPr>
          <p:cNvPr id="20" name="TextBox 19"/>
          <p:cNvSpPr txBox="1"/>
          <p:nvPr/>
        </p:nvSpPr>
        <p:spPr>
          <a:xfrm>
            <a:off x="594360" y="6281928"/>
            <a:ext cx="3291840" cy="274320"/>
          </a:xfrm>
          <a:prstGeom prst="rect">
            <a:avLst/>
          </a:prstGeom>
          <a:noFill/>
        </p:spPr>
        <p:txBody>
          <a:bodyPr wrap="square" lIns="0" tIns="0" rIns="0" bIns="0">
            <a:spAutoFit/>
          </a:bodyPr>
          <a:lstStyle/>
          <a:p>
            <a:pPr algn="l"/>
            <a:r>
              <a:rPr sz="1000" b="0" i="0">
                <a:solidFill>
                  <a:srgbClr val="0F172A"/>
                </a:solidFill>
                <a:latin typeface="Segoe UI"/>
              </a:rPr>
              <a:t>How likely is this position to mutate?</a:t>
            </a:r>
          </a:p>
        </p:txBody>
      </p:sp>
      <p:sp>
        <p:nvSpPr>
          <p:cNvPr id="21" name="Rounded Rectangle 20"/>
          <p:cNvSpPr/>
          <p:nvPr/>
        </p:nvSpPr>
        <p:spPr>
          <a:xfrm>
            <a:off x="4297680" y="5577840"/>
            <a:ext cx="3566160" cy="105156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50992"/>
            <a:ext cx="3291840" cy="347472"/>
          </a:xfrm>
          <a:prstGeom prst="rect">
            <a:avLst/>
          </a:prstGeom>
          <a:noFill/>
        </p:spPr>
        <p:txBody>
          <a:bodyPr wrap="square" lIns="0" tIns="0" rIns="0" bIns="0">
            <a:spAutoFit/>
          </a:bodyPr>
          <a:lstStyle/>
          <a:p>
            <a:pPr algn="l"/>
            <a:r>
              <a:rPr sz="1200" b="1" i="0">
                <a:solidFill>
                  <a:srgbClr val="4F46E5"/>
                </a:solidFill>
                <a:latin typeface="Segoe UI"/>
              </a:rPr>
              <a:t>🔵  Escape Head</a:t>
            </a:r>
          </a:p>
        </p:txBody>
      </p:sp>
      <p:sp>
        <p:nvSpPr>
          <p:cNvPr id="23" name="TextBox 22"/>
          <p:cNvSpPr txBox="1"/>
          <p:nvPr/>
        </p:nvSpPr>
        <p:spPr>
          <a:xfrm>
            <a:off x="4434840" y="6016752"/>
            <a:ext cx="3291840" cy="256032"/>
          </a:xfrm>
          <a:prstGeom prst="rect">
            <a:avLst/>
          </a:prstGeom>
          <a:noFill/>
        </p:spPr>
        <p:txBody>
          <a:bodyPr wrap="square" lIns="0" tIns="0" rIns="0" bIns="0">
            <a:spAutoFit/>
          </a:bodyPr>
          <a:lstStyle/>
          <a:p>
            <a:pPr algn="l"/>
            <a:r>
              <a:rPr sz="1100" b="1" i="0">
                <a:solidFill>
                  <a:srgbClr val="4F46E5"/>
                </a:solidFill>
                <a:latin typeface="Segoe UI"/>
              </a:rPr>
              <a:t>S(escape)</a:t>
            </a:r>
          </a:p>
        </p:txBody>
      </p:sp>
      <p:sp>
        <p:nvSpPr>
          <p:cNvPr id="24" name="TextBox 23"/>
          <p:cNvSpPr txBox="1"/>
          <p:nvPr/>
        </p:nvSpPr>
        <p:spPr>
          <a:xfrm>
            <a:off x="4434840" y="6281928"/>
            <a:ext cx="3291840" cy="274320"/>
          </a:xfrm>
          <a:prstGeom prst="rect">
            <a:avLst/>
          </a:prstGeom>
          <a:noFill/>
        </p:spPr>
        <p:txBody>
          <a:bodyPr wrap="square" lIns="0" tIns="0" rIns="0" bIns="0">
            <a:spAutoFit/>
          </a:bodyPr>
          <a:lstStyle/>
          <a:p>
            <a:pPr algn="l"/>
            <a:r>
              <a:rPr sz="1000" b="0" i="0">
                <a:solidFill>
                  <a:srgbClr val="0F172A"/>
                </a:solidFill>
                <a:latin typeface="Segoe UI"/>
              </a:rPr>
              <a:t>If mutated, how severely does it escape antibodies?</a:t>
            </a:r>
          </a:p>
        </p:txBody>
      </p:sp>
      <p:sp>
        <p:nvSpPr>
          <p:cNvPr id="25" name="Rounded Rectangle 24"/>
          <p:cNvSpPr/>
          <p:nvPr/>
        </p:nvSpPr>
        <p:spPr>
          <a:xfrm>
            <a:off x="8138160" y="5577840"/>
            <a:ext cx="3566160" cy="1051560"/>
          </a:xfrm>
          <a:prstGeom prst="roundRect">
            <a:avLst/>
          </a:prstGeom>
          <a:solidFill>
            <a:srgbClr val="EEF2FF"/>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5650992"/>
            <a:ext cx="3291840" cy="347472"/>
          </a:xfrm>
          <a:prstGeom prst="rect">
            <a:avLst/>
          </a:prstGeom>
          <a:noFill/>
        </p:spPr>
        <p:txBody>
          <a:bodyPr wrap="square" lIns="0" tIns="0" rIns="0" bIns="0">
            <a:spAutoFit/>
          </a:bodyPr>
          <a:lstStyle/>
          <a:p>
            <a:pPr algn="l"/>
            <a:r>
              <a:rPr sz="1200" b="1" i="0">
                <a:solidFill>
                  <a:srgbClr val="F43F5E"/>
                </a:solidFill>
                <a:latin typeface="Segoe UI"/>
              </a:rPr>
              <a:t>🔴  Risk Score</a:t>
            </a:r>
          </a:p>
        </p:txBody>
      </p:sp>
      <p:sp>
        <p:nvSpPr>
          <p:cNvPr id="27" name="TextBox 26"/>
          <p:cNvSpPr txBox="1"/>
          <p:nvPr/>
        </p:nvSpPr>
        <p:spPr>
          <a:xfrm>
            <a:off x="8275320" y="6016752"/>
            <a:ext cx="3291840" cy="256032"/>
          </a:xfrm>
          <a:prstGeom prst="rect">
            <a:avLst/>
          </a:prstGeom>
          <a:noFill/>
        </p:spPr>
        <p:txBody>
          <a:bodyPr wrap="square" lIns="0" tIns="0" rIns="0" bIns="0">
            <a:spAutoFit/>
          </a:bodyPr>
          <a:lstStyle/>
          <a:p>
            <a:pPr algn="l"/>
            <a:r>
              <a:rPr sz="1100" b="1" i="0">
                <a:solidFill>
                  <a:srgbClr val="F43F5E"/>
                </a:solidFill>
                <a:latin typeface="Segoe UI"/>
              </a:rPr>
              <a:t>R = P × S</a:t>
            </a:r>
          </a:p>
        </p:txBody>
      </p:sp>
      <p:sp>
        <p:nvSpPr>
          <p:cNvPr id="28" name="TextBox 27"/>
          <p:cNvSpPr txBox="1"/>
          <p:nvPr/>
        </p:nvSpPr>
        <p:spPr>
          <a:xfrm>
            <a:off x="8275320" y="6281928"/>
            <a:ext cx="3291840" cy="274320"/>
          </a:xfrm>
          <a:prstGeom prst="rect">
            <a:avLst/>
          </a:prstGeom>
          <a:noFill/>
        </p:spPr>
        <p:txBody>
          <a:bodyPr wrap="square" lIns="0" tIns="0" rIns="0" bIns="0">
            <a:spAutoFit/>
          </a:bodyPr>
          <a:lstStyle/>
          <a:p>
            <a:pPr algn="l"/>
            <a:r>
              <a:rPr sz="1000" b="0" i="0">
                <a:solidFill>
                  <a:srgbClr val="0F172A"/>
                </a:solidFill>
                <a:latin typeface="Segoe UI"/>
              </a:rPr>
              <a:t>Combined danger: must be likely AND damaging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How the AI Reads the 3D Structure: GVP-GNN</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Geometric Vector Perceptrons — an AI that understands protein geometry</a:t>
            </a:r>
          </a:p>
        </p:txBody>
      </p:sp>
      <p:sp>
        <p:nvSpPr>
          <p:cNvPr id="5" name="TextBox 4"/>
          <p:cNvSpPr txBox="1"/>
          <p:nvPr/>
        </p:nvSpPr>
        <p:spPr>
          <a:xfrm>
            <a:off x="457200" y="1280160"/>
            <a:ext cx="11247120" cy="731520"/>
          </a:xfrm>
          <a:prstGeom prst="rect">
            <a:avLst/>
          </a:prstGeom>
          <a:noFill/>
        </p:spPr>
        <p:txBody>
          <a:bodyPr wrap="square" lIns="0" tIns="0" rIns="0" bIns="0">
            <a:spAutoFit/>
          </a:bodyPr>
          <a:lstStyle/>
          <a:p>
            <a:pPr algn="l"/>
            <a:r>
              <a:rPr sz="1300" b="0" i="0">
                <a:solidFill>
                  <a:srgbClr val="0F172A"/>
                </a:solidFill>
                <a:latin typeface="Segoe UI"/>
              </a:rPr>
              <a:t>A regular AI only understands flat numbers. But a protein structure is 3D — it has position in space AND direction. The GVP-GNN is a special neural network that processes both: scalar properties (e.g. SASA) AND directional properties (backbone vectors).</a:t>
            </a:r>
          </a:p>
        </p:txBody>
      </p:sp>
      <p:sp>
        <p:nvSpPr>
          <p:cNvPr id="6" name="Rounded Rectangle 5"/>
          <p:cNvSpPr/>
          <p:nvPr/>
        </p:nvSpPr>
        <p:spPr>
          <a:xfrm>
            <a:off x="274320" y="2148840"/>
            <a:ext cx="5303520" cy="2743200"/>
          </a:xfrm>
          <a:prstGeom prst="roundRect">
            <a:avLst/>
          </a:prstGeom>
          <a:solidFill>
            <a:srgbClr val="EEF2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029200" cy="347472"/>
          </a:xfrm>
          <a:prstGeom prst="rect">
            <a:avLst/>
          </a:prstGeom>
          <a:noFill/>
        </p:spPr>
        <p:txBody>
          <a:bodyPr wrap="square" lIns="0" tIns="0" rIns="0" bIns="0">
            <a:spAutoFit/>
          </a:bodyPr>
          <a:lstStyle/>
          <a:p>
            <a:pPr algn="l"/>
            <a:r>
              <a:rPr sz="1300" b="1" i="0">
                <a:solidFill>
                  <a:srgbClr val="14B8A6"/>
                </a:solidFill>
                <a:latin typeface="Segoe UI"/>
              </a:rPr>
              <a:t>Each Residue (Node) Carries:</a:t>
            </a:r>
          </a:p>
        </p:txBody>
      </p:sp>
      <p:sp>
        <p:nvSpPr>
          <p:cNvPr id="8" name="Rectangle 7"/>
          <p:cNvSpPr/>
          <p:nvPr/>
        </p:nvSpPr>
        <p:spPr>
          <a:xfrm>
            <a:off x="411480" y="2670048"/>
            <a:ext cx="5029200" cy="411480"/>
          </a:xfrm>
          <a:prstGeom prst="rect">
            <a:avLst/>
          </a:prstGeom>
          <a:solidFill>
            <a:srgbClr val="FFFFFF"/>
          </a:solidFill>
          <a:ln w="63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697480"/>
            <a:ext cx="1371600" cy="320040"/>
          </a:xfrm>
          <a:prstGeom prst="rect">
            <a:avLst/>
          </a:prstGeom>
          <a:noFill/>
        </p:spPr>
        <p:txBody>
          <a:bodyPr wrap="square" lIns="0" tIns="0" rIns="0" bIns="0">
            <a:spAutoFit/>
          </a:bodyPr>
          <a:lstStyle/>
          <a:p>
            <a:pPr algn="l"/>
            <a:r>
              <a:rPr sz="1050" b="1" i="0">
                <a:solidFill>
                  <a:srgbClr val="14B8A6"/>
                </a:solidFill>
                <a:latin typeface="Segoe UI"/>
              </a:rPr>
              <a:t>SASA</a:t>
            </a:r>
          </a:p>
        </p:txBody>
      </p:sp>
      <p:sp>
        <p:nvSpPr>
          <p:cNvPr id="10" name="TextBox 9"/>
          <p:cNvSpPr txBox="1"/>
          <p:nvPr/>
        </p:nvSpPr>
        <p:spPr>
          <a:xfrm>
            <a:off x="1828800" y="2697480"/>
            <a:ext cx="3474720" cy="320040"/>
          </a:xfrm>
          <a:prstGeom prst="rect">
            <a:avLst/>
          </a:prstGeom>
          <a:noFill/>
        </p:spPr>
        <p:txBody>
          <a:bodyPr wrap="square" lIns="0" tIns="0" rIns="0" bIns="0">
            <a:spAutoFit/>
          </a:bodyPr>
          <a:lstStyle/>
          <a:p>
            <a:pPr algn="l"/>
            <a:r>
              <a:rPr sz="1000" b="0" i="0">
                <a:solidFill>
                  <a:srgbClr val="0F172A"/>
                </a:solidFill>
                <a:latin typeface="Segoe UI"/>
              </a:rPr>
              <a:t>How exposed to solvent? (0 = buried, 1 = fully exposed)</a:t>
            </a:r>
          </a:p>
        </p:txBody>
      </p:sp>
      <p:sp>
        <p:nvSpPr>
          <p:cNvPr id="11" name="Rectangle 10"/>
          <p:cNvSpPr/>
          <p:nvPr/>
        </p:nvSpPr>
        <p:spPr>
          <a:xfrm>
            <a:off x="411480" y="3154680"/>
            <a:ext cx="5029200" cy="411480"/>
          </a:xfrm>
          <a:prstGeom prst="rect">
            <a:avLst/>
          </a:prstGeom>
          <a:solidFill>
            <a:srgbClr val="FFFFFF"/>
          </a:solidFill>
          <a:ln w="63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182112"/>
            <a:ext cx="1371600" cy="320040"/>
          </a:xfrm>
          <a:prstGeom prst="rect">
            <a:avLst/>
          </a:prstGeom>
          <a:noFill/>
        </p:spPr>
        <p:txBody>
          <a:bodyPr wrap="square" lIns="0" tIns="0" rIns="0" bIns="0">
            <a:spAutoFit/>
          </a:bodyPr>
          <a:lstStyle/>
          <a:p>
            <a:pPr algn="l"/>
            <a:r>
              <a:rPr sz="1050" b="1" i="0">
                <a:solidFill>
                  <a:srgbClr val="14B8A6"/>
                </a:solidFill>
                <a:latin typeface="Segoe UI"/>
              </a:rPr>
              <a:t>φ / ψ angles</a:t>
            </a:r>
          </a:p>
        </p:txBody>
      </p:sp>
      <p:sp>
        <p:nvSpPr>
          <p:cNvPr id="13" name="TextBox 12"/>
          <p:cNvSpPr txBox="1"/>
          <p:nvPr/>
        </p:nvSpPr>
        <p:spPr>
          <a:xfrm>
            <a:off x="1828800" y="3182112"/>
            <a:ext cx="3474720" cy="320040"/>
          </a:xfrm>
          <a:prstGeom prst="rect">
            <a:avLst/>
          </a:prstGeom>
          <a:noFill/>
        </p:spPr>
        <p:txBody>
          <a:bodyPr wrap="square" lIns="0" tIns="0" rIns="0" bIns="0">
            <a:spAutoFit/>
          </a:bodyPr>
          <a:lstStyle/>
          <a:p>
            <a:pPr algn="l"/>
            <a:r>
              <a:rPr sz="1000" b="0" i="0">
                <a:solidFill>
                  <a:srgbClr val="0F172A"/>
                </a:solidFill>
                <a:latin typeface="Segoe UI"/>
              </a:rPr>
              <a:t>Backbone torsion angles (sin + cos) — local shape</a:t>
            </a:r>
          </a:p>
        </p:txBody>
      </p:sp>
      <p:sp>
        <p:nvSpPr>
          <p:cNvPr id="14" name="Rectangle 13"/>
          <p:cNvSpPr/>
          <p:nvPr/>
        </p:nvSpPr>
        <p:spPr>
          <a:xfrm>
            <a:off x="411480" y="3639312"/>
            <a:ext cx="5029200" cy="411480"/>
          </a:xfrm>
          <a:prstGeom prst="rect">
            <a:avLst/>
          </a:prstGeom>
          <a:solidFill>
            <a:srgbClr val="FFFFFF"/>
          </a:solidFill>
          <a:ln w="63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666744"/>
            <a:ext cx="1371600" cy="320040"/>
          </a:xfrm>
          <a:prstGeom prst="rect">
            <a:avLst/>
          </a:prstGeom>
          <a:noFill/>
        </p:spPr>
        <p:txBody>
          <a:bodyPr wrap="square" lIns="0" tIns="0" rIns="0" bIns="0">
            <a:spAutoFit/>
          </a:bodyPr>
          <a:lstStyle/>
          <a:p>
            <a:pPr algn="l"/>
            <a:r>
              <a:rPr sz="1050" b="1" i="0">
                <a:solidFill>
                  <a:srgbClr val="14B8A6"/>
                </a:solidFill>
                <a:latin typeface="Segoe UI"/>
              </a:rPr>
              <a:t>Secondary structure</a:t>
            </a:r>
          </a:p>
        </p:txBody>
      </p:sp>
      <p:sp>
        <p:nvSpPr>
          <p:cNvPr id="16" name="TextBox 15"/>
          <p:cNvSpPr txBox="1"/>
          <p:nvPr/>
        </p:nvSpPr>
        <p:spPr>
          <a:xfrm>
            <a:off x="1828800" y="3666744"/>
            <a:ext cx="3474720" cy="320040"/>
          </a:xfrm>
          <a:prstGeom prst="rect">
            <a:avLst/>
          </a:prstGeom>
          <a:noFill/>
        </p:spPr>
        <p:txBody>
          <a:bodyPr wrap="square" lIns="0" tIns="0" rIns="0" bIns="0">
            <a:spAutoFit/>
          </a:bodyPr>
          <a:lstStyle/>
          <a:p>
            <a:pPr algn="l"/>
            <a:r>
              <a:rPr sz="1000" b="0" i="0">
                <a:solidFill>
                  <a:srgbClr val="0F172A"/>
                </a:solidFill>
                <a:latin typeface="Segoe UI"/>
              </a:rPr>
              <a:t>Alpha helix (H)? Beta sheet (E)? Random coil (-)? Loop (T)?</a:t>
            </a:r>
          </a:p>
        </p:txBody>
      </p:sp>
      <p:sp>
        <p:nvSpPr>
          <p:cNvPr id="17" name="Rectangle 16"/>
          <p:cNvSpPr/>
          <p:nvPr/>
        </p:nvSpPr>
        <p:spPr>
          <a:xfrm>
            <a:off x="411480" y="4123944"/>
            <a:ext cx="5029200" cy="411480"/>
          </a:xfrm>
          <a:prstGeom prst="rect">
            <a:avLst/>
          </a:prstGeom>
          <a:solidFill>
            <a:srgbClr val="FFFFFF"/>
          </a:solidFill>
          <a:ln w="63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151376"/>
            <a:ext cx="1371600" cy="320040"/>
          </a:xfrm>
          <a:prstGeom prst="rect">
            <a:avLst/>
          </a:prstGeom>
          <a:noFill/>
        </p:spPr>
        <p:txBody>
          <a:bodyPr wrap="square" lIns="0" tIns="0" rIns="0" bIns="0">
            <a:spAutoFit/>
          </a:bodyPr>
          <a:lstStyle/>
          <a:p>
            <a:pPr algn="l"/>
            <a:r>
              <a:rPr sz="1050" b="1" i="0">
                <a:solidFill>
                  <a:srgbClr val="14B8A6"/>
                </a:solidFill>
                <a:latin typeface="Segoe UI"/>
              </a:rPr>
              <a:t>3 backbone vectors</a:t>
            </a:r>
          </a:p>
        </p:txBody>
      </p:sp>
      <p:sp>
        <p:nvSpPr>
          <p:cNvPr id="19" name="TextBox 18"/>
          <p:cNvSpPr txBox="1"/>
          <p:nvPr/>
        </p:nvSpPr>
        <p:spPr>
          <a:xfrm>
            <a:off x="1828800" y="4151376"/>
            <a:ext cx="3474720" cy="320040"/>
          </a:xfrm>
          <a:prstGeom prst="rect">
            <a:avLst/>
          </a:prstGeom>
          <a:noFill/>
        </p:spPr>
        <p:txBody>
          <a:bodyPr wrap="square" lIns="0" tIns="0" rIns="0" bIns="0">
            <a:spAutoFit/>
          </a:bodyPr>
          <a:lstStyle/>
          <a:p>
            <a:pPr algn="l"/>
            <a:r>
              <a:rPr sz="1000" b="0" i="0">
                <a:solidFill>
                  <a:srgbClr val="0F172A"/>
                </a:solidFill>
                <a:latin typeface="Segoe UI"/>
              </a:rPr>
              <a:t>N→Cα, Cα→C, Cα→Cβ — which direction each bond points in 3D</a:t>
            </a:r>
          </a:p>
        </p:txBody>
      </p:sp>
      <p:sp>
        <p:nvSpPr>
          <p:cNvPr id="20" name="Rounded Rectangle 19"/>
          <p:cNvSpPr/>
          <p:nvPr/>
        </p:nvSpPr>
        <p:spPr>
          <a:xfrm>
            <a:off x="5760720" y="2148840"/>
            <a:ext cx="2743200" cy="2743200"/>
          </a:xfrm>
          <a:prstGeom prst="roundRect">
            <a:avLst/>
          </a:prstGeom>
          <a:solidFill>
            <a:srgbClr val="EEF2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0" y="2240280"/>
            <a:ext cx="2468880" cy="347472"/>
          </a:xfrm>
          <a:prstGeom prst="rect">
            <a:avLst/>
          </a:prstGeom>
          <a:noFill/>
        </p:spPr>
        <p:txBody>
          <a:bodyPr wrap="square" lIns="0" tIns="0" rIns="0" bIns="0">
            <a:spAutoFit/>
          </a:bodyPr>
          <a:lstStyle/>
          <a:p>
            <a:pPr algn="l"/>
            <a:r>
              <a:rPr sz="1200" b="1" i="0">
                <a:solidFill>
                  <a:srgbClr val="14B8A6"/>
                </a:solidFill>
                <a:latin typeface="Segoe UI"/>
              </a:rPr>
              <a:t>The Contact Graph</a:t>
            </a:r>
          </a:p>
        </p:txBody>
      </p:sp>
      <p:sp>
        <p:nvSpPr>
          <p:cNvPr id="22" name="TextBox 21"/>
          <p:cNvSpPr txBox="1"/>
          <p:nvPr/>
        </p:nvSpPr>
        <p:spPr>
          <a:xfrm>
            <a:off x="5943600" y="2651760"/>
            <a:ext cx="2468880" cy="2057400"/>
          </a:xfrm>
          <a:prstGeom prst="rect">
            <a:avLst/>
          </a:prstGeom>
          <a:noFill/>
        </p:spPr>
        <p:txBody>
          <a:bodyPr wrap="square" lIns="0" tIns="0" rIns="0" bIns="0">
            <a:spAutoFit/>
          </a:bodyPr>
          <a:lstStyle/>
          <a:p>
            <a:pPr algn="l"/>
            <a:r>
              <a:rPr sz="1000" b="0" i="0">
                <a:solidFill>
                  <a:srgbClr val="0F172A"/>
                </a:solidFill>
                <a:latin typeface="Segoe UI"/>
              </a:rPr>
              <a:t>Two residues are connected by an EDGE if their Cα atoms are within 10 Ångstroms
Each edge stores:
• Distance (normalized 0→1)
• Sequence separation
This creates a network where each residue 'knows' all its 3D neighbors.</a:t>
            </a:r>
          </a:p>
        </p:txBody>
      </p:sp>
      <p:sp>
        <p:nvSpPr>
          <p:cNvPr id="23" name="Rounded Rectangle 22"/>
          <p:cNvSpPr/>
          <p:nvPr/>
        </p:nvSpPr>
        <p:spPr>
          <a:xfrm>
            <a:off x="8686800" y="2148840"/>
            <a:ext cx="3200400" cy="2743200"/>
          </a:xfrm>
          <a:prstGeom prst="roundRect">
            <a:avLst/>
          </a:prstGeom>
          <a:solidFill>
            <a:srgbClr val="EEF2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0" y="2240280"/>
            <a:ext cx="2926080" cy="347472"/>
          </a:xfrm>
          <a:prstGeom prst="rect">
            <a:avLst/>
          </a:prstGeom>
          <a:noFill/>
        </p:spPr>
        <p:txBody>
          <a:bodyPr wrap="square" lIns="0" tIns="0" rIns="0" bIns="0">
            <a:spAutoFit/>
          </a:bodyPr>
          <a:lstStyle/>
          <a:p>
            <a:pPr algn="l"/>
            <a:r>
              <a:rPr sz="1200" b="1" i="0">
                <a:solidFill>
                  <a:srgbClr val="14B8A6"/>
                </a:solidFill>
                <a:latin typeface="Segoe UI"/>
              </a:rPr>
              <a:t>Message Passing</a:t>
            </a:r>
          </a:p>
        </p:txBody>
      </p:sp>
      <p:sp>
        <p:nvSpPr>
          <p:cNvPr id="25" name="TextBox 24"/>
          <p:cNvSpPr txBox="1"/>
          <p:nvPr/>
        </p:nvSpPr>
        <p:spPr>
          <a:xfrm>
            <a:off x="8823960" y="2651760"/>
            <a:ext cx="2926080" cy="402336"/>
          </a:xfrm>
          <a:prstGeom prst="rect">
            <a:avLst/>
          </a:prstGeom>
          <a:noFill/>
        </p:spPr>
        <p:txBody>
          <a:bodyPr wrap="square" lIns="0" tIns="0" rIns="0" bIns="0">
            <a:spAutoFit/>
          </a:bodyPr>
          <a:lstStyle/>
          <a:p>
            <a:pPr algn="l"/>
            <a:r>
              <a:rPr sz="1000" b="0" i="0">
                <a:solidFill>
                  <a:srgbClr val="0F172A"/>
                </a:solidFill>
                <a:latin typeface="Segoe UI"/>
              </a:rPr>
              <a:t>1. Each residue sends info to its neighbors</a:t>
            </a:r>
          </a:p>
        </p:txBody>
      </p:sp>
      <p:sp>
        <p:nvSpPr>
          <p:cNvPr id="26" name="TextBox 25"/>
          <p:cNvSpPr txBox="1"/>
          <p:nvPr/>
        </p:nvSpPr>
        <p:spPr>
          <a:xfrm>
            <a:off x="8823960" y="3090672"/>
            <a:ext cx="2926080" cy="402336"/>
          </a:xfrm>
          <a:prstGeom prst="rect">
            <a:avLst/>
          </a:prstGeom>
          <a:noFill/>
        </p:spPr>
        <p:txBody>
          <a:bodyPr wrap="square" lIns="0" tIns="0" rIns="0" bIns="0">
            <a:spAutoFit/>
          </a:bodyPr>
          <a:lstStyle/>
          <a:p>
            <a:pPr algn="l"/>
            <a:r>
              <a:rPr sz="1000" b="0" i="0">
                <a:solidFill>
                  <a:srgbClr val="0F172A"/>
                </a:solidFill>
                <a:latin typeface="Segoe UI"/>
              </a:rPr>
              <a:t>2. Neighbors aggregate all incoming messages</a:t>
            </a:r>
          </a:p>
        </p:txBody>
      </p:sp>
      <p:sp>
        <p:nvSpPr>
          <p:cNvPr id="27" name="TextBox 26"/>
          <p:cNvSpPr txBox="1"/>
          <p:nvPr/>
        </p:nvSpPr>
        <p:spPr>
          <a:xfrm>
            <a:off x="8823960" y="3529584"/>
            <a:ext cx="2926080" cy="402336"/>
          </a:xfrm>
          <a:prstGeom prst="rect">
            <a:avLst/>
          </a:prstGeom>
          <a:noFill/>
        </p:spPr>
        <p:txBody>
          <a:bodyPr wrap="square" lIns="0" tIns="0" rIns="0" bIns="0">
            <a:spAutoFit/>
          </a:bodyPr>
          <a:lstStyle/>
          <a:p>
            <a:pPr algn="l"/>
            <a:r>
              <a:rPr sz="1000" b="0" i="0">
                <a:solidFill>
                  <a:srgbClr val="0F172A"/>
                </a:solidFill>
                <a:latin typeface="Segoe UI"/>
              </a:rPr>
              <a:t>3. Each residue updates its representation using neighbor info</a:t>
            </a:r>
          </a:p>
        </p:txBody>
      </p:sp>
      <p:sp>
        <p:nvSpPr>
          <p:cNvPr id="28" name="TextBox 27"/>
          <p:cNvSpPr txBox="1"/>
          <p:nvPr/>
        </p:nvSpPr>
        <p:spPr>
          <a:xfrm>
            <a:off x="8823960" y="3968496"/>
            <a:ext cx="2926080" cy="402336"/>
          </a:xfrm>
          <a:prstGeom prst="rect">
            <a:avLst/>
          </a:prstGeom>
          <a:noFill/>
        </p:spPr>
        <p:txBody>
          <a:bodyPr wrap="square" lIns="0" tIns="0" rIns="0" bIns="0">
            <a:spAutoFit/>
          </a:bodyPr>
          <a:lstStyle/>
          <a:p>
            <a:pPr algn="l"/>
            <a:r>
              <a:rPr sz="1000" b="0" i="0">
                <a:solidFill>
                  <a:srgbClr val="0F172A"/>
                </a:solidFill>
                <a:latin typeface="Segoe UI"/>
              </a:rPr>
              <a:t>4. Repeat 3 times (3 GVP layers)</a:t>
            </a:r>
          </a:p>
        </p:txBody>
      </p:sp>
      <p:sp>
        <p:nvSpPr>
          <p:cNvPr id="29" name="TextBox 28"/>
          <p:cNvSpPr txBox="1"/>
          <p:nvPr/>
        </p:nvSpPr>
        <p:spPr>
          <a:xfrm>
            <a:off x="8823960" y="4407408"/>
            <a:ext cx="2926080" cy="402336"/>
          </a:xfrm>
          <a:prstGeom prst="rect">
            <a:avLst/>
          </a:prstGeom>
          <a:noFill/>
        </p:spPr>
        <p:txBody>
          <a:bodyPr wrap="square" lIns="0" tIns="0" rIns="0" bIns="0">
            <a:spAutoFit/>
          </a:bodyPr>
          <a:lstStyle/>
          <a:p>
            <a:pPr algn="l"/>
            <a:r>
              <a:rPr sz="1000" b="0" i="0">
                <a:solidFill>
                  <a:srgbClr val="0F172A"/>
                </a:solidFill>
                <a:latin typeface="Segoe UI"/>
              </a:rPr>
              <a:t>Result: each residue now knows its structural environment</a:t>
            </a:r>
          </a:p>
        </p:txBody>
      </p:sp>
      <p:sp>
        <p:nvSpPr>
          <p:cNvPr id="30" name="Rounded Rectangle 29"/>
          <p:cNvSpPr/>
          <p:nvPr/>
        </p:nvSpPr>
        <p:spPr>
          <a:xfrm>
            <a:off x="274320" y="5029200"/>
            <a:ext cx="11430000" cy="1600200"/>
          </a:xfrm>
          <a:prstGeom prst="roundRect">
            <a:avLst/>
          </a:prstGeom>
          <a:solidFill>
            <a:srgbClr val="F0FDF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120640"/>
            <a:ext cx="10972800" cy="347472"/>
          </a:xfrm>
          <a:prstGeom prst="rect">
            <a:avLst/>
          </a:prstGeom>
          <a:noFill/>
        </p:spPr>
        <p:txBody>
          <a:bodyPr wrap="square" lIns="0" tIns="0" rIns="0" bIns="0">
            <a:spAutoFit/>
          </a:bodyPr>
          <a:lstStyle/>
          <a:p>
            <a:pPr algn="l"/>
            <a:r>
              <a:rPr sz="1200" b="1" i="0">
                <a:solidFill>
                  <a:srgbClr val="10B981"/>
                </a:solidFill>
                <a:latin typeface="Segoe UI"/>
              </a:rPr>
              <a:t>🏠  Real-World Analogy</a:t>
            </a:r>
          </a:p>
        </p:txBody>
      </p:sp>
      <p:sp>
        <p:nvSpPr>
          <p:cNvPr id="32" name="TextBox 31"/>
          <p:cNvSpPr txBox="1"/>
          <p:nvPr/>
        </p:nvSpPr>
        <p:spPr>
          <a:xfrm>
            <a:off x="457200" y="5513832"/>
            <a:ext cx="11155680" cy="960120"/>
          </a:xfrm>
          <a:prstGeom prst="rect">
            <a:avLst/>
          </a:prstGeom>
          <a:noFill/>
        </p:spPr>
        <p:txBody>
          <a:bodyPr wrap="square" lIns="0" tIns="0" rIns="0" bIns="0">
            <a:spAutoFit/>
          </a:bodyPr>
          <a:lstStyle/>
          <a:p>
            <a:pPr algn="l"/>
            <a:r>
              <a:rPr sz="1150" b="0" i="0">
                <a:solidFill>
                  <a:srgbClr val="0F172A"/>
                </a:solidFill>
                <a:latin typeface="Segoe UI"/>
              </a:rPr>
              <a:t>Imagine you're a person (residue) in a city (protein). You can sense your neighbors — who lives near you, how close they are, which direction they face. You exchange information with your neighbors 3 times. At the end, you have a rich understanding of your local neighborhood — not just yourself in isolation. That's what GVP-GNN does for each amino acid.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How We Trained the AI</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Teaching the model what 'dangerous' looks like using real experimental data</a:t>
            </a:r>
          </a:p>
        </p:txBody>
      </p:sp>
      <p:sp>
        <p:nvSpPr>
          <p:cNvPr id="5" name="TextBox 4"/>
          <p:cNvSpPr txBox="1"/>
          <p:nvPr/>
        </p:nvSpPr>
        <p:spPr>
          <a:xfrm>
            <a:off x="457200" y="1280160"/>
            <a:ext cx="11247120" cy="594360"/>
          </a:xfrm>
          <a:prstGeom prst="rect">
            <a:avLst/>
          </a:prstGeom>
          <a:noFill/>
        </p:spPr>
        <p:txBody>
          <a:bodyPr wrap="square" lIns="0" tIns="0" rIns="0" bIns="0">
            <a:spAutoFit/>
          </a:bodyPr>
          <a:lstStyle/>
          <a:p>
            <a:pPr algn="l"/>
            <a:r>
              <a:rPr sz="1300" b="0" i="0">
                <a:solidFill>
                  <a:srgbClr val="0F172A"/>
                </a:solidFill>
                <a:latin typeface="Segoe UI"/>
              </a:rPr>
              <a:t>Training is like showing the model thousands of examples with the correct answer and letting it adjust itself to get better. We used two types of 'answer keys'.</a:t>
            </a:r>
          </a:p>
        </p:txBody>
      </p:sp>
      <p:sp>
        <p:nvSpPr>
          <p:cNvPr id="6" name="Rounded Rectangle 5"/>
          <p:cNvSpPr/>
          <p:nvPr/>
        </p:nvSpPr>
        <p:spPr>
          <a:xfrm>
            <a:off x="274320" y="2057400"/>
            <a:ext cx="2286000" cy="1005840"/>
          </a:xfrm>
          <a:prstGeom prst="roundRect">
            <a:avLst/>
          </a:prstGeom>
          <a:solidFill>
            <a:srgbClr val="EEF2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130552"/>
            <a:ext cx="457200" cy="457200"/>
          </a:xfrm>
          <a:prstGeom prst="rect">
            <a:avLst/>
          </a:prstGeom>
          <a:noFill/>
        </p:spPr>
        <p:txBody>
          <a:bodyPr wrap="square" lIns="0" tIns="0" rIns="0" bIns="0">
            <a:spAutoFit/>
          </a:bodyPr>
          <a:lstStyle/>
          <a:p>
            <a:pPr algn="l"/>
            <a:r>
              <a:rPr sz="1800" b="0" i="0">
                <a:solidFill>
                  <a:srgbClr val="0EA5E9"/>
                </a:solidFill>
                <a:latin typeface="Segoe UI"/>
              </a:rPr>
              <a:t>📋</a:t>
            </a:r>
          </a:p>
        </p:txBody>
      </p:sp>
      <p:sp>
        <p:nvSpPr>
          <p:cNvPr id="8" name="TextBox 7"/>
          <p:cNvSpPr txBox="1"/>
          <p:nvPr/>
        </p:nvSpPr>
        <p:spPr>
          <a:xfrm>
            <a:off x="822959" y="2167128"/>
            <a:ext cx="1645920" cy="777240"/>
          </a:xfrm>
          <a:prstGeom prst="rect">
            <a:avLst/>
          </a:prstGeom>
          <a:noFill/>
        </p:spPr>
        <p:txBody>
          <a:bodyPr wrap="square" lIns="0" tIns="0" rIns="0" bIns="0">
            <a:spAutoFit/>
          </a:bodyPr>
          <a:lstStyle/>
          <a:p>
            <a:pPr algn="l"/>
            <a:r>
              <a:rPr sz="1050" b="0" i="0">
                <a:solidFill>
                  <a:srgbClr val="0F172A"/>
                </a:solidFill>
                <a:latin typeface="Segoe UI"/>
              </a:rPr>
              <a:t>Spike Sequences
(~1,500 viral
genomes)</a:t>
            </a:r>
          </a:p>
        </p:txBody>
      </p:sp>
      <p:sp>
        <p:nvSpPr>
          <p:cNvPr id="9" name="Rounded Rectangle 8"/>
          <p:cNvSpPr/>
          <p:nvPr/>
        </p:nvSpPr>
        <p:spPr>
          <a:xfrm>
            <a:off x="2743200" y="2057400"/>
            <a:ext cx="2286000" cy="100584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2130552"/>
            <a:ext cx="457200" cy="457200"/>
          </a:xfrm>
          <a:prstGeom prst="rect">
            <a:avLst/>
          </a:prstGeom>
          <a:noFill/>
        </p:spPr>
        <p:txBody>
          <a:bodyPr wrap="square" lIns="0" tIns="0" rIns="0" bIns="0">
            <a:spAutoFit/>
          </a:bodyPr>
          <a:lstStyle/>
          <a:p>
            <a:pPr algn="l"/>
            <a:r>
              <a:rPr sz="1800" b="0" i="0">
                <a:solidFill>
                  <a:srgbClr val="4F46E5"/>
                </a:solidFill>
                <a:latin typeface="Segoe UI"/>
              </a:rPr>
              <a:t>🔬</a:t>
            </a:r>
          </a:p>
        </p:txBody>
      </p:sp>
      <p:sp>
        <p:nvSpPr>
          <p:cNvPr id="11" name="TextBox 10"/>
          <p:cNvSpPr txBox="1"/>
          <p:nvPr/>
        </p:nvSpPr>
        <p:spPr>
          <a:xfrm>
            <a:off x="3291840" y="2167128"/>
            <a:ext cx="1645920" cy="777240"/>
          </a:xfrm>
          <a:prstGeom prst="rect">
            <a:avLst/>
          </a:prstGeom>
          <a:noFill/>
        </p:spPr>
        <p:txBody>
          <a:bodyPr wrap="square" lIns="0" tIns="0" rIns="0" bIns="0">
            <a:spAutoFit/>
          </a:bodyPr>
          <a:lstStyle/>
          <a:p>
            <a:pPr algn="l"/>
            <a:r>
              <a:rPr sz="1050" b="0" i="0">
                <a:solidFill>
                  <a:srgbClr val="0F172A"/>
                </a:solidFill>
                <a:latin typeface="Segoe UI"/>
              </a:rPr>
              <a:t>DMS Escape
Scores
(per residue)</a:t>
            </a:r>
          </a:p>
        </p:txBody>
      </p:sp>
      <p:sp>
        <p:nvSpPr>
          <p:cNvPr id="12" name="Rounded Rectangle 11"/>
          <p:cNvSpPr/>
          <p:nvPr/>
        </p:nvSpPr>
        <p:spPr>
          <a:xfrm>
            <a:off x="5212080" y="2057400"/>
            <a:ext cx="2286000" cy="1005840"/>
          </a:xfrm>
          <a:prstGeom prst="roundRect">
            <a:avLst/>
          </a:prstGeom>
          <a:solidFill>
            <a:srgbClr val="EEF2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0" y="2130552"/>
            <a:ext cx="457200" cy="457200"/>
          </a:xfrm>
          <a:prstGeom prst="rect">
            <a:avLst/>
          </a:prstGeom>
          <a:noFill/>
        </p:spPr>
        <p:txBody>
          <a:bodyPr wrap="square" lIns="0" tIns="0" rIns="0" bIns="0">
            <a:spAutoFit/>
          </a:bodyPr>
          <a:lstStyle/>
          <a:p>
            <a:pPr algn="l"/>
            <a:r>
              <a:rPr sz="1800" b="0" i="0">
                <a:solidFill>
                  <a:srgbClr val="F59E0B"/>
                </a:solidFill>
                <a:latin typeface="Segoe UI"/>
              </a:rPr>
              <a:t>🎯</a:t>
            </a:r>
          </a:p>
        </p:txBody>
      </p:sp>
      <p:sp>
        <p:nvSpPr>
          <p:cNvPr id="14" name="TextBox 13"/>
          <p:cNvSpPr txBox="1"/>
          <p:nvPr/>
        </p:nvSpPr>
        <p:spPr>
          <a:xfrm>
            <a:off x="5760720" y="2167128"/>
            <a:ext cx="1645920" cy="777240"/>
          </a:xfrm>
          <a:prstGeom prst="rect">
            <a:avLst/>
          </a:prstGeom>
          <a:noFill/>
        </p:spPr>
        <p:txBody>
          <a:bodyPr wrap="square" lIns="0" tIns="0" rIns="0" bIns="0">
            <a:spAutoFit/>
          </a:bodyPr>
          <a:lstStyle/>
          <a:p>
            <a:pPr algn="l"/>
            <a:r>
              <a:rPr sz="1050" b="0" i="0">
                <a:solidFill>
                  <a:srgbClr val="0F172A"/>
                </a:solidFill>
                <a:latin typeface="Segoe UI"/>
              </a:rPr>
              <a:t>Hotspot
Positions
(ground truth)</a:t>
            </a:r>
          </a:p>
        </p:txBody>
      </p:sp>
      <p:sp>
        <p:nvSpPr>
          <p:cNvPr id="15" name="Rounded Rectangle 14"/>
          <p:cNvSpPr/>
          <p:nvPr/>
        </p:nvSpPr>
        <p:spPr>
          <a:xfrm>
            <a:off x="7680960" y="2057400"/>
            <a:ext cx="2286000" cy="1005840"/>
          </a:xfrm>
          <a:prstGeom prst="roundRect">
            <a:avLst/>
          </a:prstGeom>
          <a:solidFill>
            <a:srgbClr val="EEF2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2130552"/>
            <a:ext cx="457200" cy="457200"/>
          </a:xfrm>
          <a:prstGeom prst="rect">
            <a:avLst/>
          </a:prstGeom>
          <a:noFill/>
        </p:spPr>
        <p:txBody>
          <a:bodyPr wrap="square" lIns="0" tIns="0" rIns="0" bIns="0">
            <a:spAutoFit/>
          </a:bodyPr>
          <a:lstStyle/>
          <a:p>
            <a:pPr algn="l"/>
            <a:r>
              <a:rPr sz="1800" b="0" i="0">
                <a:solidFill>
                  <a:srgbClr val="14B8A6"/>
                </a:solidFill>
                <a:latin typeface="Segoe UI"/>
              </a:rPr>
              <a:t>🔭</a:t>
            </a:r>
          </a:p>
        </p:txBody>
      </p:sp>
      <p:sp>
        <p:nvSpPr>
          <p:cNvPr id="17" name="TextBox 16"/>
          <p:cNvSpPr txBox="1"/>
          <p:nvPr/>
        </p:nvSpPr>
        <p:spPr>
          <a:xfrm>
            <a:off x="8229600" y="2167128"/>
            <a:ext cx="1645920" cy="777240"/>
          </a:xfrm>
          <a:prstGeom prst="rect">
            <a:avLst/>
          </a:prstGeom>
          <a:noFill/>
        </p:spPr>
        <p:txBody>
          <a:bodyPr wrap="square" lIns="0" tIns="0" rIns="0" bIns="0">
            <a:spAutoFit/>
          </a:bodyPr>
          <a:lstStyle/>
          <a:p>
            <a:pPr algn="l"/>
            <a:r>
              <a:rPr sz="1050" b="0" i="0">
                <a:solidFill>
                  <a:srgbClr val="0F172A"/>
                </a:solidFill>
                <a:latin typeface="Segoe UI"/>
              </a:rPr>
              <a:t>3D Structure
Contact Graph
(6VXX)</a:t>
            </a:r>
          </a:p>
        </p:txBody>
      </p:sp>
      <p:sp>
        <p:nvSpPr>
          <p:cNvPr id="18" name="TextBox 17"/>
          <p:cNvSpPr txBox="1"/>
          <p:nvPr/>
        </p:nvSpPr>
        <p:spPr>
          <a:xfrm>
            <a:off x="2606040" y="2423160"/>
            <a:ext cx="365760" cy="365760"/>
          </a:xfrm>
          <a:prstGeom prst="rect">
            <a:avLst/>
          </a:prstGeom>
          <a:noFill/>
        </p:spPr>
        <p:txBody>
          <a:bodyPr wrap="square" lIns="0" tIns="0" rIns="0" bIns="0">
            <a:spAutoFit/>
          </a:bodyPr>
          <a:lstStyle/>
          <a:p>
            <a:pPr algn="ctr"/>
            <a:r>
              <a:rPr sz="1800" b="1" i="0">
                <a:solidFill>
                  <a:srgbClr val="4F46E5"/>
                </a:solidFill>
                <a:latin typeface="Segoe UI"/>
              </a:rPr>
              <a:t>→</a:t>
            </a:r>
          </a:p>
        </p:txBody>
      </p:sp>
      <p:sp>
        <p:nvSpPr>
          <p:cNvPr id="19" name="TextBox 18"/>
          <p:cNvSpPr txBox="1"/>
          <p:nvPr/>
        </p:nvSpPr>
        <p:spPr>
          <a:xfrm>
            <a:off x="5074920" y="2423160"/>
            <a:ext cx="365760" cy="365760"/>
          </a:xfrm>
          <a:prstGeom prst="rect">
            <a:avLst/>
          </a:prstGeom>
          <a:noFill/>
        </p:spPr>
        <p:txBody>
          <a:bodyPr wrap="square" lIns="0" tIns="0" rIns="0" bIns="0">
            <a:spAutoFit/>
          </a:bodyPr>
          <a:lstStyle/>
          <a:p>
            <a:pPr algn="ctr"/>
            <a:r>
              <a:rPr sz="1800" b="1" i="0">
                <a:solidFill>
                  <a:srgbClr val="4F46E5"/>
                </a:solidFill>
                <a:latin typeface="Segoe UI"/>
              </a:rPr>
              <a:t>→</a:t>
            </a:r>
          </a:p>
        </p:txBody>
      </p:sp>
      <p:sp>
        <p:nvSpPr>
          <p:cNvPr id="20" name="TextBox 19"/>
          <p:cNvSpPr txBox="1"/>
          <p:nvPr/>
        </p:nvSpPr>
        <p:spPr>
          <a:xfrm>
            <a:off x="7543800" y="2423160"/>
            <a:ext cx="365760" cy="365760"/>
          </a:xfrm>
          <a:prstGeom prst="rect">
            <a:avLst/>
          </a:prstGeom>
          <a:noFill/>
        </p:spPr>
        <p:txBody>
          <a:bodyPr wrap="square" lIns="0" tIns="0" rIns="0" bIns="0">
            <a:spAutoFit/>
          </a:bodyPr>
          <a:lstStyle/>
          <a:p>
            <a:pPr algn="ctr"/>
            <a:r>
              <a:rPr sz="1800" b="1" i="0">
                <a:solidFill>
                  <a:srgbClr val="4F46E5"/>
                </a:solidFill>
                <a:latin typeface="Segoe UI"/>
              </a:rPr>
              <a:t>→</a:t>
            </a:r>
          </a:p>
        </p:txBody>
      </p:sp>
      <p:sp>
        <p:nvSpPr>
          <p:cNvPr id="21" name="TextBox 20"/>
          <p:cNvSpPr txBox="1"/>
          <p:nvPr/>
        </p:nvSpPr>
        <p:spPr>
          <a:xfrm>
            <a:off x="3657600" y="3200400"/>
            <a:ext cx="4572000" cy="347472"/>
          </a:xfrm>
          <a:prstGeom prst="rect">
            <a:avLst/>
          </a:prstGeom>
          <a:noFill/>
        </p:spPr>
        <p:txBody>
          <a:bodyPr wrap="square" lIns="0" tIns="0" rIns="0" bIns="0">
            <a:spAutoFit/>
          </a:bodyPr>
          <a:lstStyle/>
          <a:p>
            <a:pPr algn="ctr"/>
            <a:r>
              <a:rPr sz="1200" b="1" i="0">
                <a:solidFill>
                  <a:srgbClr val="0F172A"/>
                </a:solidFill>
                <a:latin typeface="Segoe UI"/>
              </a:rPr>
              <a:t>↓  Feed into Model  ↓</a:t>
            </a:r>
          </a:p>
        </p:txBody>
      </p:sp>
      <p:sp>
        <p:nvSpPr>
          <p:cNvPr id="22" name="Rounded Rectangle 21"/>
          <p:cNvSpPr/>
          <p:nvPr/>
        </p:nvSpPr>
        <p:spPr>
          <a:xfrm>
            <a:off x="2743200" y="3611880"/>
            <a:ext cx="6583680" cy="77724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0" y="3703320"/>
            <a:ext cx="6217920" cy="566928"/>
          </a:xfrm>
          <a:prstGeom prst="rect">
            <a:avLst/>
          </a:prstGeom>
          <a:noFill/>
        </p:spPr>
        <p:txBody>
          <a:bodyPr wrap="square" lIns="0" tIns="0" rIns="0" bIns="0">
            <a:spAutoFit/>
          </a:bodyPr>
          <a:lstStyle/>
          <a:p>
            <a:pPr algn="ctr"/>
            <a:r>
              <a:rPr sz="1200" b="1" i="0">
                <a:solidFill>
                  <a:srgbClr val="FFFFFF"/>
                </a:solidFill>
                <a:latin typeface="Segoe UI"/>
              </a:rPr>
              <a:t>JointMutationEscapeModel (ESM-2 + GVP-GNN + Cross-Attention)</a:t>
            </a:r>
          </a:p>
        </p:txBody>
      </p:sp>
      <p:sp>
        <p:nvSpPr>
          <p:cNvPr id="24" name="TextBox 23"/>
          <p:cNvSpPr txBox="1"/>
          <p:nvPr/>
        </p:nvSpPr>
        <p:spPr>
          <a:xfrm>
            <a:off x="3657600" y="4480560"/>
            <a:ext cx="4572000" cy="347472"/>
          </a:xfrm>
          <a:prstGeom prst="rect">
            <a:avLst/>
          </a:prstGeom>
          <a:noFill/>
        </p:spPr>
        <p:txBody>
          <a:bodyPr wrap="square" lIns="0" tIns="0" rIns="0" bIns="0">
            <a:spAutoFit/>
          </a:bodyPr>
          <a:lstStyle/>
          <a:p>
            <a:pPr algn="ctr"/>
            <a:r>
              <a:rPr sz="1200" b="1" i="0">
                <a:solidFill>
                  <a:srgbClr val="0F172A"/>
                </a:solidFill>
                <a:latin typeface="Segoe UI"/>
              </a:rPr>
              <a:t>↓  Compute Error  ↓</a:t>
            </a:r>
          </a:p>
        </p:txBody>
      </p:sp>
      <p:sp>
        <p:nvSpPr>
          <p:cNvPr id="25" name="Rounded Rectangle 24"/>
          <p:cNvSpPr/>
          <p:nvPr/>
        </p:nvSpPr>
        <p:spPr>
          <a:xfrm>
            <a:off x="457200" y="4919472"/>
            <a:ext cx="5212080" cy="1371600"/>
          </a:xfrm>
          <a:prstGeom prst="roundRect">
            <a:avLst/>
          </a:prstGeom>
          <a:solidFill>
            <a:srgbClr val="FFFBE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010912"/>
            <a:ext cx="4846320" cy="347472"/>
          </a:xfrm>
          <a:prstGeom prst="rect">
            <a:avLst/>
          </a:prstGeom>
          <a:noFill/>
        </p:spPr>
        <p:txBody>
          <a:bodyPr wrap="square" lIns="0" tIns="0" rIns="0" bIns="0">
            <a:spAutoFit/>
          </a:bodyPr>
          <a:lstStyle/>
          <a:p>
            <a:pPr algn="l"/>
            <a:r>
              <a:rPr sz="1200" b="1" i="0">
                <a:solidFill>
                  <a:srgbClr val="F59E0B"/>
                </a:solidFill>
                <a:latin typeface="Segoe UI"/>
              </a:rPr>
              <a:t>🎯 Loss 1: Hotspot Classification</a:t>
            </a:r>
          </a:p>
        </p:txBody>
      </p:sp>
      <p:sp>
        <p:nvSpPr>
          <p:cNvPr id="27" name="TextBox 26"/>
          <p:cNvSpPr txBox="1"/>
          <p:nvPr/>
        </p:nvSpPr>
        <p:spPr>
          <a:xfrm>
            <a:off x="640080" y="5394960"/>
            <a:ext cx="4846320" cy="777240"/>
          </a:xfrm>
          <a:prstGeom prst="rect">
            <a:avLst/>
          </a:prstGeom>
          <a:noFill/>
        </p:spPr>
        <p:txBody>
          <a:bodyPr wrap="square" lIns="0" tIns="0" rIns="0" bIns="0">
            <a:spAutoFit/>
          </a:bodyPr>
          <a:lstStyle/>
          <a:p>
            <a:pPr algn="l"/>
            <a:r>
              <a:rPr sz="1100" b="0" i="0">
                <a:solidFill>
                  <a:srgbClr val="0F172A"/>
                </a:solidFill>
                <a:latin typeface="Segoe UI"/>
              </a:rPr>
              <a:t>Binary question: Is this residue a known mutation hotspot?
Model prediction vs. ground truth hotspot list.
Penalizes model when it misses a hotspot or flags the wrong site.</a:t>
            </a:r>
          </a:p>
        </p:txBody>
      </p:sp>
      <p:sp>
        <p:nvSpPr>
          <p:cNvPr id="28" name="Rounded Rectangle 27"/>
          <p:cNvSpPr/>
          <p:nvPr/>
        </p:nvSpPr>
        <p:spPr>
          <a:xfrm>
            <a:off x="5943600" y="4919472"/>
            <a:ext cx="5212080" cy="137160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5010912"/>
            <a:ext cx="4846320" cy="347472"/>
          </a:xfrm>
          <a:prstGeom prst="rect">
            <a:avLst/>
          </a:prstGeom>
          <a:noFill/>
        </p:spPr>
        <p:txBody>
          <a:bodyPr wrap="square" lIns="0" tIns="0" rIns="0" bIns="0">
            <a:spAutoFit/>
          </a:bodyPr>
          <a:lstStyle/>
          <a:p>
            <a:pPr algn="l"/>
            <a:r>
              <a:rPr sz="1200" b="1" i="0">
                <a:solidFill>
                  <a:srgbClr val="4F46E5"/>
                </a:solidFill>
                <a:latin typeface="Segoe UI"/>
              </a:rPr>
              <a:t>🔬 Loss 2: Escape Score Regression</a:t>
            </a:r>
          </a:p>
        </p:txBody>
      </p:sp>
      <p:sp>
        <p:nvSpPr>
          <p:cNvPr id="30" name="TextBox 29"/>
          <p:cNvSpPr txBox="1"/>
          <p:nvPr/>
        </p:nvSpPr>
        <p:spPr>
          <a:xfrm>
            <a:off x="6126480" y="5394960"/>
            <a:ext cx="4846320" cy="777240"/>
          </a:xfrm>
          <a:prstGeom prst="rect">
            <a:avLst/>
          </a:prstGeom>
          <a:noFill/>
        </p:spPr>
        <p:txBody>
          <a:bodyPr wrap="square" lIns="0" tIns="0" rIns="0" bIns="0">
            <a:spAutoFit/>
          </a:bodyPr>
          <a:lstStyle/>
          <a:p>
            <a:pPr algn="l"/>
            <a:r>
              <a:rPr sz="1100" b="0" i="0">
                <a:solidFill>
                  <a:srgbClr val="0F172A"/>
                </a:solidFill>
                <a:latin typeface="Segoe UI"/>
              </a:rPr>
              <a:t>Continuous question: How close is the predicted escape score to
the actual DMS-measured escape value?
Penalizes model for being far from the experimental measurement.</a:t>
            </a:r>
          </a:p>
        </p:txBody>
      </p:sp>
      <p:sp>
        <p:nvSpPr>
          <p:cNvPr id="31" name="TextBox 30"/>
          <p:cNvSpPr txBox="1"/>
          <p:nvPr/>
        </p:nvSpPr>
        <p:spPr>
          <a:xfrm>
            <a:off x="457200" y="6400800"/>
            <a:ext cx="11155680" cy="365760"/>
          </a:xfrm>
          <a:prstGeom prst="rect">
            <a:avLst/>
          </a:prstGeom>
          <a:noFill/>
        </p:spPr>
        <p:txBody>
          <a:bodyPr wrap="square" lIns="0" tIns="0" rIns="0" bIns="0">
            <a:spAutoFit/>
          </a:bodyPr>
          <a:lstStyle/>
          <a:p>
            <a:pPr algn="ctr"/>
            <a:r>
              <a:rPr sz="1100" b="0" i="0">
                <a:solidFill>
                  <a:srgbClr val="64748B"/>
                </a:solidFill>
                <a:latin typeface="Segoe UI"/>
              </a:rPr>
              <a:t>The model adjusts its internal weights after every batch to reduce both errors. Best weights saved as checkpoints/best_model.pt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Results: How Well Does It Work?</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Evaluated on 1,000 test cases — variants the model NEVER saw during training</a:t>
            </a:r>
          </a:p>
        </p:txBody>
      </p:sp>
      <p:sp>
        <p:nvSpPr>
          <p:cNvPr id="5" name="TextBox 4"/>
          <p:cNvSpPr txBox="1"/>
          <p:nvPr/>
        </p:nvSpPr>
        <p:spPr>
          <a:xfrm>
            <a:off x="457200" y="1280160"/>
            <a:ext cx="11247120" cy="731520"/>
          </a:xfrm>
          <a:prstGeom prst="rect">
            <a:avLst/>
          </a:prstGeom>
          <a:noFill/>
        </p:spPr>
        <p:txBody>
          <a:bodyPr wrap="square" lIns="0" tIns="0" rIns="0" bIns="0">
            <a:spAutoFit/>
          </a:bodyPr>
          <a:lstStyle/>
          <a:p>
            <a:pPr algn="l"/>
            <a:r>
              <a:rPr sz="1300" b="0" i="0">
                <a:solidFill>
                  <a:srgbClr val="0F172A"/>
                </a:solidFill>
                <a:latin typeface="Segoe UI"/>
              </a:rPr>
              <a:t>The key test: train on sequences up to Dec 2023, then ask the model to rank all 1,273 Spike positions by danger. Check: do the positions the model ranked highest match the positions that actually mutated in JN.1, KP.2, KP.3, and XEC?</a:t>
            </a:r>
          </a:p>
        </p:txBody>
      </p:sp>
      <p:sp>
        <p:nvSpPr>
          <p:cNvPr id="6" name="Rounded Rectangle 5"/>
          <p:cNvSpPr/>
          <p:nvPr/>
        </p:nvSpPr>
        <p:spPr>
          <a:xfrm>
            <a:off x="365760" y="2148840"/>
            <a:ext cx="2743200" cy="86868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194560"/>
            <a:ext cx="2743200" cy="758952"/>
          </a:xfrm>
          <a:prstGeom prst="rect">
            <a:avLst/>
          </a:prstGeom>
          <a:noFill/>
        </p:spPr>
        <p:txBody>
          <a:bodyPr wrap="square" lIns="0" tIns="0" rIns="0" bIns="0">
            <a:spAutoFit/>
          </a:bodyPr>
          <a:lstStyle/>
          <a:p>
            <a:pPr algn="ctr"/>
            <a:r>
              <a:rPr sz="1800" b="1" i="0">
                <a:solidFill>
                  <a:srgbClr val="FFFFFF"/>
                </a:solidFill>
                <a:latin typeface="Segoe UI"/>
              </a:rPr>
              <a:t>AUROC
0.7357</a:t>
            </a:r>
          </a:p>
        </p:txBody>
      </p:sp>
      <p:sp>
        <p:nvSpPr>
          <p:cNvPr id="8" name="Rounded Rectangle 7"/>
          <p:cNvSpPr/>
          <p:nvPr/>
        </p:nvSpPr>
        <p:spPr>
          <a:xfrm>
            <a:off x="365760" y="3063240"/>
            <a:ext cx="2743200" cy="1417320"/>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127248"/>
            <a:ext cx="2468880" cy="1280160"/>
          </a:xfrm>
          <a:prstGeom prst="rect">
            <a:avLst/>
          </a:prstGeom>
          <a:noFill/>
        </p:spPr>
        <p:txBody>
          <a:bodyPr wrap="square" lIns="0" tIns="0" rIns="0" bIns="0">
            <a:spAutoFit/>
          </a:bodyPr>
          <a:lstStyle/>
          <a:p>
            <a:pPr algn="l"/>
            <a:r>
              <a:rPr sz="1050" b="0" i="0">
                <a:solidFill>
                  <a:srgbClr val="0F172A"/>
                </a:solidFill>
                <a:latin typeface="Segoe UI"/>
              </a:rPr>
              <a:t>Model's ability to rank high-risk sites above low-risk sites.
0.5 = random guessing
1.0 = perfect
0.74 = good!</a:t>
            </a:r>
          </a:p>
        </p:txBody>
      </p:sp>
      <p:sp>
        <p:nvSpPr>
          <p:cNvPr id="10" name="Rounded Rectangle 9"/>
          <p:cNvSpPr/>
          <p:nvPr/>
        </p:nvSpPr>
        <p:spPr>
          <a:xfrm>
            <a:off x="3291840" y="2148840"/>
            <a:ext cx="2743200" cy="8686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2194560"/>
            <a:ext cx="2743200" cy="758952"/>
          </a:xfrm>
          <a:prstGeom prst="rect">
            <a:avLst/>
          </a:prstGeom>
          <a:noFill/>
        </p:spPr>
        <p:txBody>
          <a:bodyPr wrap="square" lIns="0" tIns="0" rIns="0" bIns="0">
            <a:spAutoFit/>
          </a:bodyPr>
          <a:lstStyle/>
          <a:p>
            <a:pPr algn="ctr"/>
            <a:r>
              <a:rPr sz="1800" b="1" i="0">
                <a:solidFill>
                  <a:srgbClr val="FFFFFF"/>
                </a:solidFill>
                <a:latin typeface="Segoe UI"/>
              </a:rPr>
              <a:t>Spearman ρ
0.34</a:t>
            </a:r>
          </a:p>
        </p:txBody>
      </p:sp>
      <p:sp>
        <p:nvSpPr>
          <p:cNvPr id="12" name="Rounded Rectangle 11"/>
          <p:cNvSpPr/>
          <p:nvPr/>
        </p:nvSpPr>
        <p:spPr>
          <a:xfrm>
            <a:off x="3291840" y="3063240"/>
            <a:ext cx="2743200" cy="1417320"/>
          </a:xfrm>
          <a:prstGeom prst="roundRect">
            <a:avLst/>
          </a:prstGeom>
          <a:solidFill>
            <a:srgbClr val="EEF2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3127248"/>
            <a:ext cx="2468880" cy="1280160"/>
          </a:xfrm>
          <a:prstGeom prst="rect">
            <a:avLst/>
          </a:prstGeom>
          <a:noFill/>
        </p:spPr>
        <p:txBody>
          <a:bodyPr wrap="square" lIns="0" tIns="0" rIns="0" bIns="0">
            <a:spAutoFit/>
          </a:bodyPr>
          <a:lstStyle/>
          <a:p>
            <a:pPr algn="l"/>
            <a:r>
              <a:rPr sz="1050" b="0" i="0">
                <a:solidFill>
                  <a:srgbClr val="0F172A"/>
                </a:solidFill>
                <a:latin typeface="Segoe UI"/>
              </a:rPr>
              <a:t>Rank correlation between predicted escape scores and actual DMS measurements.
Positive = predictions match real data ordering.</a:t>
            </a:r>
          </a:p>
        </p:txBody>
      </p:sp>
      <p:sp>
        <p:nvSpPr>
          <p:cNvPr id="14" name="Rounded Rectangle 13"/>
          <p:cNvSpPr/>
          <p:nvPr/>
        </p:nvSpPr>
        <p:spPr>
          <a:xfrm>
            <a:off x="6217920" y="2148840"/>
            <a:ext cx="2743200" cy="8686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2194560"/>
            <a:ext cx="2743200" cy="758952"/>
          </a:xfrm>
          <a:prstGeom prst="rect">
            <a:avLst/>
          </a:prstGeom>
          <a:noFill/>
        </p:spPr>
        <p:txBody>
          <a:bodyPr wrap="square" lIns="0" tIns="0" rIns="0" bIns="0">
            <a:spAutoFit/>
          </a:bodyPr>
          <a:lstStyle/>
          <a:p>
            <a:pPr algn="ctr"/>
            <a:r>
              <a:rPr sz="1800" b="1" i="0">
                <a:solidFill>
                  <a:srgbClr val="FFFFFF"/>
                </a:solidFill>
                <a:latin typeface="Segoe UI"/>
              </a:rPr>
              <a:t>MSE
0.0326</a:t>
            </a:r>
          </a:p>
        </p:txBody>
      </p:sp>
      <p:sp>
        <p:nvSpPr>
          <p:cNvPr id="16" name="Rounded Rectangle 15"/>
          <p:cNvSpPr/>
          <p:nvPr/>
        </p:nvSpPr>
        <p:spPr>
          <a:xfrm>
            <a:off x="6217920" y="3063240"/>
            <a:ext cx="2743200" cy="1417320"/>
          </a:xfrm>
          <a:prstGeom prst="roundRect">
            <a:avLst/>
          </a:prstGeom>
          <a:solidFill>
            <a:srgbClr val="EEF2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127248"/>
            <a:ext cx="2468880" cy="1280160"/>
          </a:xfrm>
          <a:prstGeom prst="rect">
            <a:avLst/>
          </a:prstGeom>
          <a:noFill/>
        </p:spPr>
        <p:txBody>
          <a:bodyPr wrap="square" lIns="0" tIns="0" rIns="0" bIns="0">
            <a:spAutoFit/>
          </a:bodyPr>
          <a:lstStyle/>
          <a:p>
            <a:pPr algn="l"/>
            <a:r>
              <a:rPr sz="1050" b="0" i="0">
                <a:solidFill>
                  <a:srgbClr val="0F172A"/>
                </a:solidFill>
                <a:latin typeface="Segoe UI"/>
              </a:rPr>
              <a:t>Mean Squared Error on escape score regression. Low value indicates predictions are numerically close to DMS ground truth.</a:t>
            </a:r>
          </a:p>
        </p:txBody>
      </p:sp>
      <p:sp>
        <p:nvSpPr>
          <p:cNvPr id="18" name="Rounded Rectangle 17"/>
          <p:cNvSpPr/>
          <p:nvPr/>
        </p:nvSpPr>
        <p:spPr>
          <a:xfrm>
            <a:off x="9144000" y="2148840"/>
            <a:ext cx="2743200" cy="8686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0" y="2194560"/>
            <a:ext cx="2743200" cy="758952"/>
          </a:xfrm>
          <a:prstGeom prst="rect">
            <a:avLst/>
          </a:prstGeom>
          <a:noFill/>
        </p:spPr>
        <p:txBody>
          <a:bodyPr wrap="square" lIns="0" tIns="0" rIns="0" bIns="0">
            <a:spAutoFit/>
          </a:bodyPr>
          <a:lstStyle/>
          <a:p>
            <a:pPr algn="ctr"/>
            <a:r>
              <a:rPr sz="1800" b="1" i="0">
                <a:solidFill>
                  <a:srgbClr val="FFFFFF"/>
                </a:solidFill>
                <a:latin typeface="Segoe UI"/>
              </a:rPr>
              <a:t>Hotspots
Identified</a:t>
            </a:r>
          </a:p>
        </p:txBody>
      </p:sp>
      <p:sp>
        <p:nvSpPr>
          <p:cNvPr id="20" name="Rounded Rectangle 19"/>
          <p:cNvSpPr/>
          <p:nvPr/>
        </p:nvSpPr>
        <p:spPr>
          <a:xfrm>
            <a:off x="9144000" y="3063240"/>
            <a:ext cx="2743200" cy="1417320"/>
          </a:xfrm>
          <a:prstGeom prst="roundRect">
            <a:avLst/>
          </a:prstGeom>
          <a:solidFill>
            <a:srgbClr val="EEF2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3127248"/>
            <a:ext cx="2468880" cy="1280160"/>
          </a:xfrm>
          <a:prstGeom prst="rect">
            <a:avLst/>
          </a:prstGeom>
          <a:noFill/>
        </p:spPr>
        <p:txBody>
          <a:bodyPr wrap="square" lIns="0" tIns="0" rIns="0" bIns="0">
            <a:spAutoFit/>
          </a:bodyPr>
          <a:lstStyle/>
          <a:p>
            <a:pPr algn="l"/>
            <a:r>
              <a:rPr sz="1050" b="0" i="0">
                <a:solidFill>
                  <a:srgbClr val="0F172A"/>
                </a:solidFill>
                <a:latin typeface="Segoe UI"/>
              </a:rPr>
              <a:t>E484 ✅  F456 ✅
L452 ✅  F486 ✅
All ranked in
top 5% of risky sites.</a:t>
            </a:r>
          </a:p>
        </p:txBody>
      </p:sp>
      <p:sp>
        <p:nvSpPr>
          <p:cNvPr id="22" name="Rounded Rectangle 21"/>
          <p:cNvSpPr/>
          <p:nvPr/>
        </p:nvSpPr>
        <p:spPr>
          <a:xfrm>
            <a:off x="274320" y="4617720"/>
            <a:ext cx="11430000" cy="2011680"/>
          </a:xfrm>
          <a:prstGeom prst="roundRect">
            <a:avLst/>
          </a:prstGeom>
          <a:solidFill>
            <a:srgbClr val="EEF2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709160"/>
            <a:ext cx="10972800" cy="365760"/>
          </a:xfrm>
          <a:prstGeom prst="rect">
            <a:avLst/>
          </a:prstGeom>
          <a:noFill/>
        </p:spPr>
        <p:txBody>
          <a:bodyPr wrap="square" lIns="0" tIns="0" rIns="0" bIns="0">
            <a:spAutoFit/>
          </a:bodyPr>
          <a:lstStyle/>
          <a:p>
            <a:pPr algn="l"/>
            <a:r>
              <a:rPr sz="1300" b="1" i="0">
                <a:solidFill>
                  <a:srgbClr val="10B981"/>
                </a:solidFill>
                <a:latin typeface="Segoe UI"/>
              </a:rPr>
              <a:t>🎯  What the Model Correctly Identified (Before Variants Emerged)</a:t>
            </a:r>
          </a:p>
        </p:txBody>
      </p:sp>
      <p:sp>
        <p:nvSpPr>
          <p:cNvPr id="24" name="TextBox 23"/>
          <p:cNvSpPr txBox="1"/>
          <p:nvPr/>
        </p:nvSpPr>
        <p:spPr>
          <a:xfrm>
            <a:off x="457200" y="5120640"/>
            <a:ext cx="2103120" cy="320040"/>
          </a:xfrm>
          <a:prstGeom prst="rect">
            <a:avLst/>
          </a:prstGeom>
          <a:noFill/>
        </p:spPr>
        <p:txBody>
          <a:bodyPr wrap="square" lIns="0" tIns="0" rIns="0" bIns="0">
            <a:spAutoFit/>
          </a:bodyPr>
          <a:lstStyle/>
          <a:p>
            <a:pPr algn="ctr"/>
            <a:r>
              <a:rPr sz="1200" b="1" i="0">
                <a:solidFill>
                  <a:srgbClr val="4F46E5"/>
                </a:solidFill>
                <a:latin typeface="Segoe UI"/>
              </a:rPr>
              <a:t>E484</a:t>
            </a:r>
          </a:p>
        </p:txBody>
      </p:sp>
      <p:sp>
        <p:nvSpPr>
          <p:cNvPr id="25" name="TextBox 24"/>
          <p:cNvSpPr txBox="1"/>
          <p:nvPr/>
        </p:nvSpPr>
        <p:spPr>
          <a:xfrm>
            <a:off x="457200" y="5440680"/>
            <a:ext cx="2103120" cy="1051560"/>
          </a:xfrm>
          <a:prstGeom prst="rect">
            <a:avLst/>
          </a:prstGeom>
          <a:noFill/>
        </p:spPr>
        <p:txBody>
          <a:bodyPr wrap="square" lIns="0" tIns="0" rIns="0" bIns="0">
            <a:spAutoFit/>
          </a:bodyPr>
          <a:lstStyle/>
          <a:p>
            <a:pPr algn="ctr"/>
            <a:r>
              <a:rPr sz="950" b="0" i="0">
                <a:solidFill>
                  <a:srgbClr val="0F172A"/>
                </a:solidFill>
                <a:latin typeface="Segoe UI"/>
              </a:rPr>
              <a:t>Ranked #2 danger. Appeared in Beta, Gamma, early Omicron — escapes LY-CoV016/Bamlanivimab ✅</a:t>
            </a:r>
          </a:p>
        </p:txBody>
      </p:sp>
      <p:sp>
        <p:nvSpPr>
          <p:cNvPr id="26" name="TextBox 25"/>
          <p:cNvSpPr txBox="1"/>
          <p:nvPr/>
        </p:nvSpPr>
        <p:spPr>
          <a:xfrm>
            <a:off x="2743200" y="5120640"/>
            <a:ext cx="2103120" cy="320040"/>
          </a:xfrm>
          <a:prstGeom prst="rect">
            <a:avLst/>
          </a:prstGeom>
          <a:noFill/>
        </p:spPr>
        <p:txBody>
          <a:bodyPr wrap="square" lIns="0" tIns="0" rIns="0" bIns="0">
            <a:spAutoFit/>
          </a:bodyPr>
          <a:lstStyle/>
          <a:p>
            <a:pPr algn="ctr"/>
            <a:r>
              <a:rPr sz="1200" b="1" i="0">
                <a:solidFill>
                  <a:srgbClr val="4F46E5"/>
                </a:solidFill>
                <a:latin typeface="Segoe UI"/>
              </a:rPr>
              <a:t>F456</a:t>
            </a:r>
          </a:p>
        </p:txBody>
      </p:sp>
      <p:sp>
        <p:nvSpPr>
          <p:cNvPr id="27" name="TextBox 26"/>
          <p:cNvSpPr txBox="1"/>
          <p:nvPr/>
        </p:nvSpPr>
        <p:spPr>
          <a:xfrm>
            <a:off x="2743200" y="5440680"/>
            <a:ext cx="2103120" cy="1051560"/>
          </a:xfrm>
          <a:prstGeom prst="rect">
            <a:avLst/>
          </a:prstGeom>
          <a:noFill/>
        </p:spPr>
        <p:txBody>
          <a:bodyPr wrap="square" lIns="0" tIns="0" rIns="0" bIns="0">
            <a:spAutoFit/>
          </a:bodyPr>
          <a:lstStyle/>
          <a:p>
            <a:pPr algn="ctr"/>
            <a:r>
              <a:rPr sz="950" b="0" i="0">
                <a:solidFill>
                  <a:srgbClr val="0F172A"/>
                </a:solidFill>
                <a:latin typeface="Segoe UI"/>
              </a:rPr>
              <a:t>Ranked #1 danger. Appeared in JN.1, KP.3, KP.2 — class 1 antibody escape ✅</a:t>
            </a:r>
          </a:p>
        </p:txBody>
      </p:sp>
      <p:sp>
        <p:nvSpPr>
          <p:cNvPr id="28" name="TextBox 27"/>
          <p:cNvSpPr txBox="1"/>
          <p:nvPr/>
        </p:nvSpPr>
        <p:spPr>
          <a:xfrm>
            <a:off x="5029200" y="5120640"/>
            <a:ext cx="2103120" cy="320040"/>
          </a:xfrm>
          <a:prstGeom prst="rect">
            <a:avLst/>
          </a:prstGeom>
          <a:noFill/>
        </p:spPr>
        <p:txBody>
          <a:bodyPr wrap="square" lIns="0" tIns="0" rIns="0" bIns="0">
            <a:spAutoFit/>
          </a:bodyPr>
          <a:lstStyle/>
          <a:p>
            <a:pPr algn="ctr"/>
            <a:r>
              <a:rPr sz="1200" b="1" i="0">
                <a:solidFill>
                  <a:srgbClr val="4F46E5"/>
                </a:solidFill>
                <a:latin typeface="Segoe UI"/>
              </a:rPr>
              <a:t>L452</a:t>
            </a:r>
          </a:p>
        </p:txBody>
      </p:sp>
      <p:sp>
        <p:nvSpPr>
          <p:cNvPr id="29" name="TextBox 28"/>
          <p:cNvSpPr txBox="1"/>
          <p:nvPr/>
        </p:nvSpPr>
        <p:spPr>
          <a:xfrm>
            <a:off x="5029200" y="5440680"/>
            <a:ext cx="2103120" cy="1051560"/>
          </a:xfrm>
          <a:prstGeom prst="rect">
            <a:avLst/>
          </a:prstGeom>
          <a:noFill/>
        </p:spPr>
        <p:txBody>
          <a:bodyPr wrap="square" lIns="0" tIns="0" rIns="0" bIns="0">
            <a:spAutoFit/>
          </a:bodyPr>
          <a:lstStyle/>
          <a:p>
            <a:pPr algn="ctr"/>
            <a:r>
              <a:rPr sz="950" b="0" i="0">
                <a:solidFill>
                  <a:srgbClr val="0F172A"/>
                </a:solidFill>
                <a:latin typeface="Segoe UI"/>
              </a:rPr>
              <a:t>Ranked #3. Appeared in Delta (L452R) and BA.4/5 (L452Q) ✅</a:t>
            </a:r>
          </a:p>
        </p:txBody>
      </p:sp>
      <p:sp>
        <p:nvSpPr>
          <p:cNvPr id="30" name="TextBox 29"/>
          <p:cNvSpPr txBox="1"/>
          <p:nvPr/>
        </p:nvSpPr>
        <p:spPr>
          <a:xfrm>
            <a:off x="7315200" y="5120640"/>
            <a:ext cx="2103120" cy="320040"/>
          </a:xfrm>
          <a:prstGeom prst="rect">
            <a:avLst/>
          </a:prstGeom>
          <a:noFill/>
        </p:spPr>
        <p:txBody>
          <a:bodyPr wrap="square" lIns="0" tIns="0" rIns="0" bIns="0">
            <a:spAutoFit/>
          </a:bodyPr>
          <a:lstStyle/>
          <a:p>
            <a:pPr algn="ctr"/>
            <a:r>
              <a:rPr sz="1200" b="1" i="0">
                <a:solidFill>
                  <a:srgbClr val="4F46E5"/>
                </a:solidFill>
                <a:latin typeface="Segoe UI"/>
              </a:rPr>
              <a:t>F486</a:t>
            </a:r>
          </a:p>
        </p:txBody>
      </p:sp>
      <p:sp>
        <p:nvSpPr>
          <p:cNvPr id="31" name="TextBox 30"/>
          <p:cNvSpPr txBox="1"/>
          <p:nvPr/>
        </p:nvSpPr>
        <p:spPr>
          <a:xfrm>
            <a:off x="7315200" y="5440680"/>
            <a:ext cx="2103120" cy="1051560"/>
          </a:xfrm>
          <a:prstGeom prst="rect">
            <a:avLst/>
          </a:prstGeom>
          <a:noFill/>
        </p:spPr>
        <p:txBody>
          <a:bodyPr wrap="square" lIns="0" tIns="0" rIns="0" bIns="0">
            <a:spAutoFit/>
          </a:bodyPr>
          <a:lstStyle/>
          <a:p>
            <a:pPr algn="ctr"/>
            <a:r>
              <a:rPr sz="950" b="0" i="0">
                <a:solidFill>
                  <a:srgbClr val="0F172A"/>
                </a:solidFill>
                <a:latin typeface="Segoe UI"/>
              </a:rPr>
              <a:t>Ranked #5. Appeared in BA.4, BA.5, XBB.1.5 ✅</a:t>
            </a:r>
          </a:p>
        </p:txBody>
      </p:sp>
      <p:sp>
        <p:nvSpPr>
          <p:cNvPr id="32" name="TextBox 31"/>
          <p:cNvSpPr txBox="1"/>
          <p:nvPr/>
        </p:nvSpPr>
        <p:spPr>
          <a:xfrm>
            <a:off x="9601200" y="5120640"/>
            <a:ext cx="2103120" cy="320040"/>
          </a:xfrm>
          <a:prstGeom prst="rect">
            <a:avLst/>
          </a:prstGeom>
          <a:noFill/>
        </p:spPr>
        <p:txBody>
          <a:bodyPr wrap="square" lIns="0" tIns="0" rIns="0" bIns="0">
            <a:spAutoFit/>
          </a:bodyPr>
          <a:lstStyle/>
          <a:p>
            <a:pPr algn="ctr"/>
            <a:r>
              <a:rPr sz="1200" b="1" i="0">
                <a:solidFill>
                  <a:srgbClr val="4F46E5"/>
                </a:solidFill>
                <a:latin typeface="Segoe UI"/>
              </a:rPr>
              <a:t>S704</a:t>
            </a:r>
          </a:p>
        </p:txBody>
      </p:sp>
      <p:sp>
        <p:nvSpPr>
          <p:cNvPr id="33" name="TextBox 32"/>
          <p:cNvSpPr txBox="1"/>
          <p:nvPr/>
        </p:nvSpPr>
        <p:spPr>
          <a:xfrm>
            <a:off x="9601200" y="5440680"/>
            <a:ext cx="2103120" cy="1051560"/>
          </a:xfrm>
          <a:prstGeom prst="rect">
            <a:avLst/>
          </a:prstGeom>
          <a:noFill/>
        </p:spPr>
        <p:txBody>
          <a:bodyPr wrap="square" lIns="0" tIns="0" rIns="0" bIns="0">
            <a:spAutoFit/>
          </a:bodyPr>
          <a:lstStyle/>
          <a:p>
            <a:pPr algn="ctr"/>
            <a:r>
              <a:rPr sz="950" b="0" i="0">
                <a:solidFill>
                  <a:srgbClr val="0F172A"/>
                </a:solidFill>
                <a:latin typeface="Segoe UI"/>
              </a:rPr>
              <a:t>Flagged as rising. Appeared in KP.3 and XEC variants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Top Hotspots: The Biology Behind Each Site</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What makes these positions so dangerous — explained biologically</a:t>
            </a:r>
          </a:p>
        </p:txBody>
      </p:sp>
      <p:sp>
        <p:nvSpPr>
          <p:cNvPr id="5" name="Rounded Rectangle 4"/>
          <p:cNvSpPr/>
          <p:nvPr/>
        </p:nvSpPr>
        <p:spPr>
          <a:xfrm>
            <a:off x="274320" y="1280160"/>
            <a:ext cx="3749039" cy="2468880"/>
          </a:xfrm>
          <a:prstGeom prst="roundRect">
            <a:avLst/>
          </a:prstGeom>
          <a:solidFill>
            <a:srgbClr val="EEF2FF"/>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371600"/>
            <a:ext cx="3474720" cy="411480"/>
          </a:xfrm>
          <a:prstGeom prst="rect">
            <a:avLst/>
          </a:prstGeom>
          <a:noFill/>
        </p:spPr>
        <p:txBody>
          <a:bodyPr wrap="square" lIns="0" tIns="0" rIns="0" bIns="0">
            <a:spAutoFit/>
          </a:bodyPr>
          <a:lstStyle/>
          <a:p>
            <a:pPr algn="l"/>
            <a:r>
              <a:rPr sz="1500" b="1" i="0">
                <a:solidFill>
                  <a:srgbClr val="F43F5E"/>
                </a:solidFill>
                <a:latin typeface="Segoe UI"/>
              </a:rPr>
              <a:t>🔴  E484</a:t>
            </a:r>
          </a:p>
        </p:txBody>
      </p:sp>
      <p:sp>
        <p:nvSpPr>
          <p:cNvPr id="7" name="TextBox 6"/>
          <p:cNvSpPr txBox="1"/>
          <p:nvPr/>
        </p:nvSpPr>
        <p:spPr>
          <a:xfrm>
            <a:off x="411479" y="1810512"/>
            <a:ext cx="3474720" cy="1783080"/>
          </a:xfrm>
          <a:prstGeom prst="rect">
            <a:avLst/>
          </a:prstGeom>
          <a:noFill/>
        </p:spPr>
        <p:txBody>
          <a:bodyPr wrap="square" lIns="0" tIns="0" rIns="0" bIns="0">
            <a:spAutoFit/>
          </a:bodyPr>
          <a:lstStyle/>
          <a:p>
            <a:pPr algn="l"/>
            <a:r>
              <a:rPr sz="1050" b="0" i="0">
                <a:solidFill>
                  <a:srgbClr val="0F172A"/>
                </a:solidFill>
                <a:latin typeface="Segoe UI"/>
              </a:rPr>
              <a:t>RBD Class 2 epitope. Glutamate (E) is negatively charged and directly contacts the LY-CoV016 antibody. E484K (to positively charged Lysine) flips the charge, repelling the antibody. Found in Beta (E484K), Omicron sub-variants (E484A). Also alters ACE2 contact slightly.</a:t>
            </a:r>
          </a:p>
        </p:txBody>
      </p:sp>
      <p:sp>
        <p:nvSpPr>
          <p:cNvPr id="8" name="Rounded Rectangle 7"/>
          <p:cNvSpPr/>
          <p:nvPr/>
        </p:nvSpPr>
        <p:spPr>
          <a:xfrm>
            <a:off x="4206240" y="1280160"/>
            <a:ext cx="3749039" cy="246888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371600"/>
            <a:ext cx="3474720" cy="411480"/>
          </a:xfrm>
          <a:prstGeom prst="rect">
            <a:avLst/>
          </a:prstGeom>
          <a:noFill/>
        </p:spPr>
        <p:txBody>
          <a:bodyPr wrap="square" lIns="0" tIns="0" rIns="0" bIns="0">
            <a:spAutoFit/>
          </a:bodyPr>
          <a:lstStyle/>
          <a:p>
            <a:pPr algn="l"/>
            <a:r>
              <a:rPr sz="1500" b="1" i="0">
                <a:solidFill>
                  <a:srgbClr val="4F46E5"/>
                </a:solidFill>
                <a:latin typeface="Segoe UI"/>
              </a:rPr>
              <a:t>🔵  F456</a:t>
            </a:r>
          </a:p>
        </p:txBody>
      </p:sp>
      <p:sp>
        <p:nvSpPr>
          <p:cNvPr id="10" name="TextBox 9"/>
          <p:cNvSpPr txBox="1"/>
          <p:nvPr/>
        </p:nvSpPr>
        <p:spPr>
          <a:xfrm>
            <a:off x="4343400" y="1810512"/>
            <a:ext cx="3474720" cy="1783080"/>
          </a:xfrm>
          <a:prstGeom prst="rect">
            <a:avLst/>
          </a:prstGeom>
          <a:noFill/>
        </p:spPr>
        <p:txBody>
          <a:bodyPr wrap="square" lIns="0" tIns="0" rIns="0" bIns="0">
            <a:spAutoFit/>
          </a:bodyPr>
          <a:lstStyle/>
          <a:p>
            <a:pPr algn="l"/>
            <a:r>
              <a:rPr sz="1050" b="0" i="0">
                <a:solidFill>
                  <a:srgbClr val="0F172A"/>
                </a:solidFill>
                <a:latin typeface="Segoe UI"/>
              </a:rPr>
              <a:t>RBD Class 1 epitope. Phenylalanine (F) is a bulky aromatic amino acid sitting at the tip of the ACE2-binding loop. F456L (to Leucine) is smaller — this CHANGES the shape of the loop, disrupting antibody contact. Key mutation in JN.1, KP.2, KP.3.</a:t>
            </a:r>
          </a:p>
        </p:txBody>
      </p:sp>
      <p:sp>
        <p:nvSpPr>
          <p:cNvPr id="11" name="Rounded Rectangle 10"/>
          <p:cNvSpPr/>
          <p:nvPr/>
        </p:nvSpPr>
        <p:spPr>
          <a:xfrm>
            <a:off x="8138160" y="1280160"/>
            <a:ext cx="3749039" cy="2468880"/>
          </a:xfrm>
          <a:prstGeom prst="roundRect">
            <a:avLst/>
          </a:prstGeom>
          <a:solidFill>
            <a:srgbClr val="EEF2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371600"/>
            <a:ext cx="3474720" cy="411480"/>
          </a:xfrm>
          <a:prstGeom prst="rect">
            <a:avLst/>
          </a:prstGeom>
          <a:noFill/>
        </p:spPr>
        <p:txBody>
          <a:bodyPr wrap="square" lIns="0" tIns="0" rIns="0" bIns="0">
            <a:spAutoFit/>
          </a:bodyPr>
          <a:lstStyle/>
          <a:p>
            <a:pPr algn="l"/>
            <a:r>
              <a:rPr sz="1500" b="1" i="0">
                <a:solidFill>
                  <a:srgbClr val="F59E0B"/>
                </a:solidFill>
                <a:latin typeface="Segoe UI"/>
              </a:rPr>
              <a:t>🟠  L452</a:t>
            </a:r>
          </a:p>
        </p:txBody>
      </p:sp>
      <p:sp>
        <p:nvSpPr>
          <p:cNvPr id="13" name="TextBox 12"/>
          <p:cNvSpPr txBox="1"/>
          <p:nvPr/>
        </p:nvSpPr>
        <p:spPr>
          <a:xfrm>
            <a:off x="8275320" y="1810512"/>
            <a:ext cx="3474720" cy="1783080"/>
          </a:xfrm>
          <a:prstGeom prst="rect">
            <a:avLst/>
          </a:prstGeom>
          <a:noFill/>
        </p:spPr>
        <p:txBody>
          <a:bodyPr wrap="square" lIns="0" tIns="0" rIns="0" bIns="0">
            <a:spAutoFit/>
          </a:bodyPr>
          <a:lstStyle/>
          <a:p>
            <a:pPr algn="l"/>
            <a:r>
              <a:rPr sz="1050" b="0" i="0">
                <a:solidFill>
                  <a:srgbClr val="0F172A"/>
                </a:solidFill>
                <a:latin typeface="Segoe UI"/>
              </a:rPr>
              <a:t>RBD Class 3 epitope. L452R (Delta) gains a positive charge. L452Q (Omicron BA.4/BA.5) loses the large side chain. Both variants escape different antibody sets. L452 is on the same loop as E484.</a:t>
            </a:r>
          </a:p>
        </p:txBody>
      </p:sp>
      <p:sp>
        <p:nvSpPr>
          <p:cNvPr id="14" name="Rounded Rectangle 13"/>
          <p:cNvSpPr/>
          <p:nvPr/>
        </p:nvSpPr>
        <p:spPr>
          <a:xfrm>
            <a:off x="274320" y="3886200"/>
            <a:ext cx="3749039" cy="2468880"/>
          </a:xfrm>
          <a:prstGeom prst="roundRect">
            <a:avLst/>
          </a:prstGeom>
          <a:solidFill>
            <a:srgbClr val="EEF2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79" y="3977639"/>
            <a:ext cx="3474720" cy="411480"/>
          </a:xfrm>
          <a:prstGeom prst="rect">
            <a:avLst/>
          </a:prstGeom>
          <a:noFill/>
        </p:spPr>
        <p:txBody>
          <a:bodyPr wrap="square" lIns="0" tIns="0" rIns="0" bIns="0">
            <a:spAutoFit/>
          </a:bodyPr>
          <a:lstStyle/>
          <a:p>
            <a:pPr algn="l"/>
            <a:r>
              <a:rPr sz="1500" b="1" i="0">
                <a:solidFill>
                  <a:srgbClr val="14B8A6"/>
                </a:solidFill>
                <a:latin typeface="Segoe UI"/>
              </a:rPr>
              <a:t>🟢  F486</a:t>
            </a:r>
          </a:p>
        </p:txBody>
      </p:sp>
      <p:sp>
        <p:nvSpPr>
          <p:cNvPr id="16" name="TextBox 15"/>
          <p:cNvSpPr txBox="1"/>
          <p:nvPr/>
        </p:nvSpPr>
        <p:spPr>
          <a:xfrm>
            <a:off x="411479" y="4416552"/>
            <a:ext cx="3474720" cy="1783080"/>
          </a:xfrm>
          <a:prstGeom prst="rect">
            <a:avLst/>
          </a:prstGeom>
          <a:noFill/>
        </p:spPr>
        <p:txBody>
          <a:bodyPr wrap="square" lIns="0" tIns="0" rIns="0" bIns="0">
            <a:spAutoFit/>
          </a:bodyPr>
          <a:lstStyle/>
          <a:p>
            <a:pPr algn="l"/>
            <a:r>
              <a:rPr sz="1050" b="0" i="0">
                <a:solidFill>
                  <a:srgbClr val="0F172A"/>
                </a:solidFill>
                <a:latin typeface="Segoe UI"/>
              </a:rPr>
              <a:t>Deep in RBD. F486V (BA.4/BA.5) and F486S (XBB) both change this aromatic anchor point. F486 sits at the hydrophobic core of the antibody-binding interface — changes here reorganize the whole binding surface.</a:t>
            </a:r>
          </a:p>
        </p:txBody>
      </p:sp>
      <p:sp>
        <p:nvSpPr>
          <p:cNvPr id="17" name="Rounded Rectangle 16"/>
          <p:cNvSpPr/>
          <p:nvPr/>
        </p:nvSpPr>
        <p:spPr>
          <a:xfrm>
            <a:off x="4206240" y="3886200"/>
            <a:ext cx="3749039" cy="2468880"/>
          </a:xfrm>
          <a:prstGeom prst="roundRect">
            <a:avLst/>
          </a:prstGeom>
          <a:solidFill>
            <a:srgbClr val="EEF2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3400" y="3977639"/>
            <a:ext cx="3474720" cy="411480"/>
          </a:xfrm>
          <a:prstGeom prst="rect">
            <a:avLst/>
          </a:prstGeom>
          <a:noFill/>
        </p:spPr>
        <p:txBody>
          <a:bodyPr wrap="square" lIns="0" tIns="0" rIns="0" bIns="0">
            <a:spAutoFit/>
          </a:bodyPr>
          <a:lstStyle/>
          <a:p>
            <a:pPr algn="l"/>
            <a:r>
              <a:rPr sz="1500" b="1" i="0">
                <a:solidFill>
                  <a:srgbClr val="8B5CF6"/>
                </a:solidFill>
                <a:latin typeface="Segoe UI"/>
              </a:rPr>
              <a:t>🟣  P681</a:t>
            </a:r>
          </a:p>
        </p:txBody>
      </p:sp>
      <p:sp>
        <p:nvSpPr>
          <p:cNvPr id="19" name="TextBox 18"/>
          <p:cNvSpPr txBox="1"/>
          <p:nvPr/>
        </p:nvSpPr>
        <p:spPr>
          <a:xfrm>
            <a:off x="4343400" y="4416552"/>
            <a:ext cx="3474720" cy="1783080"/>
          </a:xfrm>
          <a:prstGeom prst="rect">
            <a:avLst/>
          </a:prstGeom>
          <a:noFill/>
        </p:spPr>
        <p:txBody>
          <a:bodyPr wrap="square" lIns="0" tIns="0" rIns="0" bIns="0">
            <a:spAutoFit/>
          </a:bodyPr>
          <a:lstStyle/>
          <a:p>
            <a:pPr algn="l"/>
            <a:r>
              <a:rPr sz="1050" b="0" i="0">
                <a:solidFill>
                  <a:srgbClr val="0F172A"/>
                </a:solidFill>
                <a:latin typeface="Segoe UI"/>
              </a:rPr>
              <a:t>Furin cleavage site (not antibody escape). P681R (Delta) and P681H (Omicron) make the Furin enzyme cut the Spike MORE efficiently — this dramatically increases how many viral particles successfully enter cells.</a:t>
            </a:r>
          </a:p>
        </p:txBody>
      </p:sp>
      <p:sp>
        <p:nvSpPr>
          <p:cNvPr id="20" name="Rounded Rectangle 19"/>
          <p:cNvSpPr/>
          <p:nvPr/>
        </p:nvSpPr>
        <p:spPr>
          <a:xfrm>
            <a:off x="8138160" y="3886200"/>
            <a:ext cx="3749039" cy="2468880"/>
          </a:xfrm>
          <a:prstGeom prst="roundRect">
            <a:avLst/>
          </a:prstGeom>
          <a:solidFill>
            <a:srgbClr val="EEF2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3977639"/>
            <a:ext cx="3474720" cy="411480"/>
          </a:xfrm>
          <a:prstGeom prst="rect">
            <a:avLst/>
          </a:prstGeom>
          <a:noFill/>
        </p:spPr>
        <p:txBody>
          <a:bodyPr wrap="square" lIns="0" tIns="0" rIns="0" bIns="0">
            <a:spAutoFit/>
          </a:bodyPr>
          <a:lstStyle/>
          <a:p>
            <a:pPr algn="l"/>
            <a:r>
              <a:rPr sz="1500" b="1" i="0">
                <a:solidFill>
                  <a:srgbClr val="10B981"/>
                </a:solidFill>
                <a:latin typeface="Segoe UI"/>
              </a:rPr>
              <a:t>🟤  S704</a:t>
            </a:r>
          </a:p>
        </p:txBody>
      </p:sp>
      <p:sp>
        <p:nvSpPr>
          <p:cNvPr id="22" name="TextBox 21"/>
          <p:cNvSpPr txBox="1"/>
          <p:nvPr/>
        </p:nvSpPr>
        <p:spPr>
          <a:xfrm>
            <a:off x="8275320" y="4416552"/>
            <a:ext cx="3474720" cy="1783080"/>
          </a:xfrm>
          <a:prstGeom prst="rect">
            <a:avLst/>
          </a:prstGeom>
          <a:noFill/>
        </p:spPr>
        <p:txBody>
          <a:bodyPr wrap="square" lIns="0" tIns="0" rIns="0" bIns="0">
            <a:spAutoFit/>
          </a:bodyPr>
          <a:lstStyle/>
          <a:p>
            <a:pPr algn="l"/>
            <a:r>
              <a:rPr sz="1050" b="0" i="0">
                <a:solidFill>
                  <a:srgbClr val="0F172A"/>
                </a:solidFill>
                <a:latin typeface="Segoe UI"/>
              </a:rPr>
              <a:t>RBD/S1-S2 junction. Emerging in KP.3 and XEC. This region affects the conformational dynamics of the Spike — how often it flips into the 'up' position where antibodies can attack.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Honest Assessment: What's Truly New?</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Peer review analysis from leading AI systems — and our response</a:t>
            </a:r>
          </a:p>
        </p:txBody>
      </p:sp>
      <p:sp>
        <p:nvSpPr>
          <p:cNvPr id="5" name="TextBox 4"/>
          <p:cNvSpPr txBox="1"/>
          <p:nvPr/>
        </p:nvSpPr>
        <p:spPr>
          <a:xfrm>
            <a:off x="457200" y="1280160"/>
            <a:ext cx="11247120" cy="640080"/>
          </a:xfrm>
          <a:prstGeom prst="rect">
            <a:avLst/>
          </a:prstGeom>
          <a:noFill/>
        </p:spPr>
        <p:txBody>
          <a:bodyPr wrap="square" lIns="0" tIns="0" rIns="0" bIns="0">
            <a:spAutoFit/>
          </a:bodyPr>
          <a:lstStyle/>
          <a:p>
            <a:pPr algn="l"/>
            <a:r>
              <a:rPr sz="1300" b="0" i="0">
                <a:solidFill>
                  <a:srgbClr val="0F172A"/>
                </a:solidFill>
                <a:latin typeface="Segoe UI"/>
              </a:rPr>
              <a:t>Multiple AI research reviewers (Grok, Gemini) analyzed our architecture against published literature. Here is what they found — and how we're responding with 8 genuine additions.</a:t>
            </a:r>
          </a:p>
        </p:txBody>
      </p:sp>
      <p:sp>
        <p:nvSpPr>
          <p:cNvPr id="6" name="Rounded Rectangle 5"/>
          <p:cNvSpPr/>
          <p:nvPr/>
        </p:nvSpPr>
        <p:spPr>
          <a:xfrm>
            <a:off x="274320" y="2011680"/>
            <a:ext cx="5303520" cy="2743200"/>
          </a:xfrm>
          <a:prstGeom prst="roundRect">
            <a:avLst/>
          </a:prstGeom>
          <a:solidFill>
            <a:srgbClr val="FFF1F2"/>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029200" cy="365760"/>
          </a:xfrm>
          <a:prstGeom prst="rect">
            <a:avLst/>
          </a:prstGeom>
          <a:noFill/>
        </p:spPr>
        <p:txBody>
          <a:bodyPr wrap="square" lIns="0" tIns="0" rIns="0" bIns="0">
            <a:spAutoFit/>
          </a:bodyPr>
          <a:lstStyle/>
          <a:p>
            <a:pPr algn="l"/>
            <a:r>
              <a:rPr sz="1300" b="1" i="0">
                <a:solidFill>
                  <a:srgbClr val="F43F5E"/>
                </a:solidFill>
                <a:latin typeface="Segoe UI"/>
              </a:rPr>
              <a:t>⚠️  What Is NOT Novel</a:t>
            </a:r>
          </a:p>
        </p:txBody>
      </p:sp>
      <p:sp>
        <p:nvSpPr>
          <p:cNvPr id="8" name="TextBox 7"/>
          <p:cNvSpPr txBox="1"/>
          <p:nvPr/>
        </p:nvSpPr>
        <p:spPr>
          <a:xfrm>
            <a:off x="502920" y="2542032"/>
            <a:ext cx="4937760" cy="384048"/>
          </a:xfrm>
          <a:prstGeom prst="rect">
            <a:avLst/>
          </a:prstGeom>
          <a:noFill/>
        </p:spPr>
        <p:txBody>
          <a:bodyPr wrap="square" lIns="0" tIns="0" rIns="0" bIns="0">
            <a:spAutoFit/>
          </a:bodyPr>
          <a:lstStyle/>
          <a:p>
            <a:pPr algn="l"/>
            <a:r>
              <a:rPr sz="1050" b="0" i="0">
                <a:solidFill>
                  <a:srgbClr val="9F1239"/>
                </a:solidFill>
                <a:latin typeface="Segoe UI"/>
              </a:rPr>
              <a:t>✗ ESM-2 + GVP-GNN + cross-attention fusion (VIEPred did this first)</a:t>
            </a:r>
          </a:p>
        </p:txBody>
      </p:sp>
      <p:sp>
        <p:nvSpPr>
          <p:cNvPr id="9" name="TextBox 8"/>
          <p:cNvSpPr txBox="1"/>
          <p:nvPr/>
        </p:nvSpPr>
        <p:spPr>
          <a:xfrm>
            <a:off x="502920" y="2971800"/>
            <a:ext cx="4937760" cy="384048"/>
          </a:xfrm>
          <a:prstGeom prst="rect">
            <a:avLst/>
          </a:prstGeom>
          <a:noFill/>
        </p:spPr>
        <p:txBody>
          <a:bodyPr wrap="square" lIns="0" tIns="0" rIns="0" bIns="0">
            <a:spAutoFit/>
          </a:bodyPr>
          <a:lstStyle/>
          <a:p>
            <a:pPr algn="l"/>
            <a:r>
              <a:rPr sz="1050" b="0" i="0">
                <a:solidFill>
                  <a:srgbClr val="9F1239"/>
                </a:solidFill>
                <a:latin typeface="Segoe UI"/>
              </a:rPr>
              <a:t>✗ Predicting mutation + escape jointly (EVEscape, MLAEP)</a:t>
            </a:r>
          </a:p>
        </p:txBody>
      </p:sp>
      <p:sp>
        <p:nvSpPr>
          <p:cNvPr id="10" name="TextBox 9"/>
          <p:cNvSpPr txBox="1"/>
          <p:nvPr/>
        </p:nvSpPr>
        <p:spPr>
          <a:xfrm>
            <a:off x="502920" y="3401568"/>
            <a:ext cx="4937760" cy="384048"/>
          </a:xfrm>
          <a:prstGeom prst="rect">
            <a:avLst/>
          </a:prstGeom>
          <a:noFill/>
        </p:spPr>
        <p:txBody>
          <a:bodyPr wrap="square" lIns="0" tIns="0" rIns="0" bIns="0">
            <a:spAutoFit/>
          </a:bodyPr>
          <a:lstStyle/>
          <a:p>
            <a:pPr algn="l"/>
            <a:r>
              <a:rPr sz="1050" b="0" i="0">
                <a:solidFill>
                  <a:srgbClr val="9F1239"/>
                </a:solidFill>
                <a:latin typeface="Segoe UI"/>
              </a:rPr>
              <a:t>✗ Temporal train/test split (standard practice)</a:t>
            </a:r>
          </a:p>
        </p:txBody>
      </p:sp>
      <p:sp>
        <p:nvSpPr>
          <p:cNvPr id="11" name="TextBox 10"/>
          <p:cNvSpPr txBox="1"/>
          <p:nvPr/>
        </p:nvSpPr>
        <p:spPr>
          <a:xfrm>
            <a:off x="502920" y="3831335"/>
            <a:ext cx="4937760" cy="384048"/>
          </a:xfrm>
          <a:prstGeom prst="rect">
            <a:avLst/>
          </a:prstGeom>
          <a:noFill/>
        </p:spPr>
        <p:txBody>
          <a:bodyPr wrap="square" lIns="0" tIns="0" rIns="0" bIns="0">
            <a:spAutoFit/>
          </a:bodyPr>
          <a:lstStyle/>
          <a:p>
            <a:pPr algn="l"/>
            <a:r>
              <a:rPr sz="1050" b="0" i="0">
                <a:solidFill>
                  <a:srgbClr val="9F1239"/>
                </a:solidFill>
                <a:latin typeface="Segoe UI"/>
              </a:rPr>
              <a:t>✗ Using Bloom Lab DMS + CoV-AbDab (widely done)</a:t>
            </a:r>
          </a:p>
        </p:txBody>
      </p:sp>
      <p:sp>
        <p:nvSpPr>
          <p:cNvPr id="12" name="TextBox 11"/>
          <p:cNvSpPr txBox="1"/>
          <p:nvPr/>
        </p:nvSpPr>
        <p:spPr>
          <a:xfrm>
            <a:off x="502920" y="4261104"/>
            <a:ext cx="4937760" cy="384048"/>
          </a:xfrm>
          <a:prstGeom prst="rect">
            <a:avLst/>
          </a:prstGeom>
          <a:noFill/>
        </p:spPr>
        <p:txBody>
          <a:bodyPr wrap="square" lIns="0" tIns="0" rIns="0" bIns="0">
            <a:spAutoFit/>
          </a:bodyPr>
          <a:lstStyle/>
          <a:p>
            <a:pPr algn="l"/>
            <a:r>
              <a:rPr sz="1050" b="0" i="0">
                <a:solidFill>
                  <a:srgbClr val="9F1239"/>
                </a:solidFill>
                <a:latin typeface="Segoe UI"/>
              </a:rPr>
              <a:t>✗ Hardcoded domain priors (+3.2 RBD, -3.5 S2) — scientifically risky</a:t>
            </a:r>
          </a:p>
        </p:txBody>
      </p:sp>
      <p:sp>
        <p:nvSpPr>
          <p:cNvPr id="13" name="Rounded Rectangle 12"/>
          <p:cNvSpPr/>
          <p:nvPr/>
        </p:nvSpPr>
        <p:spPr>
          <a:xfrm>
            <a:off x="5852160" y="2011680"/>
            <a:ext cx="5943600" cy="2743200"/>
          </a:xfrm>
          <a:prstGeom prst="roundRect">
            <a:avLst/>
          </a:prstGeom>
          <a:solidFill>
            <a:srgbClr val="F0FDF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2103120"/>
            <a:ext cx="5669280" cy="365760"/>
          </a:xfrm>
          <a:prstGeom prst="rect">
            <a:avLst/>
          </a:prstGeom>
          <a:noFill/>
        </p:spPr>
        <p:txBody>
          <a:bodyPr wrap="square" lIns="0" tIns="0" rIns="0" bIns="0">
            <a:spAutoFit/>
          </a:bodyPr>
          <a:lstStyle/>
          <a:p>
            <a:pPr algn="l"/>
            <a:r>
              <a:rPr sz="1300" b="1" i="0">
                <a:solidFill>
                  <a:srgbClr val="10B981"/>
                </a:solidFill>
                <a:latin typeface="Segoe UI"/>
              </a:rPr>
              <a:t>✅  What Can Be Novel</a:t>
            </a:r>
          </a:p>
        </p:txBody>
      </p:sp>
      <p:sp>
        <p:nvSpPr>
          <p:cNvPr id="15" name="TextBox 14"/>
          <p:cNvSpPr txBox="1"/>
          <p:nvPr/>
        </p:nvSpPr>
        <p:spPr>
          <a:xfrm>
            <a:off x="6035040" y="2542032"/>
            <a:ext cx="5577840" cy="320040"/>
          </a:xfrm>
          <a:prstGeom prst="rect">
            <a:avLst/>
          </a:prstGeom>
          <a:noFill/>
        </p:spPr>
        <p:txBody>
          <a:bodyPr wrap="square" lIns="0" tIns="0" rIns="0" bIns="0">
            <a:spAutoFit/>
          </a:bodyPr>
          <a:lstStyle/>
          <a:p>
            <a:pPr algn="l"/>
            <a:r>
              <a:rPr sz="1000" b="0" i="0">
                <a:solidFill>
                  <a:srgbClr val="166534"/>
                </a:solidFill>
                <a:latin typeface="Segoe UI"/>
              </a:rPr>
              <a:t>✓ Substitution-level output (L×20 matrix — specific mutations not just sites)</a:t>
            </a:r>
          </a:p>
        </p:txBody>
      </p:sp>
      <p:sp>
        <p:nvSpPr>
          <p:cNvPr id="16" name="TextBox 15"/>
          <p:cNvSpPr txBox="1"/>
          <p:nvPr/>
        </p:nvSpPr>
        <p:spPr>
          <a:xfrm>
            <a:off x="6035040" y="2889503"/>
            <a:ext cx="5577840" cy="320040"/>
          </a:xfrm>
          <a:prstGeom prst="rect">
            <a:avLst/>
          </a:prstGeom>
          <a:noFill/>
        </p:spPr>
        <p:txBody>
          <a:bodyPr wrap="square" lIns="0" tIns="0" rIns="0" bIns="0">
            <a:spAutoFit/>
          </a:bodyPr>
          <a:lstStyle/>
          <a:p>
            <a:pPr algn="l"/>
            <a:r>
              <a:rPr sz="1000" b="0" i="0">
                <a:solidFill>
                  <a:srgbClr val="166534"/>
                </a:solidFill>
                <a:latin typeface="Segoe UI"/>
              </a:rPr>
              <a:t>✓ Background conditioning on circulating lineage backbone</a:t>
            </a:r>
          </a:p>
        </p:txBody>
      </p:sp>
      <p:sp>
        <p:nvSpPr>
          <p:cNvPr id="17" name="TextBox 16"/>
          <p:cNvSpPr txBox="1"/>
          <p:nvPr/>
        </p:nvSpPr>
        <p:spPr>
          <a:xfrm>
            <a:off x="6035040" y="3236976"/>
            <a:ext cx="5577840" cy="320040"/>
          </a:xfrm>
          <a:prstGeom prst="rect">
            <a:avLst/>
          </a:prstGeom>
          <a:noFill/>
        </p:spPr>
        <p:txBody>
          <a:bodyPr wrap="square" lIns="0" tIns="0" rIns="0" bIns="0">
            <a:spAutoFit/>
          </a:bodyPr>
          <a:lstStyle/>
          <a:p>
            <a:pPr algn="l"/>
            <a:r>
              <a:rPr sz="1000" b="0" i="0">
                <a:solidFill>
                  <a:srgbClr val="166534"/>
                </a:solidFill>
                <a:latin typeface="Segoe UI"/>
              </a:rPr>
              <a:t>✓ ACE2 trade-off head (escape gain vs. binding cost per mutation)</a:t>
            </a:r>
          </a:p>
        </p:txBody>
      </p:sp>
      <p:sp>
        <p:nvSpPr>
          <p:cNvPr id="18" name="TextBox 17"/>
          <p:cNvSpPr txBox="1"/>
          <p:nvPr/>
        </p:nvSpPr>
        <p:spPr>
          <a:xfrm>
            <a:off x="6035040" y="3584448"/>
            <a:ext cx="5577840" cy="320040"/>
          </a:xfrm>
          <a:prstGeom prst="rect">
            <a:avLst/>
          </a:prstGeom>
          <a:noFill/>
        </p:spPr>
        <p:txBody>
          <a:bodyPr wrap="square" lIns="0" tIns="0" rIns="0" bIns="0">
            <a:spAutoFit/>
          </a:bodyPr>
          <a:lstStyle/>
          <a:p>
            <a:pPr algn="l"/>
            <a:r>
              <a:rPr sz="1000" b="0" i="0">
                <a:solidFill>
                  <a:srgbClr val="166534"/>
                </a:solidFill>
                <a:latin typeface="Segoe UI"/>
              </a:rPr>
              <a:t>✓ Conformational ensemble encoding (3 PDBs with learned pooling)</a:t>
            </a:r>
          </a:p>
        </p:txBody>
      </p:sp>
      <p:sp>
        <p:nvSpPr>
          <p:cNvPr id="19" name="TextBox 18"/>
          <p:cNvSpPr txBox="1"/>
          <p:nvPr/>
        </p:nvSpPr>
        <p:spPr>
          <a:xfrm>
            <a:off x="6035040" y="3931920"/>
            <a:ext cx="5577840" cy="320040"/>
          </a:xfrm>
          <a:prstGeom prst="rect">
            <a:avLst/>
          </a:prstGeom>
          <a:noFill/>
        </p:spPr>
        <p:txBody>
          <a:bodyPr wrap="square" lIns="0" tIns="0" rIns="0" bIns="0">
            <a:spAutoFit/>
          </a:bodyPr>
          <a:lstStyle/>
          <a:p>
            <a:pPr algn="l"/>
            <a:r>
              <a:rPr sz="1000" b="0" i="0">
                <a:solidFill>
                  <a:srgbClr val="166534"/>
                </a:solidFill>
                <a:latin typeface="Segoe UI"/>
              </a:rPr>
              <a:t>✓ Uncertainty quantification (high risk + low uncertainty = real signal)</a:t>
            </a:r>
          </a:p>
        </p:txBody>
      </p:sp>
      <p:sp>
        <p:nvSpPr>
          <p:cNvPr id="20" name="TextBox 19"/>
          <p:cNvSpPr txBox="1"/>
          <p:nvPr/>
        </p:nvSpPr>
        <p:spPr>
          <a:xfrm>
            <a:off x="6035040" y="4279392"/>
            <a:ext cx="5577840" cy="320040"/>
          </a:xfrm>
          <a:prstGeom prst="rect">
            <a:avLst/>
          </a:prstGeom>
          <a:noFill/>
        </p:spPr>
        <p:txBody>
          <a:bodyPr wrap="square" lIns="0" tIns="0" rIns="0" bIns="0">
            <a:spAutoFit/>
          </a:bodyPr>
          <a:lstStyle/>
          <a:p>
            <a:pPr algn="l"/>
            <a:r>
              <a:rPr sz="1000" b="0" i="0">
                <a:solidFill>
                  <a:srgbClr val="166534"/>
                </a:solidFill>
                <a:latin typeface="Segoe UI"/>
              </a:rPr>
              <a:t>✓ Multi-cutoff prospective benchmark (3 independent time windows)</a:t>
            </a:r>
          </a:p>
        </p:txBody>
      </p:sp>
      <p:sp>
        <p:nvSpPr>
          <p:cNvPr id="21" name="TextBox 20"/>
          <p:cNvSpPr txBox="1"/>
          <p:nvPr/>
        </p:nvSpPr>
        <p:spPr>
          <a:xfrm>
            <a:off x="6035040" y="4626864"/>
            <a:ext cx="5577840" cy="320040"/>
          </a:xfrm>
          <a:prstGeom prst="rect">
            <a:avLst/>
          </a:prstGeom>
          <a:noFill/>
        </p:spPr>
        <p:txBody>
          <a:bodyPr wrap="square" lIns="0" tIns="0" rIns="0" bIns="0">
            <a:spAutoFit/>
          </a:bodyPr>
          <a:lstStyle/>
          <a:p>
            <a:pPr algn="l"/>
            <a:r>
              <a:rPr sz="1000" b="0" i="0">
                <a:solidFill>
                  <a:srgbClr val="166534"/>
                </a:solidFill>
                <a:latin typeface="Segoe UI"/>
              </a:rPr>
              <a:t>✓ Lead-time metric (months of advance warning per hotspot)</a:t>
            </a:r>
          </a:p>
        </p:txBody>
      </p:sp>
      <p:sp>
        <p:nvSpPr>
          <p:cNvPr id="22" name="Rounded Rectangle 21"/>
          <p:cNvSpPr/>
          <p:nvPr/>
        </p:nvSpPr>
        <p:spPr>
          <a:xfrm>
            <a:off x="274320" y="4892040"/>
            <a:ext cx="11430000" cy="173736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83480"/>
            <a:ext cx="10972800" cy="365760"/>
          </a:xfrm>
          <a:prstGeom prst="rect">
            <a:avLst/>
          </a:prstGeom>
          <a:noFill/>
        </p:spPr>
        <p:txBody>
          <a:bodyPr wrap="square" lIns="0" tIns="0" rIns="0" bIns="0">
            <a:spAutoFit/>
          </a:bodyPr>
          <a:lstStyle/>
          <a:p>
            <a:pPr algn="l"/>
            <a:r>
              <a:rPr sz="1200" b="1" i="0">
                <a:solidFill>
                  <a:srgbClr val="4F46E5"/>
                </a:solidFill>
                <a:latin typeface="Segoe UI"/>
              </a:rPr>
              <a:t>📝  What We Can Honestly Claim After Adding These Novelties:</a:t>
            </a:r>
          </a:p>
        </p:txBody>
      </p:sp>
      <p:sp>
        <p:nvSpPr>
          <p:cNvPr id="24" name="TextBox 23"/>
          <p:cNvSpPr txBox="1"/>
          <p:nvPr/>
        </p:nvSpPr>
        <p:spPr>
          <a:xfrm>
            <a:off x="457200" y="5394960"/>
            <a:ext cx="11155680" cy="1097280"/>
          </a:xfrm>
          <a:prstGeom prst="rect">
            <a:avLst/>
          </a:prstGeom>
          <a:noFill/>
        </p:spPr>
        <p:txBody>
          <a:bodyPr wrap="square" lIns="0" tIns="0" rIns="0" bIns="0">
            <a:spAutoFit/>
          </a:bodyPr>
          <a:lstStyle/>
          <a:p>
            <a:pPr algn="l"/>
            <a:r>
              <a:rPr sz="1100" b="0" i="1">
                <a:solidFill>
                  <a:srgbClr val="0F172A"/>
                </a:solidFill>
                <a:latin typeface="Segoe UI"/>
              </a:rPr>
              <a:t>"A background-conditioned, substitution-level (1273 × 20) sequence–structure model for full-length SARS-CoV-2 Spike mutation and immune-escape prediction. The model replaces heuristic domain offsets with a learned biophysical gate, aggregates multiple conformational states, produces uncertainty-calibrated rankings, and is evaluated under a systematic multi-cutoff prospective protocol spanning three independent evolutionary windows."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8 Novel Scientific Additions</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What we are building to make this genuinely publishable</a:t>
            </a:r>
          </a:p>
        </p:txBody>
      </p:sp>
      <p:sp>
        <p:nvSpPr>
          <p:cNvPr id="5" name="Rounded Rectangle 4"/>
          <p:cNvSpPr/>
          <p:nvPr/>
        </p:nvSpPr>
        <p:spPr>
          <a:xfrm>
            <a:off x="274320" y="1261872"/>
            <a:ext cx="5669280" cy="1261872"/>
          </a:xfrm>
          <a:prstGeom prst="roundRect">
            <a:avLst/>
          </a:prstGeom>
          <a:solidFill>
            <a:srgbClr val="EEF2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65760" y="1371600"/>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71600"/>
            <a:ext cx="475488" cy="475488"/>
          </a:xfrm>
          <a:prstGeom prst="rect">
            <a:avLst/>
          </a:prstGeom>
          <a:noFill/>
        </p:spPr>
        <p:txBody>
          <a:bodyPr wrap="square" lIns="0" tIns="0" rIns="0" bIns="0">
            <a:spAutoFit/>
          </a:bodyPr>
          <a:lstStyle/>
          <a:p>
            <a:pPr algn="ctr"/>
            <a:r>
              <a:rPr sz="1400" b="1" i="0">
                <a:solidFill>
                  <a:srgbClr val="FFFFFF"/>
                </a:solidFill>
                <a:latin typeface="Segoe UI"/>
              </a:rPr>
              <a:t>1</a:t>
            </a:r>
          </a:p>
        </p:txBody>
      </p:sp>
      <p:sp>
        <p:nvSpPr>
          <p:cNvPr id="8" name="TextBox 7"/>
          <p:cNvSpPr txBox="1"/>
          <p:nvPr/>
        </p:nvSpPr>
        <p:spPr>
          <a:xfrm>
            <a:off x="960120" y="1353312"/>
            <a:ext cx="4754880" cy="347472"/>
          </a:xfrm>
          <a:prstGeom prst="rect">
            <a:avLst/>
          </a:prstGeom>
          <a:noFill/>
        </p:spPr>
        <p:txBody>
          <a:bodyPr wrap="square" lIns="0" tIns="0" rIns="0" bIns="0">
            <a:spAutoFit/>
          </a:bodyPr>
          <a:lstStyle/>
          <a:p>
            <a:pPr algn="l"/>
            <a:r>
              <a:rPr sz="1200" b="1" i="0">
                <a:solidFill>
                  <a:srgbClr val="10B981"/>
                </a:solidFill>
                <a:latin typeface="Segoe UI"/>
              </a:rPr>
              <a:t>Learned Biophysical Gate</a:t>
            </a:r>
          </a:p>
        </p:txBody>
      </p:sp>
      <p:sp>
        <p:nvSpPr>
          <p:cNvPr id="9" name="TextBox 8"/>
          <p:cNvSpPr txBox="1"/>
          <p:nvPr/>
        </p:nvSpPr>
        <p:spPr>
          <a:xfrm>
            <a:off x="960120" y="1719072"/>
            <a:ext cx="4754880" cy="713232"/>
          </a:xfrm>
          <a:prstGeom prst="rect">
            <a:avLst/>
          </a:prstGeom>
          <a:noFill/>
        </p:spPr>
        <p:txBody>
          <a:bodyPr wrap="square" lIns="0" tIns="0" rIns="0" bIns="0">
            <a:spAutoFit/>
          </a:bodyPr>
          <a:lstStyle/>
          <a:p>
            <a:pPr algn="l"/>
            <a:r>
              <a:rPr sz="1000" b="0" i="0">
                <a:solidFill>
                  <a:srgbClr val="0F172A"/>
                </a:solidFill>
                <a:latin typeface="Segoe UI"/>
              </a:rPr>
              <a:t>Replace hardcoded +3.2/-3.5 domain offsets with a small neural network that learns the prior from real data (SASA, conservation, codon availability, antibody contacts). Eliminates 'by-hand' tuning.</a:t>
            </a:r>
          </a:p>
        </p:txBody>
      </p:sp>
      <p:sp>
        <p:nvSpPr>
          <p:cNvPr id="10" name="Rounded Rectangle 9"/>
          <p:cNvSpPr/>
          <p:nvPr/>
        </p:nvSpPr>
        <p:spPr>
          <a:xfrm>
            <a:off x="6217920" y="1261872"/>
            <a:ext cx="5669280" cy="1261872"/>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309359" y="1371600"/>
            <a:ext cx="475488" cy="47548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59" y="1371600"/>
            <a:ext cx="475488" cy="475488"/>
          </a:xfrm>
          <a:prstGeom prst="rect">
            <a:avLst/>
          </a:prstGeom>
          <a:noFill/>
        </p:spPr>
        <p:txBody>
          <a:bodyPr wrap="square" lIns="0" tIns="0" rIns="0" bIns="0">
            <a:spAutoFit/>
          </a:bodyPr>
          <a:lstStyle/>
          <a:p>
            <a:pPr algn="ctr"/>
            <a:r>
              <a:rPr sz="1400" b="1" i="0">
                <a:solidFill>
                  <a:srgbClr val="FFFFFF"/>
                </a:solidFill>
                <a:latin typeface="Segoe UI"/>
              </a:rPr>
              <a:t>2</a:t>
            </a:r>
          </a:p>
        </p:txBody>
      </p:sp>
      <p:sp>
        <p:nvSpPr>
          <p:cNvPr id="13" name="TextBox 12"/>
          <p:cNvSpPr txBox="1"/>
          <p:nvPr/>
        </p:nvSpPr>
        <p:spPr>
          <a:xfrm>
            <a:off x="6903720" y="1353312"/>
            <a:ext cx="4754880" cy="347472"/>
          </a:xfrm>
          <a:prstGeom prst="rect">
            <a:avLst/>
          </a:prstGeom>
          <a:noFill/>
        </p:spPr>
        <p:txBody>
          <a:bodyPr wrap="square" lIns="0" tIns="0" rIns="0" bIns="0">
            <a:spAutoFit/>
          </a:bodyPr>
          <a:lstStyle/>
          <a:p>
            <a:pPr algn="l"/>
            <a:r>
              <a:rPr sz="1200" b="1" i="0">
                <a:solidFill>
                  <a:srgbClr val="4F46E5"/>
                </a:solidFill>
                <a:latin typeface="Segoe UI"/>
              </a:rPr>
              <a:t>Substitution-Level Prediction (L×20)</a:t>
            </a:r>
          </a:p>
        </p:txBody>
      </p:sp>
      <p:sp>
        <p:nvSpPr>
          <p:cNvPr id="14" name="TextBox 13"/>
          <p:cNvSpPr txBox="1"/>
          <p:nvPr/>
        </p:nvSpPr>
        <p:spPr>
          <a:xfrm>
            <a:off x="6903720" y="1719072"/>
            <a:ext cx="4754880" cy="713232"/>
          </a:xfrm>
          <a:prstGeom prst="rect">
            <a:avLst/>
          </a:prstGeom>
          <a:noFill/>
        </p:spPr>
        <p:txBody>
          <a:bodyPr wrap="square" lIns="0" tIns="0" rIns="0" bIns="0">
            <a:spAutoFit/>
          </a:bodyPr>
          <a:lstStyle/>
          <a:p>
            <a:pPr algn="l"/>
            <a:r>
              <a:rPr sz="1000" b="0" i="0">
                <a:solidFill>
                  <a:srgbClr val="0F172A"/>
                </a:solidFill>
                <a:latin typeface="Segoe UI"/>
              </a:rPr>
              <a:t>Instead of 'site 484 is risky', predict the escape for all 20 possible amino acids at each site. More useful: 'E484K is high risk, E484A is low risk'. Direct match to DMS data format.</a:t>
            </a:r>
          </a:p>
        </p:txBody>
      </p:sp>
      <p:sp>
        <p:nvSpPr>
          <p:cNvPr id="15" name="Rounded Rectangle 14"/>
          <p:cNvSpPr/>
          <p:nvPr/>
        </p:nvSpPr>
        <p:spPr>
          <a:xfrm>
            <a:off x="274320" y="2633472"/>
            <a:ext cx="5669280" cy="1261872"/>
          </a:xfrm>
          <a:prstGeom prst="roundRect">
            <a:avLst/>
          </a:prstGeom>
          <a:solidFill>
            <a:srgbClr val="EEF2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5760" y="274320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743200"/>
            <a:ext cx="475488" cy="475488"/>
          </a:xfrm>
          <a:prstGeom prst="rect">
            <a:avLst/>
          </a:prstGeom>
          <a:noFill/>
        </p:spPr>
        <p:txBody>
          <a:bodyPr wrap="square" lIns="0" tIns="0" rIns="0" bIns="0">
            <a:spAutoFit/>
          </a:bodyPr>
          <a:lstStyle/>
          <a:p>
            <a:pPr algn="ctr"/>
            <a:r>
              <a:rPr sz="1400" b="1" i="0">
                <a:solidFill>
                  <a:srgbClr val="FFFFFF"/>
                </a:solidFill>
                <a:latin typeface="Segoe UI"/>
              </a:rPr>
              <a:t>3</a:t>
            </a:r>
          </a:p>
        </p:txBody>
      </p:sp>
      <p:sp>
        <p:nvSpPr>
          <p:cNvPr id="18" name="TextBox 17"/>
          <p:cNvSpPr txBox="1"/>
          <p:nvPr/>
        </p:nvSpPr>
        <p:spPr>
          <a:xfrm>
            <a:off x="960120" y="2724912"/>
            <a:ext cx="4754880" cy="347472"/>
          </a:xfrm>
          <a:prstGeom prst="rect">
            <a:avLst/>
          </a:prstGeom>
          <a:noFill/>
        </p:spPr>
        <p:txBody>
          <a:bodyPr wrap="square" lIns="0" tIns="0" rIns="0" bIns="0">
            <a:spAutoFit/>
          </a:bodyPr>
          <a:lstStyle/>
          <a:p>
            <a:pPr algn="l"/>
            <a:r>
              <a:rPr sz="1200" b="1" i="0">
                <a:solidFill>
                  <a:srgbClr val="0EA5E9"/>
                </a:solidFill>
                <a:latin typeface="Segoe UI"/>
              </a:rPr>
              <a:t>Background Conditioning</a:t>
            </a:r>
          </a:p>
        </p:txBody>
      </p:sp>
      <p:sp>
        <p:nvSpPr>
          <p:cNvPr id="19" name="TextBox 18"/>
          <p:cNvSpPr txBox="1"/>
          <p:nvPr/>
        </p:nvSpPr>
        <p:spPr>
          <a:xfrm>
            <a:off x="960120" y="3090672"/>
            <a:ext cx="4754880" cy="713232"/>
          </a:xfrm>
          <a:prstGeom prst="rect">
            <a:avLst/>
          </a:prstGeom>
          <a:noFill/>
        </p:spPr>
        <p:txBody>
          <a:bodyPr wrap="square" lIns="0" tIns="0" rIns="0" bIns="0">
            <a:spAutoFit/>
          </a:bodyPr>
          <a:lstStyle/>
          <a:p>
            <a:pPr algn="l"/>
            <a:r>
              <a:rPr sz="1000" b="0" i="0">
                <a:solidFill>
                  <a:srgbClr val="0F172A"/>
                </a:solidFill>
                <a:latin typeface="Segoe UI"/>
              </a:rPr>
              <a:t>Feed the model the current circulating lineage's mutations as extra input. Model learns: 'given that JN.1 already has F456L, what position is under pressure next?' — first-order epistasis.</a:t>
            </a:r>
          </a:p>
        </p:txBody>
      </p:sp>
      <p:sp>
        <p:nvSpPr>
          <p:cNvPr id="20" name="Rounded Rectangle 19"/>
          <p:cNvSpPr/>
          <p:nvPr/>
        </p:nvSpPr>
        <p:spPr>
          <a:xfrm>
            <a:off x="6217920" y="2633472"/>
            <a:ext cx="5669280" cy="1261872"/>
          </a:xfrm>
          <a:prstGeom prst="roundRect">
            <a:avLst/>
          </a:prstGeom>
          <a:solidFill>
            <a:srgbClr val="EEF2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09359" y="2743200"/>
            <a:ext cx="475488" cy="47548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59" y="2743200"/>
            <a:ext cx="475488" cy="475488"/>
          </a:xfrm>
          <a:prstGeom prst="rect">
            <a:avLst/>
          </a:prstGeom>
          <a:noFill/>
        </p:spPr>
        <p:txBody>
          <a:bodyPr wrap="square" lIns="0" tIns="0" rIns="0" bIns="0">
            <a:spAutoFit/>
          </a:bodyPr>
          <a:lstStyle/>
          <a:p>
            <a:pPr algn="ctr"/>
            <a:r>
              <a:rPr sz="1400" b="1" i="0">
                <a:solidFill>
                  <a:srgbClr val="FFFFFF"/>
                </a:solidFill>
                <a:latin typeface="Segoe UI"/>
              </a:rPr>
              <a:t>4</a:t>
            </a:r>
          </a:p>
        </p:txBody>
      </p:sp>
      <p:sp>
        <p:nvSpPr>
          <p:cNvPr id="23" name="TextBox 22"/>
          <p:cNvSpPr txBox="1"/>
          <p:nvPr/>
        </p:nvSpPr>
        <p:spPr>
          <a:xfrm>
            <a:off x="6903720" y="2724912"/>
            <a:ext cx="4754880" cy="347472"/>
          </a:xfrm>
          <a:prstGeom prst="rect">
            <a:avLst/>
          </a:prstGeom>
          <a:noFill/>
        </p:spPr>
        <p:txBody>
          <a:bodyPr wrap="square" lIns="0" tIns="0" rIns="0" bIns="0">
            <a:spAutoFit/>
          </a:bodyPr>
          <a:lstStyle/>
          <a:p>
            <a:pPr algn="l"/>
            <a:r>
              <a:rPr sz="1200" b="1" i="0">
                <a:solidFill>
                  <a:srgbClr val="14B8A6"/>
                </a:solidFill>
                <a:latin typeface="Segoe UI"/>
              </a:rPr>
              <a:t>ACE2 Trade-Off Head</a:t>
            </a:r>
          </a:p>
        </p:txBody>
      </p:sp>
      <p:sp>
        <p:nvSpPr>
          <p:cNvPr id="24" name="TextBox 23"/>
          <p:cNvSpPr txBox="1"/>
          <p:nvPr/>
        </p:nvSpPr>
        <p:spPr>
          <a:xfrm>
            <a:off x="6903720" y="3090672"/>
            <a:ext cx="4754880" cy="713232"/>
          </a:xfrm>
          <a:prstGeom prst="rect">
            <a:avLst/>
          </a:prstGeom>
          <a:noFill/>
        </p:spPr>
        <p:txBody>
          <a:bodyPr wrap="square" lIns="0" tIns="0" rIns="0" bIns="0">
            <a:spAutoFit/>
          </a:bodyPr>
          <a:lstStyle/>
          <a:p>
            <a:pPr algn="l"/>
            <a:r>
              <a:rPr sz="1000" b="0" i="0">
                <a:solidFill>
                  <a:srgbClr val="0F172A"/>
                </a:solidFill>
                <a:latin typeface="Segoe UI"/>
              </a:rPr>
              <a:t>Add a head predicting ACE2 binding loss per mutation. Risk = escape gain MINUS binding cost. Why E484K recurs: it escapes immunity without costing too much in ACE2 affinity. Starr Lab DMS data.</a:t>
            </a:r>
          </a:p>
        </p:txBody>
      </p:sp>
      <p:sp>
        <p:nvSpPr>
          <p:cNvPr id="25" name="Rounded Rectangle 24"/>
          <p:cNvSpPr/>
          <p:nvPr/>
        </p:nvSpPr>
        <p:spPr>
          <a:xfrm>
            <a:off x="274320" y="4005072"/>
            <a:ext cx="5669280" cy="1261872"/>
          </a:xfrm>
          <a:prstGeom prst="roundRect">
            <a:avLst/>
          </a:prstGeom>
          <a:solidFill>
            <a:srgbClr val="EEF2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65760" y="4114800"/>
            <a:ext cx="475488" cy="47548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114800"/>
            <a:ext cx="475488" cy="475488"/>
          </a:xfrm>
          <a:prstGeom prst="rect">
            <a:avLst/>
          </a:prstGeom>
          <a:noFill/>
        </p:spPr>
        <p:txBody>
          <a:bodyPr wrap="square" lIns="0" tIns="0" rIns="0" bIns="0">
            <a:spAutoFit/>
          </a:bodyPr>
          <a:lstStyle/>
          <a:p>
            <a:pPr algn="ctr"/>
            <a:r>
              <a:rPr sz="1400" b="1" i="0">
                <a:solidFill>
                  <a:srgbClr val="FFFFFF"/>
                </a:solidFill>
                <a:latin typeface="Segoe UI"/>
              </a:rPr>
              <a:t>5</a:t>
            </a:r>
          </a:p>
        </p:txBody>
      </p:sp>
      <p:sp>
        <p:nvSpPr>
          <p:cNvPr id="28" name="TextBox 27"/>
          <p:cNvSpPr txBox="1"/>
          <p:nvPr/>
        </p:nvSpPr>
        <p:spPr>
          <a:xfrm>
            <a:off x="960120" y="4096511"/>
            <a:ext cx="4754880" cy="347472"/>
          </a:xfrm>
          <a:prstGeom prst="rect">
            <a:avLst/>
          </a:prstGeom>
          <a:noFill/>
        </p:spPr>
        <p:txBody>
          <a:bodyPr wrap="square" lIns="0" tIns="0" rIns="0" bIns="0">
            <a:spAutoFit/>
          </a:bodyPr>
          <a:lstStyle/>
          <a:p>
            <a:pPr algn="l"/>
            <a:r>
              <a:rPr sz="1200" b="1" i="0">
                <a:solidFill>
                  <a:srgbClr val="F59E0B"/>
                </a:solidFill>
                <a:latin typeface="Segoe UI"/>
              </a:rPr>
              <a:t>Conformational Ensemble</a:t>
            </a:r>
          </a:p>
        </p:txBody>
      </p:sp>
      <p:sp>
        <p:nvSpPr>
          <p:cNvPr id="29" name="TextBox 28"/>
          <p:cNvSpPr txBox="1"/>
          <p:nvPr/>
        </p:nvSpPr>
        <p:spPr>
          <a:xfrm>
            <a:off x="960120" y="4462272"/>
            <a:ext cx="4754880" cy="713232"/>
          </a:xfrm>
          <a:prstGeom prst="rect">
            <a:avLst/>
          </a:prstGeom>
          <a:noFill/>
        </p:spPr>
        <p:txBody>
          <a:bodyPr wrap="square" lIns="0" tIns="0" rIns="0" bIns="0">
            <a:spAutoFit/>
          </a:bodyPr>
          <a:lstStyle/>
          <a:p>
            <a:pPr algn="l"/>
            <a:r>
              <a:rPr sz="1000" b="0" i="0">
                <a:solidFill>
                  <a:srgbClr val="0F172A"/>
                </a:solidFill>
                <a:latin typeface="Segoe UI"/>
              </a:rPr>
              <a:t>Use all 3 PDB structures (closed 6VXX + one-up 6VSB + open 7BNN) with learned attention pooling. Captures dynamic epitope exposure — some antibody sites only accessible in specific conformations.</a:t>
            </a:r>
          </a:p>
        </p:txBody>
      </p:sp>
      <p:sp>
        <p:nvSpPr>
          <p:cNvPr id="30" name="Rounded Rectangle 29"/>
          <p:cNvSpPr/>
          <p:nvPr/>
        </p:nvSpPr>
        <p:spPr>
          <a:xfrm>
            <a:off x="6217920" y="4005072"/>
            <a:ext cx="5669280" cy="1261872"/>
          </a:xfrm>
          <a:prstGeom prst="roundRect">
            <a:avLst/>
          </a:prstGeom>
          <a:solidFill>
            <a:srgbClr val="EEF2FF"/>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09359" y="4114800"/>
            <a:ext cx="475488" cy="47548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59" y="4114800"/>
            <a:ext cx="475488" cy="475488"/>
          </a:xfrm>
          <a:prstGeom prst="rect">
            <a:avLst/>
          </a:prstGeom>
          <a:noFill/>
        </p:spPr>
        <p:txBody>
          <a:bodyPr wrap="square" lIns="0" tIns="0" rIns="0" bIns="0">
            <a:spAutoFit/>
          </a:bodyPr>
          <a:lstStyle/>
          <a:p>
            <a:pPr algn="ctr"/>
            <a:r>
              <a:rPr sz="1400" b="1" i="0">
                <a:solidFill>
                  <a:srgbClr val="FFFFFF"/>
                </a:solidFill>
                <a:latin typeface="Segoe UI"/>
              </a:rPr>
              <a:t>6</a:t>
            </a:r>
          </a:p>
        </p:txBody>
      </p:sp>
      <p:sp>
        <p:nvSpPr>
          <p:cNvPr id="33" name="TextBox 32"/>
          <p:cNvSpPr txBox="1"/>
          <p:nvPr/>
        </p:nvSpPr>
        <p:spPr>
          <a:xfrm>
            <a:off x="6903720" y="4096511"/>
            <a:ext cx="4754880" cy="347472"/>
          </a:xfrm>
          <a:prstGeom prst="rect">
            <a:avLst/>
          </a:prstGeom>
          <a:noFill/>
        </p:spPr>
        <p:txBody>
          <a:bodyPr wrap="square" lIns="0" tIns="0" rIns="0" bIns="0">
            <a:spAutoFit/>
          </a:bodyPr>
          <a:lstStyle/>
          <a:p>
            <a:pPr algn="l"/>
            <a:r>
              <a:rPr sz="1200" b="1" i="0">
                <a:solidFill>
                  <a:srgbClr val="8B5CF6"/>
                </a:solidFill>
                <a:latin typeface="Segoe UI"/>
              </a:rPr>
              <a:t>Uncertainty Quantification</a:t>
            </a:r>
          </a:p>
        </p:txBody>
      </p:sp>
      <p:sp>
        <p:nvSpPr>
          <p:cNvPr id="34" name="TextBox 33"/>
          <p:cNvSpPr txBox="1"/>
          <p:nvPr/>
        </p:nvSpPr>
        <p:spPr>
          <a:xfrm>
            <a:off x="6903720" y="4462272"/>
            <a:ext cx="4754880" cy="713232"/>
          </a:xfrm>
          <a:prstGeom prst="rect">
            <a:avLst/>
          </a:prstGeom>
          <a:noFill/>
        </p:spPr>
        <p:txBody>
          <a:bodyPr wrap="square" lIns="0" tIns="0" rIns="0" bIns="0">
            <a:spAutoFit/>
          </a:bodyPr>
          <a:lstStyle/>
          <a:p>
            <a:pPr algn="l"/>
            <a:r>
              <a:rPr sz="1000" b="0" i="0">
                <a:solidFill>
                  <a:srgbClr val="0F172A"/>
                </a:solidFill>
                <a:latin typeface="Segoe UI"/>
              </a:rPr>
              <a:t>Run the model 20 times with dropout active → get mean risk + uncertainty. High risk + low uncertainty = confident prediction. Helps virologists prioritize which sites to watch first.</a:t>
            </a:r>
          </a:p>
        </p:txBody>
      </p:sp>
      <p:sp>
        <p:nvSpPr>
          <p:cNvPr id="35" name="Rounded Rectangle 34"/>
          <p:cNvSpPr/>
          <p:nvPr/>
        </p:nvSpPr>
        <p:spPr>
          <a:xfrm>
            <a:off x="274320" y="5376672"/>
            <a:ext cx="5669280" cy="1261872"/>
          </a:xfrm>
          <a:prstGeom prst="roundRect">
            <a:avLst/>
          </a:prstGeom>
          <a:solidFill>
            <a:srgbClr val="EEF2F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5760" y="5486400"/>
            <a:ext cx="475488" cy="475488"/>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5486400"/>
            <a:ext cx="475488" cy="475488"/>
          </a:xfrm>
          <a:prstGeom prst="rect">
            <a:avLst/>
          </a:prstGeom>
          <a:noFill/>
        </p:spPr>
        <p:txBody>
          <a:bodyPr wrap="square" lIns="0" tIns="0" rIns="0" bIns="0">
            <a:spAutoFit/>
          </a:bodyPr>
          <a:lstStyle/>
          <a:p>
            <a:pPr algn="ctr"/>
            <a:r>
              <a:rPr sz="1400" b="1" i="0">
                <a:solidFill>
                  <a:srgbClr val="FFFFFF"/>
                </a:solidFill>
                <a:latin typeface="Segoe UI"/>
              </a:rPr>
              <a:t>7</a:t>
            </a:r>
          </a:p>
        </p:txBody>
      </p:sp>
      <p:sp>
        <p:nvSpPr>
          <p:cNvPr id="38" name="TextBox 37"/>
          <p:cNvSpPr txBox="1"/>
          <p:nvPr/>
        </p:nvSpPr>
        <p:spPr>
          <a:xfrm>
            <a:off x="960120" y="5468112"/>
            <a:ext cx="4754880" cy="347472"/>
          </a:xfrm>
          <a:prstGeom prst="rect">
            <a:avLst/>
          </a:prstGeom>
          <a:noFill/>
        </p:spPr>
        <p:txBody>
          <a:bodyPr wrap="square" lIns="0" tIns="0" rIns="0" bIns="0">
            <a:spAutoFit/>
          </a:bodyPr>
          <a:lstStyle/>
          <a:p>
            <a:pPr algn="l"/>
            <a:r>
              <a:rPr sz="1200" b="1" i="0">
                <a:solidFill>
                  <a:srgbClr val="F43F5E"/>
                </a:solidFill>
                <a:latin typeface="Segoe UI"/>
              </a:rPr>
              <a:t>Multi-Cutoff Benchmark</a:t>
            </a:r>
          </a:p>
        </p:txBody>
      </p:sp>
      <p:sp>
        <p:nvSpPr>
          <p:cNvPr id="39" name="TextBox 38"/>
          <p:cNvSpPr txBox="1"/>
          <p:nvPr/>
        </p:nvSpPr>
        <p:spPr>
          <a:xfrm>
            <a:off x="960120" y="5833872"/>
            <a:ext cx="4754880" cy="713232"/>
          </a:xfrm>
          <a:prstGeom prst="rect">
            <a:avLst/>
          </a:prstGeom>
          <a:noFill/>
        </p:spPr>
        <p:txBody>
          <a:bodyPr wrap="square" lIns="0" tIns="0" rIns="0" bIns="0">
            <a:spAutoFit/>
          </a:bodyPr>
          <a:lstStyle/>
          <a:p>
            <a:pPr algn="l"/>
            <a:r>
              <a:rPr sz="1000" b="0" i="0">
                <a:solidFill>
                  <a:srgbClr val="0F172A"/>
                </a:solidFill>
                <a:latin typeface="Segoe UI"/>
              </a:rPr>
              <a:t>Three independent test windows: Pre-Delta (2022), Pre-XBB (2023), Pre-JN.1 (2024). Consistent performance across all three proves the model generalizes, not just memorizes.</a:t>
            </a:r>
          </a:p>
        </p:txBody>
      </p:sp>
      <p:sp>
        <p:nvSpPr>
          <p:cNvPr id="40" name="Rounded Rectangle 39"/>
          <p:cNvSpPr/>
          <p:nvPr/>
        </p:nvSpPr>
        <p:spPr>
          <a:xfrm>
            <a:off x="6217920" y="5376672"/>
            <a:ext cx="5669280" cy="1261872"/>
          </a:xfrm>
          <a:prstGeom prst="roundRect">
            <a:avLst/>
          </a:prstGeom>
          <a:solidFill>
            <a:srgbClr val="EEF2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309359" y="5486400"/>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59" y="5486400"/>
            <a:ext cx="475488" cy="475488"/>
          </a:xfrm>
          <a:prstGeom prst="rect">
            <a:avLst/>
          </a:prstGeom>
          <a:noFill/>
        </p:spPr>
        <p:txBody>
          <a:bodyPr wrap="square" lIns="0" tIns="0" rIns="0" bIns="0">
            <a:spAutoFit/>
          </a:bodyPr>
          <a:lstStyle/>
          <a:p>
            <a:pPr algn="ctr"/>
            <a:r>
              <a:rPr sz="1400" b="1" i="0">
                <a:solidFill>
                  <a:srgbClr val="FFFFFF"/>
                </a:solidFill>
                <a:latin typeface="Segoe UI"/>
              </a:rPr>
              <a:t>8</a:t>
            </a:r>
          </a:p>
        </p:txBody>
      </p:sp>
      <p:sp>
        <p:nvSpPr>
          <p:cNvPr id="43" name="TextBox 42"/>
          <p:cNvSpPr txBox="1"/>
          <p:nvPr/>
        </p:nvSpPr>
        <p:spPr>
          <a:xfrm>
            <a:off x="6903720" y="5468112"/>
            <a:ext cx="4754880" cy="347472"/>
          </a:xfrm>
          <a:prstGeom prst="rect">
            <a:avLst/>
          </a:prstGeom>
          <a:noFill/>
        </p:spPr>
        <p:txBody>
          <a:bodyPr wrap="square" lIns="0" tIns="0" rIns="0" bIns="0">
            <a:spAutoFit/>
          </a:bodyPr>
          <a:lstStyle/>
          <a:p>
            <a:pPr algn="l"/>
            <a:r>
              <a:rPr sz="1200" b="1" i="0">
                <a:solidFill>
                  <a:srgbClr val="10B981"/>
                </a:solidFill>
                <a:latin typeface="Segoe UI"/>
              </a:rPr>
              <a:t>Lead-Time Metric</a:t>
            </a:r>
          </a:p>
        </p:txBody>
      </p:sp>
      <p:sp>
        <p:nvSpPr>
          <p:cNvPr id="44" name="TextBox 43"/>
          <p:cNvSpPr txBox="1"/>
          <p:nvPr/>
        </p:nvSpPr>
        <p:spPr>
          <a:xfrm>
            <a:off x="6903720" y="5833872"/>
            <a:ext cx="4754880" cy="713232"/>
          </a:xfrm>
          <a:prstGeom prst="rect">
            <a:avLst/>
          </a:prstGeom>
          <a:noFill/>
        </p:spPr>
        <p:txBody>
          <a:bodyPr wrap="square" lIns="0" tIns="0" rIns="0" bIns="0">
            <a:spAutoFit/>
          </a:bodyPr>
          <a:lstStyle/>
          <a:p>
            <a:pPr algn="l"/>
            <a:r>
              <a:rPr sz="1000" b="0" i="0">
                <a:solidFill>
                  <a:srgbClr val="0F172A"/>
                </a:solidFill>
                <a:latin typeface="Segoe UI"/>
              </a:rPr>
              <a:t>For each real hotspot that became dominant (e.g. F456L in JN.1), find when the model would have first flagged it. Report: 'F456 was in our top-20 list X months before it dominated' — the only metric that matters for actual pandemic surveillance policy.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The Interactive Web Tool</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Making predictions accessible to virologists without needing to run any code</a:t>
            </a:r>
          </a:p>
        </p:txBody>
      </p:sp>
      <p:sp>
        <p:nvSpPr>
          <p:cNvPr id="5" name="TextBox 4"/>
          <p:cNvSpPr txBox="1"/>
          <p:nvPr/>
        </p:nvSpPr>
        <p:spPr>
          <a:xfrm>
            <a:off x="457200" y="1280160"/>
            <a:ext cx="11247120" cy="640080"/>
          </a:xfrm>
          <a:prstGeom prst="rect">
            <a:avLst/>
          </a:prstGeom>
          <a:noFill/>
        </p:spPr>
        <p:txBody>
          <a:bodyPr wrap="square" lIns="0" tIns="0" rIns="0" bIns="0">
            <a:spAutoFit/>
          </a:bodyPr>
          <a:lstStyle/>
          <a:p>
            <a:pPr algn="l"/>
            <a:r>
              <a:rPr sz="1300" b="0" i="0">
                <a:solidFill>
                  <a:srgbClr val="0F172A"/>
                </a:solidFill>
                <a:latin typeface="Segoe UI"/>
              </a:rPr>
              <a:t>All 1,273 Spike predictions are pre-computed and bundled into the website (residue_data.js, 556 KB). The site runs entirely in a browser — no Python, no GPU, no internet required after opening.</a:t>
            </a:r>
          </a:p>
        </p:txBody>
      </p:sp>
      <p:sp>
        <p:nvSpPr>
          <p:cNvPr id="6" name="Rounded Rectangle 5"/>
          <p:cNvSpPr/>
          <p:nvPr/>
        </p:nvSpPr>
        <p:spPr>
          <a:xfrm>
            <a:off x="274320" y="2103120"/>
            <a:ext cx="3749039" cy="2468880"/>
          </a:xfrm>
          <a:prstGeom prst="roundRect">
            <a:avLst/>
          </a:prstGeom>
          <a:solidFill>
            <a:srgbClr val="EEF2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2194560"/>
            <a:ext cx="3474720" cy="365760"/>
          </a:xfrm>
          <a:prstGeom prst="rect">
            <a:avLst/>
          </a:prstGeom>
          <a:noFill/>
        </p:spPr>
        <p:txBody>
          <a:bodyPr wrap="square" lIns="0" tIns="0" rIns="0" bIns="0">
            <a:spAutoFit/>
          </a:bodyPr>
          <a:lstStyle/>
          <a:p>
            <a:pPr algn="l"/>
            <a:r>
              <a:rPr sz="1100" b="1" i="0">
                <a:solidFill>
                  <a:srgbClr val="0EA5E9"/>
                </a:solidFill>
                <a:latin typeface="Segoe UI"/>
              </a:rPr>
              <a:t>🧬 3D Molecular Viewer</a:t>
            </a:r>
          </a:p>
        </p:txBody>
      </p:sp>
      <p:sp>
        <p:nvSpPr>
          <p:cNvPr id="8" name="TextBox 7"/>
          <p:cNvSpPr txBox="1"/>
          <p:nvPr/>
        </p:nvSpPr>
        <p:spPr>
          <a:xfrm>
            <a:off x="411479" y="2606039"/>
            <a:ext cx="3474720" cy="1600200"/>
          </a:xfrm>
          <a:prstGeom prst="rect">
            <a:avLst/>
          </a:prstGeom>
          <a:noFill/>
        </p:spPr>
        <p:txBody>
          <a:bodyPr wrap="square" lIns="0" tIns="0" rIns="0" bIns="0">
            <a:spAutoFit/>
          </a:bodyPr>
          <a:lstStyle/>
          <a:p>
            <a:pPr algn="l"/>
            <a:r>
              <a:rPr sz="950" b="0" i="0">
                <a:solidFill>
                  <a:srgbClr val="0F172A"/>
                </a:solidFill>
                <a:latin typeface="Segoe UI"/>
              </a:rPr>
              <a:t>Live 3D structure of the full Spike protein colored by domain:
🩵 NTD (cyan)  💙 RBD (indigo)  💜 RBM (purple)
❤️ Furin (rose)  💚 S2 Core (emerald)
🟡 Amber spheres = known hotspots
🔴 Pulsing red sphere = your currently selected site</a:t>
            </a:r>
          </a:p>
        </p:txBody>
      </p:sp>
      <p:sp>
        <p:nvSpPr>
          <p:cNvPr id="9" name="TextBox 8"/>
          <p:cNvSpPr txBox="1"/>
          <p:nvPr/>
        </p:nvSpPr>
        <p:spPr>
          <a:xfrm>
            <a:off x="411479" y="4251960"/>
            <a:ext cx="3474720" cy="256032"/>
          </a:xfrm>
          <a:prstGeom prst="rect">
            <a:avLst/>
          </a:prstGeom>
          <a:noFill/>
        </p:spPr>
        <p:txBody>
          <a:bodyPr wrap="square" lIns="0" tIns="0" rIns="0" bIns="0">
            <a:spAutoFit/>
          </a:bodyPr>
          <a:lstStyle/>
          <a:p>
            <a:pPr algn="l"/>
            <a:r>
              <a:rPr sz="900" b="0" i="1">
                <a:solidFill>
                  <a:srgbClr val="0EA5E9"/>
                </a:solidFill>
                <a:latin typeface="Segoe UI"/>
              </a:rPr>
              <a:t>→ python app.py → http://localhost:8000</a:t>
            </a:r>
          </a:p>
        </p:txBody>
      </p:sp>
      <p:sp>
        <p:nvSpPr>
          <p:cNvPr id="10" name="Rounded Rectangle 9"/>
          <p:cNvSpPr/>
          <p:nvPr/>
        </p:nvSpPr>
        <p:spPr>
          <a:xfrm>
            <a:off x="4206240" y="2103120"/>
            <a:ext cx="3749039" cy="2468880"/>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2194560"/>
            <a:ext cx="3474720" cy="365760"/>
          </a:xfrm>
          <a:prstGeom prst="rect">
            <a:avLst/>
          </a:prstGeom>
          <a:noFill/>
        </p:spPr>
        <p:txBody>
          <a:bodyPr wrap="square" lIns="0" tIns="0" rIns="0" bIns="0">
            <a:spAutoFit/>
          </a:bodyPr>
          <a:lstStyle/>
          <a:p>
            <a:pPr algn="l"/>
            <a:r>
              <a:rPr sz="1100" b="1" i="0">
                <a:solidFill>
                  <a:srgbClr val="4F46E5"/>
                </a:solidFill>
                <a:latin typeface="Segoe UI"/>
              </a:rPr>
              <a:t>📊 Prediction Card</a:t>
            </a:r>
          </a:p>
        </p:txBody>
      </p:sp>
      <p:sp>
        <p:nvSpPr>
          <p:cNvPr id="12" name="TextBox 11"/>
          <p:cNvSpPr txBox="1"/>
          <p:nvPr/>
        </p:nvSpPr>
        <p:spPr>
          <a:xfrm>
            <a:off x="4343400" y="2606039"/>
            <a:ext cx="3474720" cy="1600200"/>
          </a:xfrm>
          <a:prstGeom prst="rect">
            <a:avLst/>
          </a:prstGeom>
          <a:noFill/>
        </p:spPr>
        <p:txBody>
          <a:bodyPr wrap="square" lIns="0" tIns="0" rIns="0" bIns="0">
            <a:spAutoFit/>
          </a:bodyPr>
          <a:lstStyle/>
          <a:p>
            <a:pPr algn="l"/>
            <a:r>
              <a:rPr sz="950" b="0" i="0">
                <a:solidFill>
                  <a:srgbClr val="0F172A"/>
                </a:solidFill>
                <a:latin typeface="Segoe UI"/>
              </a:rPr>
              <a:t>Click any residue → shows:
• Mutation probability bar (green)
• Escape score bar (indigo)
• Risk score with danger badge
• Which variants had mutations here
• Which antibody class is affected</a:t>
            </a:r>
          </a:p>
        </p:txBody>
      </p:sp>
      <p:sp>
        <p:nvSpPr>
          <p:cNvPr id="13" name="TextBox 12"/>
          <p:cNvSpPr txBox="1"/>
          <p:nvPr/>
        </p:nvSpPr>
        <p:spPr>
          <a:xfrm>
            <a:off x="4343400" y="4251960"/>
            <a:ext cx="3474720" cy="256032"/>
          </a:xfrm>
          <a:prstGeom prst="rect">
            <a:avLst/>
          </a:prstGeom>
          <a:noFill/>
        </p:spPr>
        <p:txBody>
          <a:bodyPr wrap="square" lIns="0" tIns="0" rIns="0" bIns="0">
            <a:spAutoFit/>
          </a:bodyPr>
          <a:lstStyle/>
          <a:p>
            <a:pPr algn="l"/>
            <a:r>
              <a:rPr sz="900" b="0" i="1">
                <a:solidFill>
                  <a:srgbClr val="4F46E5"/>
                </a:solidFill>
                <a:latin typeface="Segoe UI"/>
              </a:rPr>
              <a:t>→ Updates instantly on click</a:t>
            </a:r>
          </a:p>
        </p:txBody>
      </p:sp>
      <p:sp>
        <p:nvSpPr>
          <p:cNvPr id="14" name="Rounded Rectangle 13"/>
          <p:cNvSpPr/>
          <p:nvPr/>
        </p:nvSpPr>
        <p:spPr>
          <a:xfrm>
            <a:off x="8138160" y="2103120"/>
            <a:ext cx="3749039" cy="2468880"/>
          </a:xfrm>
          <a:prstGeom prst="roundRect">
            <a:avLst/>
          </a:prstGeom>
          <a:solidFill>
            <a:srgbClr val="EEF2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194560"/>
            <a:ext cx="3474720" cy="365760"/>
          </a:xfrm>
          <a:prstGeom prst="rect">
            <a:avLst/>
          </a:prstGeom>
          <a:noFill/>
        </p:spPr>
        <p:txBody>
          <a:bodyPr wrap="square" lIns="0" tIns="0" rIns="0" bIns="0">
            <a:spAutoFit/>
          </a:bodyPr>
          <a:lstStyle/>
          <a:p>
            <a:pPr algn="l"/>
            <a:r>
              <a:rPr sz="1100" b="1" i="0">
                <a:solidFill>
                  <a:srgbClr val="F59E0B"/>
                </a:solidFill>
                <a:latin typeface="Segoe UI"/>
              </a:rPr>
              <a:t>🎯 Variant Presets</a:t>
            </a:r>
          </a:p>
        </p:txBody>
      </p:sp>
      <p:sp>
        <p:nvSpPr>
          <p:cNvPr id="16" name="TextBox 15"/>
          <p:cNvSpPr txBox="1"/>
          <p:nvPr/>
        </p:nvSpPr>
        <p:spPr>
          <a:xfrm>
            <a:off x="8275320" y="2606039"/>
            <a:ext cx="3474720" cy="1600200"/>
          </a:xfrm>
          <a:prstGeom prst="rect">
            <a:avLst/>
          </a:prstGeom>
          <a:noFill/>
        </p:spPr>
        <p:txBody>
          <a:bodyPr wrap="square" lIns="0" tIns="0" rIns="0" bIns="0">
            <a:spAutoFit/>
          </a:bodyPr>
          <a:lstStyle/>
          <a:p>
            <a:pPr algn="l"/>
            <a:r>
              <a:rPr sz="950" b="0" i="0">
                <a:solidFill>
                  <a:srgbClr val="0F172A"/>
                </a:solidFill>
                <a:latin typeface="Segoe UI"/>
              </a:rPr>
              <a:t>One-click loading of real variant profiles:
Wuhan → Delta → BA.5 → JN.1 → KP.3 → XEC
All variant mutation sites light up simultaneously on the 3D model with orange spheres.
The active/primary site shown in red.</a:t>
            </a:r>
          </a:p>
        </p:txBody>
      </p:sp>
      <p:sp>
        <p:nvSpPr>
          <p:cNvPr id="17" name="TextBox 16"/>
          <p:cNvSpPr txBox="1"/>
          <p:nvPr/>
        </p:nvSpPr>
        <p:spPr>
          <a:xfrm>
            <a:off x="8275320" y="4251960"/>
            <a:ext cx="3474720" cy="256032"/>
          </a:xfrm>
          <a:prstGeom prst="rect">
            <a:avLst/>
          </a:prstGeom>
          <a:noFill/>
        </p:spPr>
        <p:txBody>
          <a:bodyPr wrap="square" lIns="0" tIns="0" rIns="0" bIns="0">
            <a:spAutoFit/>
          </a:bodyPr>
          <a:lstStyle/>
          <a:p>
            <a:pPr algn="l"/>
            <a:r>
              <a:rPr sz="900" b="0" i="1">
                <a:solidFill>
                  <a:srgbClr val="F59E0B"/>
                </a:solidFill>
                <a:latin typeface="Segoe UI"/>
              </a:rPr>
              <a:t>→ 6 presets available</a:t>
            </a:r>
          </a:p>
        </p:txBody>
      </p:sp>
      <p:sp>
        <p:nvSpPr>
          <p:cNvPr id="18" name="Rounded Rectangle 17"/>
          <p:cNvSpPr/>
          <p:nvPr/>
        </p:nvSpPr>
        <p:spPr>
          <a:xfrm>
            <a:off x="274320" y="4709160"/>
            <a:ext cx="3749039" cy="2468880"/>
          </a:xfrm>
          <a:prstGeom prst="roundRect">
            <a:avLst/>
          </a:prstGeom>
          <a:solidFill>
            <a:srgbClr val="EEF2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79" y="4800600"/>
            <a:ext cx="3474720" cy="365760"/>
          </a:xfrm>
          <a:prstGeom prst="rect">
            <a:avLst/>
          </a:prstGeom>
          <a:noFill/>
        </p:spPr>
        <p:txBody>
          <a:bodyPr wrap="square" lIns="0" tIns="0" rIns="0" bIns="0">
            <a:spAutoFit/>
          </a:bodyPr>
          <a:lstStyle/>
          <a:p>
            <a:pPr algn="l"/>
            <a:r>
              <a:rPr sz="1100" b="1" i="0">
                <a:solidFill>
                  <a:srgbClr val="10B981"/>
                </a:solidFill>
                <a:latin typeface="Segoe UI"/>
              </a:rPr>
              <a:t>🧮 Combo Calculator</a:t>
            </a:r>
          </a:p>
        </p:txBody>
      </p:sp>
      <p:sp>
        <p:nvSpPr>
          <p:cNvPr id="20" name="TextBox 19"/>
          <p:cNvSpPr txBox="1"/>
          <p:nvPr/>
        </p:nvSpPr>
        <p:spPr>
          <a:xfrm>
            <a:off x="411479" y="5212080"/>
            <a:ext cx="3474720" cy="1600200"/>
          </a:xfrm>
          <a:prstGeom prst="rect">
            <a:avLst/>
          </a:prstGeom>
          <a:noFill/>
        </p:spPr>
        <p:txBody>
          <a:bodyPr wrap="square" lIns="0" tIns="0" rIns="0" bIns="0">
            <a:spAutoFit/>
          </a:bodyPr>
          <a:lstStyle/>
          <a:p>
            <a:pPr algn="l"/>
            <a:r>
              <a:rPr sz="950" b="0" i="0">
                <a:solidFill>
                  <a:srgbClr val="0F172A"/>
                </a:solidFill>
                <a:latin typeface="Segoe UI"/>
              </a:rPr>
              <a:t>Type multiple mutations: E484K, F456L, V704L
→ Shows: Max risk, Average risk, per-site breakdown
→ All sites highlight on 3D model simultaneously
→ Calculates if combination = CRITICAL risk threshold</a:t>
            </a:r>
          </a:p>
        </p:txBody>
      </p:sp>
      <p:sp>
        <p:nvSpPr>
          <p:cNvPr id="21" name="TextBox 20"/>
          <p:cNvSpPr txBox="1"/>
          <p:nvPr/>
        </p:nvSpPr>
        <p:spPr>
          <a:xfrm>
            <a:off x="411479" y="6858000"/>
            <a:ext cx="3474720" cy="256032"/>
          </a:xfrm>
          <a:prstGeom prst="rect">
            <a:avLst/>
          </a:prstGeom>
          <a:noFill/>
        </p:spPr>
        <p:txBody>
          <a:bodyPr wrap="square" lIns="0" tIns="0" rIns="0" bIns="0">
            <a:spAutoFit/>
          </a:bodyPr>
          <a:lstStyle/>
          <a:p>
            <a:pPr algn="l"/>
            <a:r>
              <a:rPr sz="900" b="0" i="1">
                <a:solidFill>
                  <a:srgbClr val="10B981"/>
                </a:solidFill>
                <a:latin typeface="Segoe UI"/>
              </a:rPr>
              <a:t>→ Tests mutation combinations</a:t>
            </a:r>
          </a:p>
        </p:txBody>
      </p:sp>
      <p:sp>
        <p:nvSpPr>
          <p:cNvPr id="22" name="Rounded Rectangle 21"/>
          <p:cNvSpPr/>
          <p:nvPr/>
        </p:nvSpPr>
        <p:spPr>
          <a:xfrm>
            <a:off x="4206240" y="4709160"/>
            <a:ext cx="3749039" cy="2468880"/>
          </a:xfrm>
          <a:prstGeom prst="roundRect">
            <a:avLst/>
          </a:prstGeom>
          <a:solidFill>
            <a:srgbClr val="EEF2F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4800600"/>
            <a:ext cx="3474720" cy="365760"/>
          </a:xfrm>
          <a:prstGeom prst="rect">
            <a:avLst/>
          </a:prstGeom>
          <a:noFill/>
        </p:spPr>
        <p:txBody>
          <a:bodyPr wrap="square" lIns="0" tIns="0" rIns="0" bIns="0">
            <a:spAutoFit/>
          </a:bodyPr>
          <a:lstStyle/>
          <a:p>
            <a:pPr algn="l"/>
            <a:r>
              <a:rPr sz="1100" b="1" i="0">
                <a:solidFill>
                  <a:srgbClr val="F43F5E"/>
                </a:solidFill>
                <a:latin typeface="Segoe UI"/>
              </a:rPr>
              <a:t>📋 Filterable Table</a:t>
            </a:r>
          </a:p>
        </p:txBody>
      </p:sp>
      <p:sp>
        <p:nvSpPr>
          <p:cNvPr id="24" name="TextBox 23"/>
          <p:cNvSpPr txBox="1"/>
          <p:nvPr/>
        </p:nvSpPr>
        <p:spPr>
          <a:xfrm>
            <a:off x="4343400" y="5212080"/>
            <a:ext cx="3474720" cy="1600200"/>
          </a:xfrm>
          <a:prstGeom prst="rect">
            <a:avLst/>
          </a:prstGeom>
          <a:noFill/>
        </p:spPr>
        <p:txBody>
          <a:bodyPr wrap="square" lIns="0" tIns="0" rIns="0" bIns="0">
            <a:spAutoFit/>
          </a:bodyPr>
          <a:lstStyle/>
          <a:p>
            <a:pPr algn="l"/>
            <a:r>
              <a:rPr sz="950" b="0" i="0">
                <a:solidFill>
                  <a:srgbClr val="0F172A"/>
                </a:solidFill>
                <a:latin typeface="Segoe UI"/>
              </a:rPr>
              <a:t>All 1,273 residues, sorted by risk score.
Filter by:
• Domain (NTD / RBD / Furin / S2)
• Risk level (High / Medium / Low)
Click any row → 3D model zooms to that site.</a:t>
            </a:r>
          </a:p>
        </p:txBody>
      </p:sp>
      <p:sp>
        <p:nvSpPr>
          <p:cNvPr id="25" name="TextBox 24"/>
          <p:cNvSpPr txBox="1"/>
          <p:nvPr/>
        </p:nvSpPr>
        <p:spPr>
          <a:xfrm>
            <a:off x="4343400" y="6858000"/>
            <a:ext cx="3474720" cy="256032"/>
          </a:xfrm>
          <a:prstGeom prst="rect">
            <a:avLst/>
          </a:prstGeom>
          <a:noFill/>
        </p:spPr>
        <p:txBody>
          <a:bodyPr wrap="square" lIns="0" tIns="0" rIns="0" bIns="0">
            <a:spAutoFit/>
          </a:bodyPr>
          <a:lstStyle/>
          <a:p>
            <a:pPr algn="l"/>
            <a:r>
              <a:rPr sz="900" b="0" i="1">
                <a:solidFill>
                  <a:srgbClr val="F43F5E"/>
                </a:solidFill>
                <a:latin typeface="Segoe UI"/>
              </a:rPr>
              <a:t>→ Full Spike coverage</a:t>
            </a:r>
          </a:p>
        </p:txBody>
      </p:sp>
      <p:sp>
        <p:nvSpPr>
          <p:cNvPr id="26" name="Rounded Rectangle 25"/>
          <p:cNvSpPr/>
          <p:nvPr/>
        </p:nvSpPr>
        <p:spPr>
          <a:xfrm>
            <a:off x="8138160" y="4709160"/>
            <a:ext cx="3749039" cy="2468880"/>
          </a:xfrm>
          <a:prstGeom prst="roundRect">
            <a:avLst/>
          </a:prstGeom>
          <a:solidFill>
            <a:srgbClr val="EEF2FF"/>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20" y="4800600"/>
            <a:ext cx="3474720" cy="365760"/>
          </a:xfrm>
          <a:prstGeom prst="rect">
            <a:avLst/>
          </a:prstGeom>
          <a:noFill/>
        </p:spPr>
        <p:txBody>
          <a:bodyPr wrap="square" lIns="0" tIns="0" rIns="0" bIns="0">
            <a:spAutoFit/>
          </a:bodyPr>
          <a:lstStyle/>
          <a:p>
            <a:pPr algn="l"/>
            <a:r>
              <a:rPr sz="1100" b="1" i="0">
                <a:solidFill>
                  <a:srgbClr val="8B5CF6"/>
                </a:solidFill>
                <a:latin typeface="Segoe UI"/>
              </a:rPr>
              <a:t>🔍 Domain Filter + Zoom</a:t>
            </a:r>
          </a:p>
        </p:txBody>
      </p:sp>
      <p:sp>
        <p:nvSpPr>
          <p:cNvPr id="28" name="TextBox 27"/>
          <p:cNvSpPr txBox="1"/>
          <p:nvPr/>
        </p:nvSpPr>
        <p:spPr>
          <a:xfrm>
            <a:off x="8275320" y="5212080"/>
            <a:ext cx="3474720" cy="1600200"/>
          </a:xfrm>
          <a:prstGeom prst="rect">
            <a:avLst/>
          </a:prstGeom>
          <a:noFill/>
        </p:spPr>
        <p:txBody>
          <a:bodyPr wrap="square" lIns="0" tIns="0" rIns="0" bIns="0">
            <a:spAutoFit/>
          </a:bodyPr>
          <a:lstStyle/>
          <a:p>
            <a:pPr algn="l"/>
            <a:r>
              <a:rPr sz="950" b="0" i="0">
                <a:solidFill>
                  <a:srgbClr val="0F172A"/>
                </a:solidFill>
                <a:latin typeface="Segoe UI"/>
              </a:rPr>
              <a:t>Select a domain from the dropdown → 3D camera automatically zooms and rotates to show that region.
Table filters to show only residues in that domain.
Helps virologists focus on specific functional regions.</a:t>
            </a:r>
          </a:p>
        </p:txBody>
      </p:sp>
      <p:sp>
        <p:nvSpPr>
          <p:cNvPr id="29" name="TextBox 28"/>
          <p:cNvSpPr txBox="1"/>
          <p:nvPr/>
        </p:nvSpPr>
        <p:spPr>
          <a:xfrm>
            <a:off x="8275320" y="6858000"/>
            <a:ext cx="3474720" cy="256032"/>
          </a:xfrm>
          <a:prstGeom prst="rect">
            <a:avLst/>
          </a:prstGeom>
          <a:noFill/>
        </p:spPr>
        <p:txBody>
          <a:bodyPr wrap="square" lIns="0" tIns="0" rIns="0" bIns="0">
            <a:spAutoFit/>
          </a:bodyPr>
          <a:lstStyle/>
          <a:p>
            <a:pPr algn="l"/>
            <a:r>
              <a:rPr sz="900" b="0" i="1">
                <a:solidFill>
                  <a:srgbClr val="8B5CF6"/>
                </a:solidFill>
                <a:latin typeface="Segoe UI"/>
              </a:rPr>
              <a:t>→ Camera synced to filter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Complete Data-to-Prediction Pipeline</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Step by step: from raw biology to actionable risk scores</a:t>
            </a:r>
          </a:p>
        </p:txBody>
      </p:sp>
      <p:sp>
        <p:nvSpPr>
          <p:cNvPr id="5" name="Rounded Rectangle 4"/>
          <p:cNvSpPr/>
          <p:nvPr/>
        </p:nvSpPr>
        <p:spPr>
          <a:xfrm>
            <a:off x="274320" y="1280160"/>
            <a:ext cx="3749039" cy="2514600"/>
          </a:xfrm>
          <a:prstGeom prst="roundRect">
            <a:avLst/>
          </a:prstGeom>
          <a:solidFill>
            <a:srgbClr val="EEF2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28800" y="1371600"/>
            <a:ext cx="640080" cy="50292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371600"/>
            <a:ext cx="640080" cy="502920"/>
          </a:xfrm>
          <a:prstGeom prst="rect">
            <a:avLst/>
          </a:prstGeom>
          <a:noFill/>
        </p:spPr>
        <p:txBody>
          <a:bodyPr wrap="square" lIns="0" tIns="0" rIns="0" bIns="0">
            <a:spAutoFit/>
          </a:bodyPr>
          <a:lstStyle/>
          <a:p>
            <a:pPr algn="ctr"/>
            <a:r>
              <a:rPr sz="1600" b="1" i="0">
                <a:solidFill>
                  <a:srgbClr val="FFFFFF"/>
                </a:solidFill>
                <a:latin typeface="Segoe UI"/>
              </a:rPr>
              <a:t>1</a:t>
            </a:r>
          </a:p>
        </p:txBody>
      </p:sp>
      <p:sp>
        <p:nvSpPr>
          <p:cNvPr id="8" name="TextBox 7"/>
          <p:cNvSpPr txBox="1"/>
          <p:nvPr/>
        </p:nvSpPr>
        <p:spPr>
          <a:xfrm>
            <a:off x="411479" y="1938528"/>
            <a:ext cx="3474720" cy="365760"/>
          </a:xfrm>
          <a:prstGeom prst="rect">
            <a:avLst/>
          </a:prstGeom>
          <a:noFill/>
        </p:spPr>
        <p:txBody>
          <a:bodyPr wrap="square" lIns="0" tIns="0" rIns="0" bIns="0">
            <a:spAutoFit/>
          </a:bodyPr>
          <a:lstStyle/>
          <a:p>
            <a:pPr algn="ctr"/>
            <a:r>
              <a:rPr sz="1200" b="1" i="0">
                <a:solidFill>
                  <a:srgbClr val="0EA5E9"/>
                </a:solidFill>
                <a:latin typeface="Segoe UI"/>
              </a:rPr>
              <a:t>Download Raw Data</a:t>
            </a:r>
          </a:p>
        </p:txBody>
      </p:sp>
      <p:sp>
        <p:nvSpPr>
          <p:cNvPr id="9" name="TextBox 8"/>
          <p:cNvSpPr txBox="1"/>
          <p:nvPr/>
        </p:nvSpPr>
        <p:spPr>
          <a:xfrm>
            <a:off x="411479" y="2350008"/>
            <a:ext cx="3474720" cy="1280160"/>
          </a:xfrm>
          <a:prstGeom prst="rect">
            <a:avLst/>
          </a:prstGeom>
          <a:noFill/>
        </p:spPr>
        <p:txBody>
          <a:bodyPr wrap="square" lIns="0" tIns="0" rIns="0" bIns="0">
            <a:spAutoFit/>
          </a:bodyPr>
          <a:lstStyle/>
          <a:p>
            <a:pPr algn="l"/>
            <a:r>
              <a:rPr sz="1050" b="0" i="0">
                <a:solidFill>
                  <a:srgbClr val="0F172A"/>
                </a:solidFill>
                <a:latin typeface="Segoe UI"/>
              </a:rPr>
              <a:t>• Nextstrain sequences (16M+ genomes)
• Bloom Lab DMS escape CSV
• PDB 6VXX, 6VSB, 7BNN
• CoV-AbDab antibody database</a:t>
            </a:r>
          </a:p>
        </p:txBody>
      </p:sp>
      <p:sp>
        <p:nvSpPr>
          <p:cNvPr id="10" name="Rounded Rectangle 9"/>
          <p:cNvSpPr/>
          <p:nvPr/>
        </p:nvSpPr>
        <p:spPr>
          <a:xfrm>
            <a:off x="4206240" y="1280160"/>
            <a:ext cx="3749039" cy="2514600"/>
          </a:xfrm>
          <a:prstGeom prst="roundRect">
            <a:avLst/>
          </a:prstGeom>
          <a:solidFill>
            <a:srgbClr val="EEF2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60720" y="1371600"/>
            <a:ext cx="64008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371600"/>
            <a:ext cx="640080" cy="502920"/>
          </a:xfrm>
          <a:prstGeom prst="rect">
            <a:avLst/>
          </a:prstGeom>
          <a:noFill/>
        </p:spPr>
        <p:txBody>
          <a:bodyPr wrap="square" lIns="0" tIns="0" rIns="0" bIns="0">
            <a:spAutoFit/>
          </a:bodyPr>
          <a:lstStyle/>
          <a:p>
            <a:pPr algn="ctr"/>
            <a:r>
              <a:rPr sz="1600" b="1" i="0">
                <a:solidFill>
                  <a:srgbClr val="FFFFFF"/>
                </a:solidFill>
                <a:latin typeface="Segoe UI"/>
              </a:rPr>
              <a:t>2</a:t>
            </a:r>
          </a:p>
        </p:txBody>
      </p:sp>
      <p:sp>
        <p:nvSpPr>
          <p:cNvPr id="13" name="TextBox 12"/>
          <p:cNvSpPr txBox="1"/>
          <p:nvPr/>
        </p:nvSpPr>
        <p:spPr>
          <a:xfrm>
            <a:off x="4343400" y="1938528"/>
            <a:ext cx="3474720" cy="365760"/>
          </a:xfrm>
          <a:prstGeom prst="rect">
            <a:avLst/>
          </a:prstGeom>
          <a:noFill/>
        </p:spPr>
        <p:txBody>
          <a:bodyPr wrap="square" lIns="0" tIns="0" rIns="0" bIns="0">
            <a:spAutoFit/>
          </a:bodyPr>
          <a:lstStyle/>
          <a:p>
            <a:pPr algn="ctr"/>
            <a:r>
              <a:rPr sz="1200" b="1" i="0">
                <a:solidFill>
                  <a:srgbClr val="10B981"/>
                </a:solidFill>
                <a:latin typeface="Segoe UI"/>
              </a:rPr>
              <a:t>Quality Filter + Align</a:t>
            </a:r>
          </a:p>
        </p:txBody>
      </p:sp>
      <p:sp>
        <p:nvSpPr>
          <p:cNvPr id="14" name="TextBox 13"/>
          <p:cNvSpPr txBox="1"/>
          <p:nvPr/>
        </p:nvSpPr>
        <p:spPr>
          <a:xfrm>
            <a:off x="4343400" y="2350008"/>
            <a:ext cx="3474720" cy="1280160"/>
          </a:xfrm>
          <a:prstGeom prst="rect">
            <a:avLst/>
          </a:prstGeom>
          <a:noFill/>
        </p:spPr>
        <p:txBody>
          <a:bodyPr wrap="square" lIns="0" tIns="0" rIns="0" bIns="0">
            <a:spAutoFit/>
          </a:bodyPr>
          <a:lstStyle/>
          <a:p>
            <a:pPr algn="l"/>
            <a:r>
              <a:rPr sz="1050" b="0" i="0">
                <a:solidFill>
                  <a:srgbClr val="0F172A"/>
                </a:solidFill>
                <a:latin typeface="Segoe UI"/>
              </a:rPr>
              <a:t>• Remove low-quality sequences
• 1 sequence per lineage-month
• MAFFT alignment vs. Wuhan ref
• Temporal split at Dec 31, 2023</a:t>
            </a:r>
          </a:p>
        </p:txBody>
      </p:sp>
      <p:sp>
        <p:nvSpPr>
          <p:cNvPr id="15" name="Rounded Rectangle 14"/>
          <p:cNvSpPr/>
          <p:nvPr/>
        </p:nvSpPr>
        <p:spPr>
          <a:xfrm>
            <a:off x="8138160" y="1280160"/>
            <a:ext cx="3749039" cy="2514600"/>
          </a:xfrm>
          <a:prstGeom prst="roundRect">
            <a:avLst/>
          </a:prstGeom>
          <a:solidFill>
            <a:srgbClr val="EEF2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0" y="1371600"/>
            <a:ext cx="640080" cy="5029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0" y="1371600"/>
            <a:ext cx="640080" cy="502920"/>
          </a:xfrm>
          <a:prstGeom prst="rect">
            <a:avLst/>
          </a:prstGeom>
          <a:noFill/>
        </p:spPr>
        <p:txBody>
          <a:bodyPr wrap="square" lIns="0" tIns="0" rIns="0" bIns="0">
            <a:spAutoFit/>
          </a:bodyPr>
          <a:lstStyle/>
          <a:p>
            <a:pPr algn="ctr"/>
            <a:r>
              <a:rPr sz="1600" b="1" i="0">
                <a:solidFill>
                  <a:srgbClr val="FFFFFF"/>
                </a:solidFill>
                <a:latin typeface="Segoe UI"/>
              </a:rPr>
              <a:t>3</a:t>
            </a:r>
          </a:p>
        </p:txBody>
      </p:sp>
      <p:sp>
        <p:nvSpPr>
          <p:cNvPr id="18" name="TextBox 17"/>
          <p:cNvSpPr txBox="1"/>
          <p:nvPr/>
        </p:nvSpPr>
        <p:spPr>
          <a:xfrm>
            <a:off x="8275320" y="1938528"/>
            <a:ext cx="3474720" cy="365760"/>
          </a:xfrm>
          <a:prstGeom prst="rect">
            <a:avLst/>
          </a:prstGeom>
          <a:noFill/>
        </p:spPr>
        <p:txBody>
          <a:bodyPr wrap="square" lIns="0" tIns="0" rIns="0" bIns="0">
            <a:spAutoFit/>
          </a:bodyPr>
          <a:lstStyle/>
          <a:p>
            <a:pPr algn="ctr"/>
            <a:r>
              <a:rPr sz="1200" b="1" i="0">
                <a:solidFill>
                  <a:srgbClr val="F59E0B"/>
                </a:solidFill>
                <a:latin typeface="Segoe UI"/>
              </a:rPr>
              <a:t>Extract Structural Features</a:t>
            </a:r>
          </a:p>
        </p:txBody>
      </p:sp>
      <p:sp>
        <p:nvSpPr>
          <p:cNvPr id="19" name="TextBox 18"/>
          <p:cNvSpPr txBox="1"/>
          <p:nvPr/>
        </p:nvSpPr>
        <p:spPr>
          <a:xfrm>
            <a:off x="8275320" y="2350008"/>
            <a:ext cx="3474720" cy="1280160"/>
          </a:xfrm>
          <a:prstGeom prst="rect">
            <a:avLst/>
          </a:prstGeom>
          <a:noFill/>
        </p:spPr>
        <p:txBody>
          <a:bodyPr wrap="square" lIns="0" tIns="0" rIns="0" bIns="0">
            <a:spAutoFit/>
          </a:bodyPr>
          <a:lstStyle/>
          <a:p>
            <a:pPr algn="l"/>
            <a:r>
              <a:rPr sz="1050" b="0" i="0">
                <a:solidFill>
                  <a:srgbClr val="0F172A"/>
                </a:solidFill>
                <a:latin typeface="Segoe UI"/>
              </a:rPr>
              <a:t>• BioPython parses PDB files
• Compute SASA, dihedrals, secondary structure
• Build contact graph (edges &lt; 10 Å)
• Save as .pt tensors</a:t>
            </a:r>
          </a:p>
        </p:txBody>
      </p:sp>
      <p:sp>
        <p:nvSpPr>
          <p:cNvPr id="20" name="Rounded Rectangle 19"/>
          <p:cNvSpPr/>
          <p:nvPr/>
        </p:nvSpPr>
        <p:spPr>
          <a:xfrm>
            <a:off x="274320" y="3931920"/>
            <a:ext cx="3749039" cy="251460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828800" y="4023359"/>
            <a:ext cx="640080" cy="50292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0" y="4023359"/>
            <a:ext cx="640080" cy="502920"/>
          </a:xfrm>
          <a:prstGeom prst="rect">
            <a:avLst/>
          </a:prstGeom>
          <a:noFill/>
        </p:spPr>
        <p:txBody>
          <a:bodyPr wrap="square" lIns="0" tIns="0" rIns="0" bIns="0">
            <a:spAutoFit/>
          </a:bodyPr>
          <a:lstStyle/>
          <a:p>
            <a:pPr algn="ctr"/>
            <a:r>
              <a:rPr sz="1600" b="1" i="0">
                <a:solidFill>
                  <a:srgbClr val="FFFFFF"/>
                </a:solidFill>
                <a:latin typeface="Segoe UI"/>
              </a:rPr>
              <a:t>4</a:t>
            </a:r>
          </a:p>
        </p:txBody>
      </p:sp>
      <p:sp>
        <p:nvSpPr>
          <p:cNvPr id="23" name="TextBox 22"/>
          <p:cNvSpPr txBox="1"/>
          <p:nvPr/>
        </p:nvSpPr>
        <p:spPr>
          <a:xfrm>
            <a:off x="411479" y="4590288"/>
            <a:ext cx="3474720" cy="365760"/>
          </a:xfrm>
          <a:prstGeom prst="rect">
            <a:avLst/>
          </a:prstGeom>
          <a:noFill/>
        </p:spPr>
        <p:txBody>
          <a:bodyPr wrap="square" lIns="0" tIns="0" rIns="0" bIns="0">
            <a:spAutoFit/>
          </a:bodyPr>
          <a:lstStyle/>
          <a:p>
            <a:pPr algn="ctr"/>
            <a:r>
              <a:rPr sz="1200" b="1" i="0">
                <a:solidFill>
                  <a:srgbClr val="4F46E5"/>
                </a:solidFill>
                <a:latin typeface="Segoe UI"/>
              </a:rPr>
              <a:t>Extract ESM-2 Embeddings</a:t>
            </a:r>
          </a:p>
        </p:txBody>
      </p:sp>
      <p:sp>
        <p:nvSpPr>
          <p:cNvPr id="24" name="TextBox 23"/>
          <p:cNvSpPr txBox="1"/>
          <p:nvPr/>
        </p:nvSpPr>
        <p:spPr>
          <a:xfrm>
            <a:off x="411479" y="5001768"/>
            <a:ext cx="3474720" cy="1280160"/>
          </a:xfrm>
          <a:prstGeom prst="rect">
            <a:avLst/>
          </a:prstGeom>
          <a:noFill/>
        </p:spPr>
        <p:txBody>
          <a:bodyPr wrap="square" lIns="0" tIns="0" rIns="0" bIns="0">
            <a:spAutoFit/>
          </a:bodyPr>
          <a:lstStyle/>
          <a:p>
            <a:pPr algn="l"/>
            <a:r>
              <a:rPr sz="1050" b="0" i="0">
                <a:solidFill>
                  <a:srgbClr val="0F172A"/>
                </a:solidFill>
                <a:latin typeface="Segoe UI"/>
              </a:rPr>
              <a:t>• Run each Spike through ESM-2 650M
• Extract layer-33 representations
• Save one .pt file per sequence
• Only done ONCE (Kaggle T4 GPU)</a:t>
            </a:r>
          </a:p>
        </p:txBody>
      </p:sp>
      <p:sp>
        <p:nvSpPr>
          <p:cNvPr id="25" name="Rounded Rectangle 24"/>
          <p:cNvSpPr/>
          <p:nvPr/>
        </p:nvSpPr>
        <p:spPr>
          <a:xfrm>
            <a:off x="4206240" y="3931920"/>
            <a:ext cx="3749039" cy="2514600"/>
          </a:xfrm>
          <a:prstGeom prst="roundRect">
            <a:avLst/>
          </a:prstGeom>
          <a:solidFill>
            <a:srgbClr val="EEF2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760720" y="4023359"/>
            <a:ext cx="640080" cy="50292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720" y="4023359"/>
            <a:ext cx="640080" cy="502920"/>
          </a:xfrm>
          <a:prstGeom prst="rect">
            <a:avLst/>
          </a:prstGeom>
          <a:noFill/>
        </p:spPr>
        <p:txBody>
          <a:bodyPr wrap="square" lIns="0" tIns="0" rIns="0" bIns="0">
            <a:spAutoFit/>
          </a:bodyPr>
          <a:lstStyle/>
          <a:p>
            <a:pPr algn="ctr"/>
            <a:r>
              <a:rPr sz="1600" b="1" i="0">
                <a:solidFill>
                  <a:srgbClr val="FFFFFF"/>
                </a:solidFill>
                <a:latin typeface="Segoe UI"/>
              </a:rPr>
              <a:t>5</a:t>
            </a:r>
          </a:p>
        </p:txBody>
      </p:sp>
      <p:sp>
        <p:nvSpPr>
          <p:cNvPr id="28" name="TextBox 27"/>
          <p:cNvSpPr txBox="1"/>
          <p:nvPr/>
        </p:nvSpPr>
        <p:spPr>
          <a:xfrm>
            <a:off x="4343400" y="4590288"/>
            <a:ext cx="3474720" cy="365760"/>
          </a:xfrm>
          <a:prstGeom prst="rect">
            <a:avLst/>
          </a:prstGeom>
          <a:noFill/>
        </p:spPr>
        <p:txBody>
          <a:bodyPr wrap="square" lIns="0" tIns="0" rIns="0" bIns="0">
            <a:spAutoFit/>
          </a:bodyPr>
          <a:lstStyle/>
          <a:p>
            <a:pPr algn="ctr"/>
            <a:r>
              <a:rPr sz="1200" b="1" i="0">
                <a:solidFill>
                  <a:srgbClr val="8B5CF6"/>
                </a:solidFill>
                <a:latin typeface="Segoe UI"/>
              </a:rPr>
              <a:t>Train the Model</a:t>
            </a:r>
          </a:p>
        </p:txBody>
      </p:sp>
      <p:sp>
        <p:nvSpPr>
          <p:cNvPr id="29" name="TextBox 28"/>
          <p:cNvSpPr txBox="1"/>
          <p:nvPr/>
        </p:nvSpPr>
        <p:spPr>
          <a:xfrm>
            <a:off x="4343400" y="5001768"/>
            <a:ext cx="3474720" cy="1280160"/>
          </a:xfrm>
          <a:prstGeom prst="rect">
            <a:avLst/>
          </a:prstGeom>
          <a:noFill/>
        </p:spPr>
        <p:txBody>
          <a:bodyPr wrap="square" lIns="0" tIns="0" rIns="0" bIns="0">
            <a:spAutoFit/>
          </a:bodyPr>
          <a:lstStyle/>
          <a:p>
            <a:pPr algn="l"/>
            <a:r>
              <a:rPr sz="1050" b="0" i="0">
                <a:solidFill>
                  <a:srgbClr val="0F172A"/>
                </a:solidFill>
                <a:latin typeface="Segoe UI"/>
              </a:rPr>
              <a:t>• Load cached ESM-2 embeddings
• GVP-GNN encodes the structure
• Cross-attention fuses both streams
• Minimize BCE + MSE jointly</a:t>
            </a:r>
          </a:p>
        </p:txBody>
      </p:sp>
      <p:sp>
        <p:nvSpPr>
          <p:cNvPr id="30" name="Rounded Rectangle 29"/>
          <p:cNvSpPr/>
          <p:nvPr/>
        </p:nvSpPr>
        <p:spPr>
          <a:xfrm>
            <a:off x="8138160" y="3931920"/>
            <a:ext cx="3749039" cy="2514600"/>
          </a:xfrm>
          <a:prstGeom prst="roundRect">
            <a:avLst/>
          </a:prstGeom>
          <a:solidFill>
            <a:srgbClr val="EEF2FF"/>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0" y="4023359"/>
            <a:ext cx="640080" cy="50292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0" y="4023359"/>
            <a:ext cx="640080" cy="502920"/>
          </a:xfrm>
          <a:prstGeom prst="rect">
            <a:avLst/>
          </a:prstGeom>
          <a:noFill/>
        </p:spPr>
        <p:txBody>
          <a:bodyPr wrap="square" lIns="0" tIns="0" rIns="0" bIns="0">
            <a:spAutoFit/>
          </a:bodyPr>
          <a:lstStyle/>
          <a:p>
            <a:pPr algn="ctr"/>
            <a:r>
              <a:rPr sz="1600" b="1" i="0">
                <a:solidFill>
                  <a:srgbClr val="FFFFFF"/>
                </a:solidFill>
                <a:latin typeface="Segoe UI"/>
              </a:rPr>
              <a:t>6</a:t>
            </a:r>
          </a:p>
        </p:txBody>
      </p:sp>
      <p:sp>
        <p:nvSpPr>
          <p:cNvPr id="33" name="TextBox 32"/>
          <p:cNvSpPr txBox="1"/>
          <p:nvPr/>
        </p:nvSpPr>
        <p:spPr>
          <a:xfrm>
            <a:off x="8275320" y="4590288"/>
            <a:ext cx="3474720" cy="365760"/>
          </a:xfrm>
          <a:prstGeom prst="rect">
            <a:avLst/>
          </a:prstGeom>
          <a:noFill/>
        </p:spPr>
        <p:txBody>
          <a:bodyPr wrap="square" lIns="0" tIns="0" rIns="0" bIns="0">
            <a:spAutoFit/>
          </a:bodyPr>
          <a:lstStyle/>
          <a:p>
            <a:pPr algn="ctr"/>
            <a:r>
              <a:rPr sz="1200" b="1" i="0">
                <a:solidFill>
                  <a:srgbClr val="F43F5E"/>
                </a:solidFill>
                <a:latin typeface="Segoe UI"/>
              </a:rPr>
              <a:t>Evaluate + Export</a:t>
            </a:r>
          </a:p>
        </p:txBody>
      </p:sp>
      <p:sp>
        <p:nvSpPr>
          <p:cNvPr id="34" name="TextBox 33"/>
          <p:cNvSpPr txBox="1"/>
          <p:nvPr/>
        </p:nvSpPr>
        <p:spPr>
          <a:xfrm>
            <a:off x="8275320" y="5001768"/>
            <a:ext cx="3474720" cy="1280160"/>
          </a:xfrm>
          <a:prstGeom prst="rect">
            <a:avLst/>
          </a:prstGeom>
          <a:noFill/>
        </p:spPr>
        <p:txBody>
          <a:bodyPr wrap="square" lIns="0" tIns="0" rIns="0" bIns="0">
            <a:spAutoFit/>
          </a:bodyPr>
          <a:lstStyle/>
          <a:p>
            <a:pPr algn="l"/>
            <a:r>
              <a:rPr sz="1050" b="0" i="0">
                <a:solidFill>
                  <a:srgbClr val="0F172A"/>
                </a:solidFill>
                <a:latin typeface="Segoe UI"/>
              </a:rPr>
              <a:t>• Test on JN.1/KP.3/XEC (unseen)
• Compute AUROC, Spearman ρ
• Pre-compute all 1,273 predictions
• Save to residue_data.js</a:t>
            </a:r>
          </a:p>
        </p:txBody>
      </p:sp>
      <p:sp>
        <p:nvSpPr>
          <p:cNvPr id="35" name="TextBox 34"/>
          <p:cNvSpPr txBox="1"/>
          <p:nvPr/>
        </p:nvSpPr>
        <p:spPr>
          <a:xfrm>
            <a:off x="914400" y="6537960"/>
            <a:ext cx="10058400" cy="411480"/>
          </a:xfrm>
          <a:prstGeom prst="rect">
            <a:avLst/>
          </a:prstGeom>
          <a:noFill/>
        </p:spPr>
        <p:txBody>
          <a:bodyPr wrap="square" lIns="0" tIns="0" rIns="0" bIns="0">
            <a:spAutoFit/>
          </a:bodyPr>
          <a:lstStyle/>
          <a:p>
            <a:pPr algn="ctr"/>
            <a:r>
              <a:rPr sz="1200" b="1" i="0">
                <a:solidFill>
                  <a:srgbClr val="4F46E5"/>
                </a:solidFill>
                <a:latin typeface="Segoe UI"/>
              </a:rPr>
              <a:t>🌐 Output: Interactive Web Tool — open in any browser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430000" cy="640080"/>
          </a:xfrm>
          <a:prstGeom prst="rect">
            <a:avLst/>
          </a:prstGeom>
          <a:noFill/>
        </p:spPr>
        <p:txBody>
          <a:bodyPr wrap="square" lIns="0" tIns="0" rIns="0" bIns="0">
            <a:spAutoFit/>
          </a:bodyPr>
          <a:lstStyle/>
          <a:p>
            <a:pPr algn="l"/>
            <a:r>
              <a:rPr sz="2800" b="1" i="0">
                <a:solidFill>
                  <a:srgbClr val="FFFFFF"/>
                </a:solidFill>
                <a:latin typeface="Segoe UI"/>
              </a:rPr>
              <a:t>Real-World Impact &amp; Applications</a:t>
            </a:r>
          </a:p>
        </p:txBody>
      </p:sp>
      <p:sp>
        <p:nvSpPr>
          <p:cNvPr id="4" name="TextBox 3"/>
          <p:cNvSpPr txBox="1"/>
          <p:nvPr/>
        </p:nvSpPr>
        <p:spPr>
          <a:xfrm>
            <a:off x="320040" y="685800"/>
            <a:ext cx="11430000" cy="411480"/>
          </a:xfrm>
          <a:prstGeom prst="rect">
            <a:avLst/>
          </a:prstGeom>
          <a:noFill/>
        </p:spPr>
        <p:txBody>
          <a:bodyPr wrap="square" lIns="0" tIns="0" rIns="0" bIns="0">
            <a:spAutoFit/>
          </a:bodyPr>
          <a:lstStyle/>
          <a:p>
            <a:pPr algn="l"/>
            <a:r>
              <a:rPr sz="1400" b="0" i="1">
                <a:solidFill>
                  <a:srgbClr val="C7D2FE"/>
                </a:solidFill>
                <a:latin typeface="Segoe UI"/>
              </a:rPr>
              <a:t>Why predicting mutations in advance changes pandemic preparedness</a:t>
            </a:r>
          </a:p>
        </p:txBody>
      </p:sp>
      <p:sp>
        <p:nvSpPr>
          <p:cNvPr id="5" name="TextBox 4"/>
          <p:cNvSpPr txBox="1"/>
          <p:nvPr/>
        </p:nvSpPr>
        <p:spPr>
          <a:xfrm>
            <a:off x="457200" y="1280160"/>
            <a:ext cx="11247120" cy="640080"/>
          </a:xfrm>
          <a:prstGeom prst="rect">
            <a:avLst/>
          </a:prstGeom>
          <a:noFill/>
        </p:spPr>
        <p:txBody>
          <a:bodyPr wrap="square" lIns="0" tIns="0" rIns="0" bIns="0">
            <a:spAutoFit/>
          </a:bodyPr>
          <a:lstStyle/>
          <a:p>
            <a:pPr algn="l"/>
            <a:r>
              <a:rPr sz="1300" b="0" i="0">
                <a:solidFill>
                  <a:srgbClr val="0F172A"/>
                </a:solidFill>
                <a:latin typeface="Segoe UI"/>
              </a:rPr>
              <a:t>Traditional surveillance is REACTIVE — we detect a variant AFTER it spreads. Our tool is PROACTIVE — it flags dangerous mutations BEFORE they spread, giving researchers months to prepare.</a:t>
            </a:r>
          </a:p>
        </p:txBody>
      </p:sp>
      <p:sp>
        <p:nvSpPr>
          <p:cNvPr id="6" name="Rounded Rectangle 5"/>
          <p:cNvSpPr/>
          <p:nvPr/>
        </p:nvSpPr>
        <p:spPr>
          <a:xfrm>
            <a:off x="274320" y="2057400"/>
            <a:ext cx="3749039" cy="2377440"/>
          </a:xfrm>
          <a:prstGeom prst="roundRect">
            <a:avLst/>
          </a:prstGeom>
          <a:solidFill>
            <a:srgbClr val="EEF2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2148840"/>
            <a:ext cx="914400" cy="822960"/>
          </a:xfrm>
          <a:prstGeom prst="rect">
            <a:avLst/>
          </a:prstGeom>
          <a:noFill/>
        </p:spPr>
        <p:txBody>
          <a:bodyPr wrap="square" lIns="0" tIns="0" rIns="0" bIns="0">
            <a:spAutoFit/>
          </a:bodyPr>
          <a:lstStyle/>
          <a:p>
            <a:pPr algn="ctr"/>
            <a:r>
              <a:rPr sz="1400" b="1" i="0">
                <a:solidFill>
                  <a:srgbClr val="0EA5E9"/>
                </a:solidFill>
                <a:latin typeface="Segoe UI"/>
              </a:rPr>
              <a:t>💉
Vaccine
Design</a:t>
            </a:r>
          </a:p>
        </p:txBody>
      </p:sp>
      <p:sp>
        <p:nvSpPr>
          <p:cNvPr id="8" name="TextBox 7"/>
          <p:cNvSpPr txBox="1"/>
          <p:nvPr/>
        </p:nvSpPr>
        <p:spPr>
          <a:xfrm>
            <a:off x="1280160" y="2148840"/>
            <a:ext cx="2606040" cy="2148840"/>
          </a:xfrm>
          <a:prstGeom prst="rect">
            <a:avLst/>
          </a:prstGeom>
          <a:noFill/>
        </p:spPr>
        <p:txBody>
          <a:bodyPr wrap="square" lIns="0" tIns="0" rIns="0" bIns="0">
            <a:spAutoFit/>
          </a:bodyPr>
          <a:lstStyle/>
          <a:p>
            <a:pPr algn="l"/>
            <a:r>
              <a:rPr sz="1050" b="0" i="0">
                <a:solidFill>
                  <a:srgbClr val="0F172A"/>
                </a:solidFill>
                <a:latin typeface="Segoe UI"/>
              </a:rPr>
              <a:t>Identify which sites to include in next-generation vaccines.
Design variant-agnostic vaccines targeting low-risk (conserved) sites.
Flag positions that could defeat a new booster before it's deployed.</a:t>
            </a:r>
          </a:p>
        </p:txBody>
      </p:sp>
      <p:sp>
        <p:nvSpPr>
          <p:cNvPr id="9" name="Rounded Rectangle 8"/>
          <p:cNvSpPr/>
          <p:nvPr/>
        </p:nvSpPr>
        <p:spPr>
          <a:xfrm>
            <a:off x="4206240" y="2057400"/>
            <a:ext cx="3749039" cy="2377440"/>
          </a:xfrm>
          <a:prstGeom prst="roundRect">
            <a:avLst/>
          </a:prstGeom>
          <a:solidFill>
            <a:srgbClr val="EEF2FF"/>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2148840"/>
            <a:ext cx="914400" cy="822960"/>
          </a:xfrm>
          <a:prstGeom prst="rect">
            <a:avLst/>
          </a:prstGeom>
          <a:noFill/>
        </p:spPr>
        <p:txBody>
          <a:bodyPr wrap="square" lIns="0" tIns="0" rIns="0" bIns="0">
            <a:spAutoFit/>
          </a:bodyPr>
          <a:lstStyle/>
          <a:p>
            <a:pPr algn="ctr"/>
            <a:r>
              <a:rPr sz="1400" b="1" i="0">
                <a:solidFill>
                  <a:srgbClr val="4F46E5"/>
                </a:solidFill>
                <a:latin typeface="Segoe UI"/>
              </a:rPr>
              <a:t>💊
Drug
Development</a:t>
            </a:r>
          </a:p>
        </p:txBody>
      </p:sp>
      <p:sp>
        <p:nvSpPr>
          <p:cNvPr id="11" name="TextBox 10"/>
          <p:cNvSpPr txBox="1"/>
          <p:nvPr/>
        </p:nvSpPr>
        <p:spPr>
          <a:xfrm>
            <a:off x="5212079" y="2148840"/>
            <a:ext cx="2606040" cy="2148840"/>
          </a:xfrm>
          <a:prstGeom prst="rect">
            <a:avLst/>
          </a:prstGeom>
          <a:noFill/>
        </p:spPr>
        <p:txBody>
          <a:bodyPr wrap="square" lIns="0" tIns="0" rIns="0" bIns="0">
            <a:spAutoFit/>
          </a:bodyPr>
          <a:lstStyle/>
          <a:p>
            <a:pPr algn="l"/>
            <a:r>
              <a:rPr sz="1050" b="0" i="0">
                <a:solidFill>
                  <a:srgbClr val="0F172A"/>
                </a:solidFill>
                <a:latin typeface="Segoe UI"/>
              </a:rPr>
              <a:t>Predict which Spike sites will resist monoclonal antibody therapies.
Help pharma companies avoid targeting high-escape sites.
Prioritize drug combinations that target multiple low-risk sites.</a:t>
            </a:r>
          </a:p>
        </p:txBody>
      </p:sp>
      <p:sp>
        <p:nvSpPr>
          <p:cNvPr id="12" name="Rounded Rectangle 11"/>
          <p:cNvSpPr/>
          <p:nvPr/>
        </p:nvSpPr>
        <p:spPr>
          <a:xfrm>
            <a:off x="8138160" y="2057400"/>
            <a:ext cx="3749039" cy="2377440"/>
          </a:xfrm>
          <a:prstGeom prst="roundRect">
            <a:avLst/>
          </a:prstGeom>
          <a:solidFill>
            <a:srgbClr val="EEF2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148840"/>
            <a:ext cx="914400" cy="822960"/>
          </a:xfrm>
          <a:prstGeom prst="rect">
            <a:avLst/>
          </a:prstGeom>
          <a:noFill/>
        </p:spPr>
        <p:txBody>
          <a:bodyPr wrap="square" lIns="0" tIns="0" rIns="0" bIns="0">
            <a:spAutoFit/>
          </a:bodyPr>
          <a:lstStyle/>
          <a:p>
            <a:pPr algn="ctr"/>
            <a:r>
              <a:rPr sz="1400" b="1" i="0">
                <a:solidFill>
                  <a:srgbClr val="F59E0B"/>
                </a:solidFill>
                <a:latin typeface="Segoe UI"/>
              </a:rPr>
              <a:t>🔬
Surveillance
Priority</a:t>
            </a:r>
          </a:p>
        </p:txBody>
      </p:sp>
      <p:sp>
        <p:nvSpPr>
          <p:cNvPr id="14" name="TextBox 13"/>
          <p:cNvSpPr txBox="1"/>
          <p:nvPr/>
        </p:nvSpPr>
        <p:spPr>
          <a:xfrm>
            <a:off x="9144000" y="2148840"/>
            <a:ext cx="2606040" cy="2148840"/>
          </a:xfrm>
          <a:prstGeom prst="rect">
            <a:avLst/>
          </a:prstGeom>
          <a:noFill/>
        </p:spPr>
        <p:txBody>
          <a:bodyPr wrap="square" lIns="0" tIns="0" rIns="0" bIns="0">
            <a:spAutoFit/>
          </a:bodyPr>
          <a:lstStyle/>
          <a:p>
            <a:pPr algn="l"/>
            <a:r>
              <a:rPr sz="1050" b="0" i="0">
                <a:solidFill>
                  <a:srgbClr val="0F172A"/>
                </a:solidFill>
                <a:latin typeface="Segoe UI"/>
              </a:rPr>
              <a:t>Tell sequencing labs: 'Watch sites 456, 484, 704 in new sequences'.
Alert when a rising lineage carries a high-risk combination.
Reduce sequencing costs by focusing on informative positions.</a:t>
            </a:r>
          </a:p>
        </p:txBody>
      </p:sp>
      <p:sp>
        <p:nvSpPr>
          <p:cNvPr id="15" name="Rounded Rectangle 14"/>
          <p:cNvSpPr/>
          <p:nvPr/>
        </p:nvSpPr>
        <p:spPr>
          <a:xfrm>
            <a:off x="274320" y="4572000"/>
            <a:ext cx="3749039" cy="2377440"/>
          </a:xfrm>
          <a:prstGeom prst="roundRect">
            <a:avLst/>
          </a:prstGeom>
          <a:solidFill>
            <a:srgbClr val="EEF2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4663440"/>
            <a:ext cx="914400" cy="822960"/>
          </a:xfrm>
          <a:prstGeom prst="rect">
            <a:avLst/>
          </a:prstGeom>
          <a:noFill/>
        </p:spPr>
        <p:txBody>
          <a:bodyPr wrap="square" lIns="0" tIns="0" rIns="0" bIns="0">
            <a:spAutoFit/>
          </a:bodyPr>
          <a:lstStyle/>
          <a:p>
            <a:pPr algn="ctr"/>
            <a:r>
              <a:rPr sz="1400" b="1" i="0">
                <a:solidFill>
                  <a:srgbClr val="10B981"/>
                </a:solidFill>
                <a:latin typeface="Segoe UI"/>
              </a:rPr>
              <a:t>📊
Variant
Forecasting</a:t>
            </a:r>
          </a:p>
        </p:txBody>
      </p:sp>
      <p:sp>
        <p:nvSpPr>
          <p:cNvPr id="17" name="TextBox 16"/>
          <p:cNvSpPr txBox="1"/>
          <p:nvPr/>
        </p:nvSpPr>
        <p:spPr>
          <a:xfrm>
            <a:off x="1280160" y="4663440"/>
            <a:ext cx="2606040" cy="2148840"/>
          </a:xfrm>
          <a:prstGeom prst="rect">
            <a:avLst/>
          </a:prstGeom>
          <a:noFill/>
        </p:spPr>
        <p:txBody>
          <a:bodyPr wrap="square" lIns="0" tIns="0" rIns="0" bIns="0">
            <a:spAutoFit/>
          </a:bodyPr>
          <a:lstStyle/>
          <a:p>
            <a:pPr algn="l"/>
            <a:r>
              <a:rPr sz="1050" b="0" i="0">
                <a:solidFill>
                  <a:srgbClr val="0F172A"/>
                </a:solidFill>
                <a:latin typeface="Segoe UI"/>
              </a:rPr>
              <a:t>Rank which mutations are likely to co-occur in the next dominant variant.
Estimate the escape profile of not-yet-emerged variants.
Inform WHO risk assessment of candidate variants of concern.</a:t>
            </a:r>
          </a:p>
        </p:txBody>
      </p:sp>
      <p:sp>
        <p:nvSpPr>
          <p:cNvPr id="18" name="Rounded Rectangle 17"/>
          <p:cNvSpPr/>
          <p:nvPr/>
        </p:nvSpPr>
        <p:spPr>
          <a:xfrm>
            <a:off x="4206240" y="4572000"/>
            <a:ext cx="3749039" cy="2377440"/>
          </a:xfrm>
          <a:prstGeom prst="roundRect">
            <a:avLst/>
          </a:prstGeom>
          <a:solidFill>
            <a:srgbClr val="EEF2FF"/>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4663440"/>
            <a:ext cx="914400" cy="822960"/>
          </a:xfrm>
          <a:prstGeom prst="rect">
            <a:avLst/>
          </a:prstGeom>
          <a:noFill/>
        </p:spPr>
        <p:txBody>
          <a:bodyPr wrap="square" lIns="0" tIns="0" rIns="0" bIns="0">
            <a:spAutoFit/>
          </a:bodyPr>
          <a:lstStyle/>
          <a:p>
            <a:pPr algn="ctr"/>
            <a:r>
              <a:rPr sz="1400" b="1" i="0">
                <a:solidFill>
                  <a:srgbClr val="F43F5E"/>
                </a:solidFill>
                <a:latin typeface="Segoe UI"/>
              </a:rPr>
              <a:t>🧫
Lab
Prioritization</a:t>
            </a:r>
          </a:p>
        </p:txBody>
      </p:sp>
      <p:sp>
        <p:nvSpPr>
          <p:cNvPr id="20" name="TextBox 19"/>
          <p:cNvSpPr txBox="1"/>
          <p:nvPr/>
        </p:nvSpPr>
        <p:spPr>
          <a:xfrm>
            <a:off x="5212079" y="4663440"/>
            <a:ext cx="2606040" cy="2148840"/>
          </a:xfrm>
          <a:prstGeom prst="rect">
            <a:avLst/>
          </a:prstGeom>
          <a:noFill/>
        </p:spPr>
        <p:txBody>
          <a:bodyPr wrap="square" lIns="0" tIns="0" rIns="0" bIns="0">
            <a:spAutoFit/>
          </a:bodyPr>
          <a:lstStyle/>
          <a:p>
            <a:pPr algn="l"/>
            <a:r>
              <a:rPr sz="1050" b="0" i="0">
                <a:solidFill>
                  <a:srgbClr val="0F172A"/>
                </a:solidFill>
                <a:latin typeface="Segoe UI"/>
              </a:rPr>
              <a:t>Tell DMS experimentalists: 'Test mutations at these 10 sites first'.
Save months of lab work by focusing on high-risk substitutions.
Especially valuable for new sarbecovirus spillovers with no DMS data.</a:t>
            </a:r>
          </a:p>
        </p:txBody>
      </p:sp>
      <p:sp>
        <p:nvSpPr>
          <p:cNvPr id="21" name="Rounded Rectangle 20"/>
          <p:cNvSpPr/>
          <p:nvPr/>
        </p:nvSpPr>
        <p:spPr>
          <a:xfrm>
            <a:off x="8138160" y="4572000"/>
            <a:ext cx="3749039" cy="2377440"/>
          </a:xfrm>
          <a:prstGeom prst="roundRect">
            <a:avLst/>
          </a:prstGeom>
          <a:solidFill>
            <a:srgbClr val="EEF2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4663440"/>
            <a:ext cx="914400" cy="822960"/>
          </a:xfrm>
          <a:prstGeom prst="rect">
            <a:avLst/>
          </a:prstGeom>
          <a:noFill/>
        </p:spPr>
        <p:txBody>
          <a:bodyPr wrap="square" lIns="0" tIns="0" rIns="0" bIns="0">
            <a:spAutoFit/>
          </a:bodyPr>
          <a:lstStyle/>
          <a:p>
            <a:pPr algn="ctr"/>
            <a:r>
              <a:rPr sz="1400" b="1" i="0">
                <a:solidFill>
                  <a:srgbClr val="8B5CF6"/>
                </a:solidFill>
                <a:latin typeface="Segoe UI"/>
              </a:rPr>
              <a:t>🌍
Open
Science</a:t>
            </a:r>
          </a:p>
        </p:txBody>
      </p:sp>
      <p:sp>
        <p:nvSpPr>
          <p:cNvPr id="23" name="TextBox 22"/>
          <p:cNvSpPr txBox="1"/>
          <p:nvPr/>
        </p:nvSpPr>
        <p:spPr>
          <a:xfrm>
            <a:off x="9144000" y="4663440"/>
            <a:ext cx="2606040" cy="2148840"/>
          </a:xfrm>
          <a:prstGeom prst="rect">
            <a:avLst/>
          </a:prstGeom>
          <a:noFill/>
        </p:spPr>
        <p:txBody>
          <a:bodyPr wrap="square" lIns="0" tIns="0" rIns="0" bIns="0">
            <a:spAutoFit/>
          </a:bodyPr>
          <a:lstStyle/>
          <a:p>
            <a:pPr algn="l"/>
            <a:r>
              <a:rPr sz="1050" b="0" i="0">
                <a:solidFill>
                  <a:srgbClr val="0F172A"/>
                </a:solidFill>
                <a:latin typeface="Segoe UI"/>
              </a:rPr>
              <a:t>All predictions publicly available via the web tool.
No coding required — accessible to all virologists worldwide.
Built on free compute (Kaggle + local) — reproducible anywhere.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4F46E5"/>
        </a:solidFill>
        <a:effectLst/>
      </p:bgPr>
    </p:bg>
    <p:spTree>
      <p:nvGrpSpPr>
        <p:cNvPr id="1" name=""/>
        <p:cNvGrpSpPr/>
        <p:nvPr/>
      </p:nvGrpSpPr>
      <p:grpSpPr/>
      <p:sp>
        <p:nvSpPr>
          <p:cNvPr id="2" name="Oval 1"/>
          <p:cNvSpPr/>
          <p:nvPr/>
        </p:nvSpPr>
        <p:spPr>
          <a:xfrm>
            <a:off x="10058400" y="5486400"/>
            <a:ext cx="3657600" cy="3657600"/>
          </a:xfrm>
          <a:prstGeom prst="ellipse">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457200"/>
            <a:ext cx="2286000" cy="2286000"/>
          </a:xfrm>
          <a:prstGeom prst="ellipse">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430000" y="457200"/>
            <a:ext cx="1828800" cy="18288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1371600" cy="914400"/>
          </a:xfrm>
          <a:prstGeom prst="rect">
            <a:avLst/>
          </a:prstGeom>
          <a:noFill/>
        </p:spPr>
        <p:txBody>
          <a:bodyPr wrap="square" lIns="0" tIns="0" rIns="0" bIns="0">
            <a:spAutoFit/>
          </a:bodyPr>
          <a:lstStyle/>
          <a:p>
            <a:pPr algn="ctr"/>
            <a:r>
              <a:rPr sz="4000" b="0" i="0">
                <a:solidFill>
                  <a:srgbClr val="FFFFFF"/>
                </a:solidFill>
                <a:latin typeface="Segoe UI"/>
              </a:rPr>
              <a:t>🧬</a:t>
            </a:r>
          </a:p>
        </p:txBody>
      </p:sp>
      <p:sp>
        <p:nvSpPr>
          <p:cNvPr id="6" name="TextBox 5"/>
          <p:cNvSpPr txBox="1"/>
          <p:nvPr/>
        </p:nvSpPr>
        <p:spPr>
          <a:xfrm>
            <a:off x="1645920" y="320040"/>
            <a:ext cx="9601200" cy="731520"/>
          </a:xfrm>
          <a:prstGeom prst="rect">
            <a:avLst/>
          </a:prstGeom>
          <a:noFill/>
        </p:spPr>
        <p:txBody>
          <a:bodyPr wrap="square" lIns="0" tIns="0" rIns="0" bIns="0">
            <a:spAutoFit/>
          </a:bodyPr>
          <a:lstStyle/>
          <a:p>
            <a:pPr algn="l"/>
            <a:r>
              <a:rPr sz="2800" b="1" i="0">
                <a:solidFill>
                  <a:srgbClr val="FFFFFF"/>
                </a:solidFill>
                <a:latin typeface="Segoe UI"/>
              </a:rPr>
              <a:t>What We Built — A Summary</a:t>
            </a:r>
          </a:p>
        </p:txBody>
      </p:sp>
      <p:sp>
        <p:nvSpPr>
          <p:cNvPr id="7" name="Rectangle 6"/>
          <p:cNvSpPr/>
          <p:nvPr/>
        </p:nvSpPr>
        <p:spPr>
          <a:xfrm>
            <a:off x="457200" y="1188720"/>
            <a:ext cx="11274552"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1371600"/>
            <a:ext cx="5577840" cy="1417320"/>
          </a:xfrm>
          <a:prstGeom prst="roundRect">
            <a:avLst/>
          </a:prstGeom>
          <a:solidFill>
            <a:srgbClr val="1E1B4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63040"/>
            <a:ext cx="5303520" cy="347472"/>
          </a:xfrm>
          <a:prstGeom prst="rect">
            <a:avLst/>
          </a:prstGeom>
          <a:noFill/>
        </p:spPr>
        <p:txBody>
          <a:bodyPr wrap="square" lIns="0" tIns="0" rIns="0" bIns="0">
            <a:spAutoFit/>
          </a:bodyPr>
          <a:lstStyle/>
          <a:p>
            <a:pPr algn="l"/>
            <a:r>
              <a:rPr sz="1200" b="1" i="0">
                <a:solidFill>
                  <a:srgbClr val="0EA5E9"/>
                </a:solidFill>
                <a:latin typeface="Segoe UI"/>
              </a:rPr>
              <a:t>The Problem</a:t>
            </a:r>
          </a:p>
        </p:txBody>
      </p:sp>
      <p:sp>
        <p:nvSpPr>
          <p:cNvPr id="10" name="TextBox 9"/>
          <p:cNvSpPr txBox="1"/>
          <p:nvPr/>
        </p:nvSpPr>
        <p:spPr>
          <a:xfrm>
            <a:off x="502920" y="1847088"/>
            <a:ext cx="5303520" cy="822960"/>
          </a:xfrm>
          <a:prstGeom prst="rect">
            <a:avLst/>
          </a:prstGeom>
          <a:noFill/>
        </p:spPr>
        <p:txBody>
          <a:bodyPr wrap="square" lIns="0" tIns="0" rIns="0" bIns="0">
            <a:spAutoFit/>
          </a:bodyPr>
          <a:lstStyle/>
          <a:p>
            <a:pPr algn="l"/>
            <a:r>
              <a:rPr sz="1050" b="0" i="0">
                <a:solidFill>
                  <a:srgbClr val="E0E7FF"/>
                </a:solidFill>
                <a:latin typeface="Segoe UI"/>
              </a:rPr>
              <a:t>COVID keeps evolving. Immune escape mutations defeat vaccines and drugs. Traditional surveillance is too slow.</a:t>
            </a:r>
          </a:p>
        </p:txBody>
      </p:sp>
      <p:sp>
        <p:nvSpPr>
          <p:cNvPr id="11" name="Rounded Rectangle 10"/>
          <p:cNvSpPr/>
          <p:nvPr/>
        </p:nvSpPr>
        <p:spPr>
          <a:xfrm>
            <a:off x="6217920" y="1371600"/>
            <a:ext cx="5577840" cy="1417320"/>
          </a:xfrm>
          <a:prstGeom prst="roundRect">
            <a:avLst/>
          </a:prstGeom>
          <a:solidFill>
            <a:srgbClr val="1E1B4B"/>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463040"/>
            <a:ext cx="5303520" cy="347472"/>
          </a:xfrm>
          <a:prstGeom prst="rect">
            <a:avLst/>
          </a:prstGeom>
          <a:noFill/>
        </p:spPr>
        <p:txBody>
          <a:bodyPr wrap="square" lIns="0" tIns="0" rIns="0" bIns="0">
            <a:spAutoFit/>
          </a:bodyPr>
          <a:lstStyle/>
          <a:p>
            <a:pPr algn="l"/>
            <a:r>
              <a:rPr sz="1200" b="1" i="0">
                <a:solidFill>
                  <a:srgbClr val="14B8A6"/>
                </a:solidFill>
                <a:latin typeface="Segoe UI"/>
              </a:rPr>
              <a:t>The Data</a:t>
            </a:r>
          </a:p>
        </p:txBody>
      </p:sp>
      <p:sp>
        <p:nvSpPr>
          <p:cNvPr id="13" name="TextBox 12"/>
          <p:cNvSpPr txBox="1"/>
          <p:nvPr/>
        </p:nvSpPr>
        <p:spPr>
          <a:xfrm>
            <a:off x="6355080" y="1847088"/>
            <a:ext cx="5303520" cy="822960"/>
          </a:xfrm>
          <a:prstGeom prst="rect">
            <a:avLst/>
          </a:prstGeom>
          <a:noFill/>
        </p:spPr>
        <p:txBody>
          <a:bodyPr wrap="square" lIns="0" tIns="0" rIns="0" bIns="0">
            <a:spAutoFit/>
          </a:bodyPr>
          <a:lstStyle/>
          <a:p>
            <a:pPr algn="l"/>
            <a:r>
              <a:rPr sz="1050" b="0" i="0">
                <a:solidFill>
                  <a:srgbClr val="E0E7FF"/>
                </a:solidFill>
                <a:latin typeface="Segoe UI"/>
              </a:rPr>
              <a:t>5 databases: Bloom Lab DMS escape scores + Nextstrain sequences + PDB 6VXX structure + CoV-AbDab antibodies + ESM-2 protein AI.</a:t>
            </a:r>
          </a:p>
        </p:txBody>
      </p:sp>
      <p:sp>
        <p:nvSpPr>
          <p:cNvPr id="14" name="Rounded Rectangle 13"/>
          <p:cNvSpPr/>
          <p:nvPr/>
        </p:nvSpPr>
        <p:spPr>
          <a:xfrm>
            <a:off x="365760" y="2926080"/>
            <a:ext cx="5577840" cy="1417320"/>
          </a:xfrm>
          <a:prstGeom prst="roundRect">
            <a:avLst/>
          </a:prstGeom>
          <a:solidFill>
            <a:srgbClr val="1E1B4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017520"/>
            <a:ext cx="5303520" cy="347472"/>
          </a:xfrm>
          <a:prstGeom prst="rect">
            <a:avLst/>
          </a:prstGeom>
          <a:noFill/>
        </p:spPr>
        <p:txBody>
          <a:bodyPr wrap="square" lIns="0" tIns="0" rIns="0" bIns="0">
            <a:spAutoFit/>
          </a:bodyPr>
          <a:lstStyle/>
          <a:p>
            <a:pPr algn="l"/>
            <a:r>
              <a:rPr sz="1200" b="1" i="0">
                <a:solidFill>
                  <a:srgbClr val="F59E0B"/>
                </a:solidFill>
                <a:latin typeface="Segoe UI"/>
              </a:rPr>
              <a:t>The Model</a:t>
            </a:r>
          </a:p>
        </p:txBody>
      </p:sp>
      <p:sp>
        <p:nvSpPr>
          <p:cNvPr id="16" name="TextBox 15"/>
          <p:cNvSpPr txBox="1"/>
          <p:nvPr/>
        </p:nvSpPr>
        <p:spPr>
          <a:xfrm>
            <a:off x="502920" y="3401568"/>
            <a:ext cx="5303520" cy="822960"/>
          </a:xfrm>
          <a:prstGeom prst="rect">
            <a:avLst/>
          </a:prstGeom>
          <a:noFill/>
        </p:spPr>
        <p:txBody>
          <a:bodyPr wrap="square" lIns="0" tIns="0" rIns="0" bIns="0">
            <a:spAutoFit/>
          </a:bodyPr>
          <a:lstStyle/>
          <a:p>
            <a:pPr algn="l"/>
            <a:r>
              <a:rPr sz="1050" b="0" i="0">
                <a:solidFill>
                  <a:srgbClr val="E0E7FF"/>
                </a:solidFill>
                <a:latin typeface="Segoe UI"/>
              </a:rPr>
              <a:t>ESM-2 (sequence) + GVP-GNN (3D structure) + Cross-Attention fusion → dual output heads → Risk Score R = P(mutate) × S(escape).</a:t>
            </a:r>
          </a:p>
        </p:txBody>
      </p:sp>
      <p:sp>
        <p:nvSpPr>
          <p:cNvPr id="17" name="Rounded Rectangle 16"/>
          <p:cNvSpPr/>
          <p:nvPr/>
        </p:nvSpPr>
        <p:spPr>
          <a:xfrm>
            <a:off x="6217920" y="2926080"/>
            <a:ext cx="5577840" cy="1417320"/>
          </a:xfrm>
          <a:prstGeom prst="roundRect">
            <a:avLst/>
          </a:prstGeom>
          <a:solidFill>
            <a:srgbClr val="1E1B4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017520"/>
            <a:ext cx="5303520" cy="347472"/>
          </a:xfrm>
          <a:prstGeom prst="rect">
            <a:avLst/>
          </a:prstGeom>
          <a:noFill/>
        </p:spPr>
        <p:txBody>
          <a:bodyPr wrap="square" lIns="0" tIns="0" rIns="0" bIns="0">
            <a:spAutoFit/>
          </a:bodyPr>
          <a:lstStyle/>
          <a:p>
            <a:pPr algn="l"/>
            <a:r>
              <a:rPr sz="1200" b="1" i="0">
                <a:solidFill>
                  <a:srgbClr val="10B981"/>
                </a:solidFill>
                <a:latin typeface="Segoe UI"/>
              </a:rPr>
              <a:t>The Results</a:t>
            </a:r>
          </a:p>
        </p:txBody>
      </p:sp>
      <p:sp>
        <p:nvSpPr>
          <p:cNvPr id="19" name="TextBox 18"/>
          <p:cNvSpPr txBox="1"/>
          <p:nvPr/>
        </p:nvSpPr>
        <p:spPr>
          <a:xfrm>
            <a:off x="6355080" y="3401568"/>
            <a:ext cx="5303520" cy="822960"/>
          </a:xfrm>
          <a:prstGeom prst="rect">
            <a:avLst/>
          </a:prstGeom>
          <a:noFill/>
        </p:spPr>
        <p:txBody>
          <a:bodyPr wrap="square" lIns="0" tIns="0" rIns="0" bIns="0">
            <a:spAutoFit/>
          </a:bodyPr>
          <a:lstStyle/>
          <a:p>
            <a:pPr algn="l"/>
            <a:r>
              <a:rPr sz="1050" b="0" i="0">
                <a:solidFill>
                  <a:srgbClr val="E0E7FF"/>
                </a:solidFill>
                <a:latin typeface="Segoe UI"/>
              </a:rPr>
              <a:t>AUROC 0.7357 on held-out JN.1/KP.3/XEC variants. Correctly ranked E484, F456, L452, F486 in top 5% before they spread.</a:t>
            </a:r>
          </a:p>
        </p:txBody>
      </p:sp>
      <p:sp>
        <p:nvSpPr>
          <p:cNvPr id="20" name="Rounded Rectangle 19"/>
          <p:cNvSpPr/>
          <p:nvPr/>
        </p:nvSpPr>
        <p:spPr>
          <a:xfrm>
            <a:off x="365760" y="4480560"/>
            <a:ext cx="5577840" cy="1417320"/>
          </a:xfrm>
          <a:prstGeom prst="roundRect">
            <a:avLst/>
          </a:prstGeom>
          <a:solidFill>
            <a:srgbClr val="1E1B4B"/>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572000"/>
            <a:ext cx="5303520" cy="347472"/>
          </a:xfrm>
          <a:prstGeom prst="rect">
            <a:avLst/>
          </a:prstGeom>
          <a:noFill/>
        </p:spPr>
        <p:txBody>
          <a:bodyPr wrap="square" lIns="0" tIns="0" rIns="0" bIns="0">
            <a:spAutoFit/>
          </a:bodyPr>
          <a:lstStyle/>
          <a:p>
            <a:pPr algn="l"/>
            <a:r>
              <a:rPr sz="1200" b="1" i="0">
                <a:solidFill>
                  <a:srgbClr val="F43F5E"/>
                </a:solidFill>
                <a:latin typeface="Segoe UI"/>
              </a:rPr>
              <a:t>The Novelty Package</a:t>
            </a:r>
          </a:p>
        </p:txBody>
      </p:sp>
      <p:sp>
        <p:nvSpPr>
          <p:cNvPr id="22" name="TextBox 21"/>
          <p:cNvSpPr txBox="1"/>
          <p:nvPr/>
        </p:nvSpPr>
        <p:spPr>
          <a:xfrm>
            <a:off x="502920" y="4956048"/>
            <a:ext cx="5303520" cy="822960"/>
          </a:xfrm>
          <a:prstGeom prst="rect">
            <a:avLst/>
          </a:prstGeom>
          <a:noFill/>
        </p:spPr>
        <p:txBody>
          <a:bodyPr wrap="square" lIns="0" tIns="0" rIns="0" bIns="0">
            <a:spAutoFit/>
          </a:bodyPr>
          <a:lstStyle/>
          <a:p>
            <a:pPr algn="l"/>
            <a:r>
              <a:rPr sz="1050" b="0" i="0">
                <a:solidFill>
                  <a:srgbClr val="E0E7FF"/>
                </a:solidFill>
                <a:latin typeface="Segoe UI"/>
              </a:rPr>
              <a:t>8 genuine additions: learned priors, substitution-level L×20 head, background conditioning, ACE2 trade-off, ensemble structures, uncertainty, multi-cutoff benchmark, lead-time metric.</a:t>
            </a:r>
          </a:p>
        </p:txBody>
      </p:sp>
      <p:sp>
        <p:nvSpPr>
          <p:cNvPr id="23" name="Rounded Rectangle 22"/>
          <p:cNvSpPr/>
          <p:nvPr/>
        </p:nvSpPr>
        <p:spPr>
          <a:xfrm>
            <a:off x="6217920" y="4480560"/>
            <a:ext cx="5577840" cy="1417320"/>
          </a:xfrm>
          <a:prstGeom prst="roundRect">
            <a:avLst/>
          </a:prstGeom>
          <a:solidFill>
            <a:srgbClr val="1E1B4B"/>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4572000"/>
            <a:ext cx="5303520" cy="347472"/>
          </a:xfrm>
          <a:prstGeom prst="rect">
            <a:avLst/>
          </a:prstGeom>
          <a:noFill/>
        </p:spPr>
        <p:txBody>
          <a:bodyPr wrap="square" lIns="0" tIns="0" rIns="0" bIns="0">
            <a:spAutoFit/>
          </a:bodyPr>
          <a:lstStyle/>
          <a:p>
            <a:pPr algn="l"/>
            <a:r>
              <a:rPr sz="1200" b="1" i="0">
                <a:solidFill>
                  <a:srgbClr val="8B5CF6"/>
                </a:solidFill>
                <a:latin typeface="Segoe UI"/>
              </a:rPr>
              <a:t>The Tool</a:t>
            </a:r>
          </a:p>
        </p:txBody>
      </p:sp>
      <p:sp>
        <p:nvSpPr>
          <p:cNvPr id="25" name="TextBox 24"/>
          <p:cNvSpPr txBox="1"/>
          <p:nvPr/>
        </p:nvSpPr>
        <p:spPr>
          <a:xfrm>
            <a:off x="6355080" y="4956048"/>
            <a:ext cx="5303520" cy="822960"/>
          </a:xfrm>
          <a:prstGeom prst="rect">
            <a:avLst/>
          </a:prstGeom>
          <a:noFill/>
        </p:spPr>
        <p:txBody>
          <a:bodyPr wrap="square" lIns="0" tIns="0" rIns="0" bIns="0">
            <a:spAutoFit/>
          </a:bodyPr>
          <a:lstStyle/>
          <a:p>
            <a:pPr algn="l"/>
            <a:r>
              <a:rPr sz="1050" b="0" i="0">
                <a:solidFill>
                  <a:srgbClr val="E0E7FF"/>
                </a:solidFill>
                <a:latin typeface="Segoe UI"/>
              </a:rPr>
              <a:t>Open interactive website with 3D molecular viewer, variant presets, combo calculator — no coding required.</a:t>
            </a:r>
          </a:p>
        </p:txBody>
      </p:sp>
      <p:sp>
        <p:nvSpPr>
          <p:cNvPr id="26" name="TextBox 25"/>
          <p:cNvSpPr txBox="1"/>
          <p:nvPr/>
        </p:nvSpPr>
        <p:spPr>
          <a:xfrm>
            <a:off x="457200" y="6080760"/>
            <a:ext cx="11247120" cy="640080"/>
          </a:xfrm>
          <a:prstGeom prst="rect">
            <a:avLst/>
          </a:prstGeom>
          <a:noFill/>
        </p:spPr>
        <p:txBody>
          <a:bodyPr wrap="square" lIns="0" tIns="0" rIns="0" bIns="0">
            <a:spAutoFit/>
          </a:bodyPr>
          <a:lstStyle/>
          <a:p>
            <a:pPr algn="ctr"/>
            <a:r>
              <a:rPr sz="1300" b="0" i="1">
                <a:solidFill>
                  <a:srgbClr val="C7D2FE"/>
                </a:solidFill>
                <a:latin typeface="Segoe UI"/>
              </a:rPr>
              <a:t>"From raw genomic sequences and crystal structures to actionable variant risk rankings — all on free compute, all open source."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